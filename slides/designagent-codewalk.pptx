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This is a code walk, not a results talk. The thing I built is a chatbot for protein redesign: you type a prompt, and behind it a LangGraph loop goes and runs an actual campaign — structure lookups, folds, scoring, a provenance lake, and artifacts you can open.
The reason it's worth your time is the seam in the middle. Long work leaves this process: it goes onto a rhapsody process pool through flowgentic and asyncflow, or off the box entirely through ORBIT. Everything about the design follows from one constraint, which is that a chat interface cannot block on a protein fold.
Every number on these slides comes from a real campaign that is still on disk. I'll be explicit about what has never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Here is the shape of one turn, and then what actually came out of it.
Left card, all measured: the prompt named 1OIL and nothing else. The agent resolved it to UniProt P22088, a Burkholderia cepacia lipase, 320 residues, pulled the crystal structure and the literature, proposed variants, folded them, scored them against the real structure, and wrote 114 score rows.
Right card, because you will ask and I would rather say it first. The variants are heuristic proposals — glycine to alanine, that kind of thing — not ProteinMPNN samples, because no HPC endpoint was attached to this run. The pLDDT improvement is inside the noise. And there was no API key, so every node ran its rule-based path.
So treat the science as a demo and the plumbing as the deliverable. The plumbing is what the rest of the talk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If you remember one slide, this is the one, because everything after it is a consequence rather than a preference.
A chat interface has to answer in milliseconds. The work it triggers takes tens of seconds at best and hours at worst, and it might sit in a queue before it even starts. That gap is the entire design problem.
Five things fall out. Tasks return futures, not results — submit places work and comes back immediately. Duration stops being the interface's concern, so a forty-millisecond REST call and a queued batch job wear the same handle and differ only in capability flags. Status becomes a stream rather than a return value. State holds references rather than payloads, because LangGraph serializes every checkpoint. And every layer has a floor it degrades to.
The honest flip side is at the bottom: if the agent were allowed to block, you would not build most of this. You would call the tools inline and go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 Five nodes, matching the spec: coordinator, design initializer, redesign orchestrator, analyst, interpreter.
The coordinator is the only entry and the only re-entry point. It classifies the prompt and, where it can, answers straight from state without waking anything up — "what is the lead design?" costs one node visit.
The interesting edge is the red one. The analyst decides whether to go round again, and the test is whether the key metric actually improved, bounded by a round budget. In the measured campaign that fired once: round one improved on nothing, round two improved on round one, and then the budget and the interpreter took over.
Note how little static wiring there is. One static edge, START to coordinator. Everything else is a Command with a goto, which means the routing decision and the state write are the same atomic return — a node cannot update state and then fail to say where it went. The destinations tuple is a declaration so LangGraph can validate and draw the graph; it is not control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Eight bands. Read it top to bottom and the orange is yours.
Browser, then FastAPI with a single SSE chat endpoint. Then the LangGraph graph, checkpointed to SQLite. Then a small Deps object, which is the only thing a node closes over — settings, the task manager, the history lake, the artifact store.
Then the three task interfaces. Then the substrate, which is flowgentic over asyncflow over a rhapsody concurrent backend on a four-worker process pool. Then remote: ORBIT solid-but-dotted, meaning it genuinely works and has only ever met a localhost broker; Globus dashed, meaning designed for and not implemented against anything live. Then the three lake tiers.
Two things in the rail. The rule that nodes only ever reach through Deps is what makes 93 of the 99 tests run with no network and no pool. And the band that crosses into asyncflow is exactly one: the local task interface. Everything above it is ordinary async Python, which is deliberate — I wanted the middleware dependency confined to a layer I could swap or stub.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State is a TypedDict, not a pydantic model, because LangGraph checkpoints it and partial dict updates are the natural write unit from a node.
The eight keys from the spec are all there, each with an explicit reducer. Most are "replace" — stated explicitly rather than left to default, so the intent is readable. Three are not: artifacts append and dedupe by id, the worklist upserts so status can change in place, and warnings accumulate because they have to outlive the single turn that status lives for.
The right-hand side is a finding worth your time. I originally passed fold results through state. Six PDB files is about 320 kilobytes of checkpoint per turn, and it grows with the ensemble, so turn ten is carrying turn one's coordinates. The fix is that the orchestrator writes coordinates to a content-addressed blob and state carries a path.
What makes that a real lesson rather than a tidy-up is that nothing breaks when you get it wrong. It just gets slower every turn, forever. So it is pinned by a test that serializes the state and asserts the string "ATOM" never appears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This is the real task ledger of the measured campaign, straight out of tier one of the lake, with submit and finish times as recorded.
Look at the orange fold rows. Six go out in the same instant and come back at 13.3, 13.3, 14.3, 17.9, 26.0 and 31.7 seconds — out of order, reaped as they land. That is the whole point of the futures design, and it is the one thing that would be invisible in a sequence diagram.
It also settles an argument in your favour and against a default. Round two ran from 13.2 to 42.4 seconds. flowgentic's RetryConfig defaults to a 30-second per-attempt timeout with three attempts, so with the defaults roughly half of these folds would have been cancelled and silently retried. I'll come back to that.
The blue lookups show the initializer's concurrency: PDB and UniProt together, a cross-reference follow-up, then structure and literature together.
And the bottom right is not a contrived example. ESM Atlas genuinely dropped one of six requests. That design came through as sequence-only, got four metrics instead of eleven, the other five scored normally, and the user saw a warning. I did not have to construct a failure to talk about degradation.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Here is the whole vocabulary. Five verbs and a capability record.
Submit is the only abstract method, and its docstring is the contract: place the task and return immediately. Status, logs, result, cancel and close all have defaults that work for an in-process future, so a trivial interface is about ten lines.
The capability flags are where I tried to be honest rather than uniform. Globus Compute cannot tail a running task's logs — that is a real property of the service, not a gap in my adapter — so the flag says false and the manager simply does not start a log drain. No caller branches on which backend it got.
The bottom-left code is the piece I would defend hardest. When submission itself fails — no endpoint, unknown task name — you do not get an exception. You get a handle whose future is already failed. That single decision is why the gather path never raises and why a round survives a dead endpoint: there is exactly one shape to handle, and the failure arrives through the same channel as a task that failed after starting.
The state enum normalizes across vocabularies, because ORBIT and PSI/J each have their own and I did not want those leaking upward.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This is the band that crosses out of my process, and it is five hops: a module-level task body, the flowgentic wrapper, asyncflow's engine, a rhapsody concurrent backend, a four-worker process pool.
Top left is the wrapper. The comment in it is doing real work: flowgentic's RetryConfig defaults to a 30-second per-attempt timeout with three attempts, which is right for a service call and wrong for a fold. We saw on the last slide that half the round-two folds exceed it. So we pass timeout_sec None and max_attempts one, and own retries ourselves.
Bottom left: submission has to return immediately, and the flowgentic wrapper for FUNCTION_TASK is a coroutine function rather than a future factory, so we wrap it in ensure_future. That comment exists because I got it wrong first and blocked the loop.
Top right: the pool imposes three real constraints. Bodies at module level, clients built inside the body, and a main guard on the entry point.
And the red block is the first of the findings. That is verbatim flowgentic. The comment says "try to include aiohttp timeouts if present" and the handler says raise. So aiohttp becomes a hard requirement, and so does httpx twelve lines up. It fires whenever retryable_exceptions is left at its default, which is the empty tuple — the common case. I think that except clause wants to be a pass, and I would like to know if you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The remote interface uses the raw clients rather than anything higher, on purpose: I wanted to see what the substrate actually offers.
Two clients, two different jobs. RhapsodyClient handles function and executable tasks and pushes status events at us. PSIJClient handles batch jobs, and it is the one place in either backend where you can tail a running job's output — get_job_status takes stdout and stderr byte offsets. That is what the whole log-streaming story is built on, and it works.
Two threading problems. Every client method is synchronous and blocking, so all 23 call sites go through to_thread. And push callbacks arrive on Orbit's own listener thread, so _dispatch hops them onto our loop with call_soon_threadsafe. Neither is a complaint; they are just facts you need to know before you build on this.
The red half is findings four and five. A completed task's terminal event carries state and exit code but not stdout, so my first version resolved futures with empty results — the fix re-fetches with get_task, and lets the event win on state while the fetch fills in output. And a failed job reports only a non-zero exit code; no reason reaches the client at all. So FAILED always synthesises an explanation from the exit code, then stderr, then the log tail. I would rather Orbit told me.
Status, plainly: six tests against a real localhost broker and endpoint, covering push states, incremental tailing, a failing job and cancelling a running one. It has never met a scheduler.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The brief said design for both Globus hpc-bridge and ORBIT, implement ORBIT first. So: one ABC, two implementations, and one of them has never touched a live endpoint.
What the abstraction cost is worth saying, because "we abstracted over two backends" is usually a boast hiding a mess. It cost almost nothing, because the shared surface is tiny — connect, track, settle, and a log drain, 102 lines in total. The interesting work is irreducibly backend-specific: Orbit's push callbacks have no Globus analogue, and pretending otherwise would have meant inventing a polling shim nobody wanted.
So the base class's real job is not hiding differences. It is making them declarable, which is what the capability record on the right does. Globus Compute genuinely cannot tail a running task and genuinely cannot cancel after start; each flag carries the reason inline.
And it is testable without Globus at all, because hpc-bridge's runner takes an injectable executor factory. The suite hands it a plain executor. One detail there: argv is a list run with no shell on the test path, while the real ShellFunction API takes a string, so that path uses shlex.join — with a test proving a shell metacharacter stays data.
The claim I will defend is that the flags earned their keep and the base class merely did not get in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The brief asked for Local Task Agents, and named two: a molecular visualization generator and ChemGraph.
The visualization one is where I deviated, and I want to be explicit about it. The brief says the agent "codes a browser-based visualization". Shipping LLM-written JavaScript into the viewer means a prompt can get code into the page, so I did not do that. The agent emits a constrained JSON view spec instead — structures, highlights, representation, colours — and a single React component is the only thing that ever touches Mol*. sanitize_spec repairs or drops every field, so a bad generation degrades to a plain cartoon rather than a broken pane.
I think that keeps the full expressive range of what a reviewer actually asks for — "colour the mutated residue, focus on it, show the rest as cartoon" — without executing anything.
The table is the honest status of all four. The visualizer runs and drew both leads in the measured campaign. ChemGraph is wired behind the same interface but has only ever been exercised by tests. ESMFold has twelve real predictions on disk. ProteinMPNN has a job spec and a FASTA parser and no endpoint, so what actually ran was the heuristic proposer — which is why the variants in this campaign are single-point substitutions.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 Three tiers, exactly as the brief specified, and these are the real contents of the measured campaign.
Tier one is a Kuzu graph: six node tables, eight relationship tables, the whole provenance chain from campaign to reference to design to task to output to structure. One design decision there worth flagging — the properties columns hold JSON, so adding a task type needs no migration. That is a deliberate trade: queryability for evolvability, and I would make it again at this stage.
Tier two is SQLite: 114 score rows over ten metrics, seventeen ranking rows, two round analyses. The method I would point at is best_designs, which can exclude the current campaign — that is how the interpreter finds comparable prior work without rediscovering its own designs.
Tier three is Parquet plus a manifest. Eleven rows from twelve designs, because the curation rules deduplicate sequences, and the manifest records the rules so the set is reproducible rather than just present.
The bottom line is a small thing I only noticed when building this deck: only tier one needs a running process to read. Tiers two and three are just files, which is why the script that produced these numbers could read them while the server held the Kuzu 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Six failure modes, what each does, and the evidence that it does it.
The one I want to dwell on is the fifth row. During a live run I hit "attempt to write a readonly database" from SQLite. The cause was mine — I deleted a data directory under a running server — so it was not a product bug. But it exposed something real: the analyst was writing to the lake unguarded, which meant a storage problem could lose a round of work the user had already waited two minutes for.
The fix is the code at the bottom. Each tier write is guarded independently, a failure falls back to ranking in memory, and the error goes into a warnings channel that survives the turn. The interpreter then appends a "Caveats from this run" section to its reply, so the user is told rather than silently given a thinner answer. There is a test that kills the lake mid-round and asserts the designs still come back.
And the fourth row is the one I did not have to arrange. ESM Atlas dropped a request during the measured campaign, the design came through sequence-only, the round scored the other five, and the warning surfaced. That is the whole mechanism working on a failure I did not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Briefly, because the backend is what you came for.
The chat endpoint is a POST that returns an event stream — not EventSource, because the prompt goes in the body. Seven frame kinds. The thing I would point at is that a single asyncio queue merges LangGraph's own stream with TaskManager events, so node status and task progress arrive in one ordered stream rather than two the client has to interleave.
The client code is there because of a bug class people hit constantly: a network chunk boundary lands in the middle of an SSE frame, so you hold partial frames in a buffer until you see a blank line. And a malformed frame is skipped rather than killing the stream.
The viewer: rcsb-molstar from the CDN, loader cached on window so one fetch serves every mount, one viewer per mount, resize observed. Two things bit me — createComponent takes no colour, so colours have to go through a plugin call to update the representation theme; and the analyst inlines coordinates as a JSON artifact so the viewer does not need a second authenticated fetch.
Last line: this was built without a browser available, so for a while the canvas was the one thing nobody had actually looked at — everything around it checked out, which is exactly the situation where you convince yourself it is fine. It was confirmed rendering on the first of October. I am mentioning it because it was on the status slide as an open item until then, and some of you may have seen that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Three commands to run it, two to test it, and no configuration step that has to succeed first.
The test split is the part I would defend. 93 of the 99 tests need no network, no process pool and no endpoint. That is a direct consequence of the rule from the architecture slide — nodes only reach the outside through Deps — so the suite hands them an in-process task manager and a temp-directory lake and the whole graph runs in under a second.
The six that genuinely need a substrate are marked live and bring up their own broker and endpoint as subprocesses. They are not mocks of ORBIT; they are ORBIT, on localhost.
What I would call out in the middle column is that test_graph covers the classifier with eighteen parametrized cases. That is there because two real bugs hid in it: "what is the lead design?" classified as a design request because it contains the word design, and "make it more stable" classified as chat because it matched nothing at all. Both are the kind of bug an LLM path would have masked and the rule path makes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Two columns. Left is what runs end to end against something real, right is what is built and has never run for real.
Left, briefly: the loop, two rounds, routed by the improvement test. The query interface against live RCSB, UniProt and Europe PMC. Twelve real folds on the rhapsody pool, six at a time, reaped out of order. All three lake tiers with the counts you saw. Four artifacts on disk. Streaming working.
Right is the column that matters. ProteinMPNN is a job spec and a FASTA parser; with no endpoint, the orchestrator falls back to a heuristic proposer, and the output says so in a note field rather than quietly implying ProteinMPNN ran. The Globus adapter has never met a live endpoint. ORBIT works, against localhost only — which proves the client path and proves nothing about a queue. ChemGraph has been exercised by tests and never by a campaign.
And the bottom line is the one I would put on a slide even if nobody asked: no HPC endpoint has ever run a task for this agent. Everything I have said about the remote path is a statement about the client, not about HPC.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I built on your stack for two weeks and these are the six things I had to work around. Each one names a file and a line, and the deck's CODE_FOR_DECK.md has the reproduction, so none of this needs to be taken on my word.
One and two are flowgentic. The aiohttp import is, I think, a one-character fix: raise wants to be pass. The retry defaults are a judgement call rather than a bug, but I would argue the default is wrong for the workload flowgentic is most likely to be used for — if you are wrapping agent tasks, some of them are models.
Three through six are ORBIT, and three and four are the ones I would most like fixed, because both of them produce a silent wrong answer rather than an error: an empty result, and a failure with no reason.
Five and six are documentation. I lost an afternoon to --no-auth, because it is a reasonable reading that no auth means no TLS.
And then the question, which is the actual ask. The approved design for this project had every graph node wrapped as an EXECUTION_BLOCK. It ships disabled, because a wrapped node runs on asyncflow's loop, outside LangGraph's runnable context, so the stream writer raises and every status event is dropped — silently. The graph still completes. The chat just goes quiet.
So: is EXECUTION_BLOCK meant to preserve the caller's context? If it is, that is a bug worth fixing and I flip my default back. If it is not, then flowgentic's node wrapping and LangGraph's streaming are mutually exclusive, and I think that sentence belongs in the README, because I would have liked to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the EXECUTION_BLOCK discussion if it goes deep.
The approved plan said wrap every node. I did, and the graph worked perfectly while the chat went completely silent — no error, no warning, just no status.
Isolating it took one plain node and one wrapped node, each asking for a stream writer and emitting one event. The plain one works. The wrapped one raises "Called get_config outside of a runnable context" and emits nothing.
The mechanism: EXECUTION_BLOCK hands the body to asyncflow's engine, which runs it on its own loop. LangGraph's stream writer lives in a contextvar that its executor sets around the node call. Cross loops and you lose the contextvar. And LangGraph's helper degrades to a no-op rather than raising, which is exactly why the failure is invisible.
Important fairness point: this is only a flowgentic bug if EXECUTION_BLOCK intends to propagate caller context. I do not know that it does, which is why slide 18 asks rather than asserts.
What ships: wrap_nodes false, the path kept and documented. Tasks are still wrapped, so the process pool is genuinely in use — task bodies never touch the stream writer, so nothing is lost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anyone who wants to reproduce the ORBIT work.
The thing that cost me most of an afternoon is the first comment. --no-auth disables the ingress token check only. The broker always serves TLS and refuses to start without a cert and key, so with --no-auth alone it exits at startup. The fixture generates a throwaway self-signed pair, with a SAN covering 127.0.0.1 because that is what the client connects to, and chmods the key to 600 because the broker rejects anything looser.
Readiness was the other trap. I went looking for an HTTP topology endpoint and got a 307 then a 404 saying endpoint 'topology' unknown — because the gateway reads it as a plugin name. There is no such route. So the fixture waits on the endpoint's own log line, and the authoritative check moved to where it belongs: the client polls rt.topology() until the endpoint appears, bounded by a timeout, because topology propagates asynchronously.
Subprocesses rather than the embedded broker, because the embedded one expects operator-placed credentials in the user's home directory and a test has no business creating those.
What it buys is the four assertions on the right, all against real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22B"/>
        </a:solidFill>
      </p:bgPr>
    </p:bg>
    <p:spTree>
      <p:nvGrpSpPr>
        <p:cNvPr id="1" name=""/>
        <p:cNvGrpSpPr/>
        <p:nvPr/>
      </p:nvGrpSpPr>
      <p:grpSpPr>
        <a:xfrm>
          <a:off x="0" y="0"/>
          <a:ext cx="0" cy="0"/>
          <a:chOff x="0" y="0"/>
          <a:chExt cx="0" cy="0"/>
        </a:xfrm>
      </p:grpSpPr>
      <p:sp>
        <p:nvSpPr>
          <p:cNvPr id="2" name="Shape 0"/>
          <p:cNvSpPr/>
          <p:nvPr/>
        </p:nvSpPr>
        <p:spPr>
          <a:xfrm>
            <a:off x="8732520" y="1691640"/>
            <a:ext cx="2011680" cy="2011680"/>
          </a:xfrm>
          <a:prstGeom prst="ellipse">
            <a:avLst/>
          </a:prstGeom>
          <a:solidFill>
            <a:srgbClr val="16222B"/>
          </a:solidFill>
          <a:ln w="15875">
            <a:solidFill>
              <a:srgbClr val="3E5168"/>
            </a:solidFill>
            <a:prstDash val="sysDot"/>
          </a:ln>
        </p:spPr>
      </p:sp>
      <p:sp>
        <p:nvSpPr>
          <p:cNvPr id="3" name="Shape 1"/>
          <p:cNvSpPr/>
          <p:nvPr/>
        </p:nvSpPr>
        <p:spPr>
          <a:xfrm>
            <a:off x="9454896" y="1499616"/>
            <a:ext cx="566928" cy="566928"/>
          </a:xfrm>
          <a:prstGeom prst="ellipse">
            <a:avLst/>
          </a:prstGeom>
          <a:solidFill>
            <a:srgbClr val="3B4E8C"/>
          </a:solidFill>
          <a:ln w="15875">
            <a:solidFill>
              <a:srgbClr val="A8B6DC"/>
            </a:solidFill>
            <a:prstDash val="solid"/>
          </a:ln>
        </p:spPr>
      </p:sp>
      <p:sp>
        <p:nvSpPr>
          <p:cNvPr id="4" name="Text 2"/>
          <p:cNvSpPr txBox="1"/>
          <p:nvPr/>
        </p:nvSpPr>
        <p:spPr>
          <a:xfrm>
            <a:off x="9454896" y="1499616"/>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
            </a:r>
            <a:endParaRPr lang="en-US" sz="1400" dirty="0"/>
          </a:p>
        </p:txBody>
      </p:sp>
      <p:sp>
        <p:nvSpPr>
          <p:cNvPr id="5" name="Shape 3"/>
          <p:cNvSpPr/>
          <p:nvPr/>
        </p:nvSpPr>
        <p:spPr>
          <a:xfrm>
            <a:off x="10324542" y="2131451"/>
            <a:ext cx="566928" cy="566928"/>
          </a:xfrm>
          <a:prstGeom prst="ellipse">
            <a:avLst/>
          </a:prstGeom>
          <a:solidFill>
            <a:srgbClr val="3B4E8C"/>
          </a:solidFill>
          <a:ln w="15875">
            <a:solidFill>
              <a:srgbClr val="A8B6DC"/>
            </a:solidFill>
            <a:prstDash val="solid"/>
          </a:ln>
        </p:spPr>
      </p:sp>
      <p:sp>
        <p:nvSpPr>
          <p:cNvPr id="6" name="Text 4"/>
          <p:cNvSpPr txBox="1"/>
          <p:nvPr/>
        </p:nvSpPr>
        <p:spPr>
          <a:xfrm>
            <a:off x="10324542" y="2131451"/>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I</a:t>
            </a:r>
            <a:endParaRPr lang="en-US" sz="1400" dirty="0"/>
          </a:p>
        </p:txBody>
      </p:sp>
      <p:sp>
        <p:nvSpPr>
          <p:cNvPr id="7" name="Shape 5"/>
          <p:cNvSpPr/>
          <p:nvPr/>
        </p:nvSpPr>
        <p:spPr>
          <a:xfrm>
            <a:off x="9992367" y="3153781"/>
            <a:ext cx="566928" cy="566928"/>
          </a:xfrm>
          <a:prstGeom prst="ellipse">
            <a:avLst/>
          </a:prstGeom>
          <a:solidFill>
            <a:srgbClr val="3B4E8C"/>
          </a:solidFill>
          <a:ln w="15875">
            <a:solidFill>
              <a:srgbClr val="A8B6DC"/>
            </a:solidFill>
            <a:prstDash val="solid"/>
          </a:ln>
        </p:spPr>
      </p:sp>
      <p:sp>
        <p:nvSpPr>
          <p:cNvPr id="8" name="Text 6"/>
          <p:cNvSpPr txBox="1"/>
          <p:nvPr/>
        </p:nvSpPr>
        <p:spPr>
          <a:xfrm>
            <a:off x="9992367" y="3153781"/>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O</a:t>
            </a:r>
            <a:endParaRPr lang="en-US" sz="1400" dirty="0"/>
          </a:p>
        </p:txBody>
      </p:sp>
      <p:sp>
        <p:nvSpPr>
          <p:cNvPr id="9" name="Shape 7"/>
          <p:cNvSpPr/>
          <p:nvPr/>
        </p:nvSpPr>
        <p:spPr>
          <a:xfrm>
            <a:off x="8917425" y="3153781"/>
            <a:ext cx="566928" cy="566928"/>
          </a:xfrm>
          <a:prstGeom prst="ellipse">
            <a:avLst/>
          </a:prstGeom>
          <a:solidFill>
            <a:srgbClr val="3B4E8C"/>
          </a:solidFill>
          <a:ln w="15875">
            <a:solidFill>
              <a:srgbClr val="A8B6DC"/>
            </a:solidFill>
            <a:prstDash val="solid"/>
          </a:ln>
        </p:spPr>
      </p:sp>
      <p:sp>
        <p:nvSpPr>
          <p:cNvPr id="10" name="Text 8"/>
          <p:cNvSpPr txBox="1"/>
          <p:nvPr/>
        </p:nvSpPr>
        <p:spPr>
          <a:xfrm>
            <a:off x="8917425" y="3153781"/>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11" name="Shape 9"/>
          <p:cNvSpPr/>
          <p:nvPr/>
        </p:nvSpPr>
        <p:spPr>
          <a:xfrm>
            <a:off x="8585250" y="2131451"/>
            <a:ext cx="566928" cy="566928"/>
          </a:xfrm>
          <a:prstGeom prst="ellipse">
            <a:avLst/>
          </a:prstGeom>
          <a:solidFill>
            <a:srgbClr val="3B4E8C"/>
          </a:solidFill>
          <a:ln w="15875">
            <a:solidFill>
              <a:srgbClr val="A8B6DC"/>
            </a:solidFill>
            <a:prstDash val="solid"/>
          </a:ln>
        </p:spPr>
      </p:sp>
      <p:sp>
        <p:nvSpPr>
          <p:cNvPr id="12" name="Text 10"/>
          <p:cNvSpPr txBox="1"/>
          <p:nvPr/>
        </p:nvSpPr>
        <p:spPr>
          <a:xfrm>
            <a:off x="8585250" y="2131451"/>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a:t>
            </a:r>
            <a:endParaRPr lang="en-US" sz="1400" dirty="0"/>
          </a:p>
        </p:txBody>
      </p:sp>
      <p:sp>
        <p:nvSpPr>
          <p:cNvPr id="13" name="Shape 11"/>
          <p:cNvSpPr/>
          <p:nvPr/>
        </p:nvSpPr>
        <p:spPr>
          <a:xfrm>
            <a:off x="7269480" y="1417320"/>
            <a:ext cx="1325880" cy="685800"/>
          </a:xfrm>
          <a:prstGeom prst="roundRect">
            <a:avLst>
              <a:gd name="adj" fmla="val 16000"/>
            </a:avLst>
          </a:prstGeom>
          <a:solidFill>
            <a:srgbClr val="7A4A8C"/>
          </a:solidFill>
          <a:ln w="19050">
            <a:solidFill>
              <a:srgbClr val="D8BFE2"/>
            </a:solidFill>
            <a:prstDash val="solid"/>
          </a:ln>
        </p:spPr>
      </p:sp>
      <p:sp>
        <p:nvSpPr>
          <p:cNvPr id="14" name="Text 12"/>
          <p:cNvSpPr txBox="1"/>
          <p:nvPr/>
        </p:nvSpPr>
        <p:spPr>
          <a:xfrm>
            <a:off x="7269480" y="1417320"/>
            <a:ext cx="132588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chat</a:t>
            </a:r>
            <a:endParaRPr lang="en-US" sz="1300" dirty="0"/>
          </a:p>
        </p:txBody>
      </p:sp>
      <p:sp>
        <p:nvSpPr>
          <p:cNvPr id="15" name="Shape 13"/>
          <p:cNvSpPr/>
          <p:nvPr/>
        </p:nvSpPr>
        <p:spPr>
          <a:xfrm>
            <a:off x="8641080" y="1764792"/>
            <a:ext cx="804672" cy="36576"/>
          </a:xfrm>
          <a:prstGeom prst="line">
            <a:avLst/>
          </a:prstGeom>
          <a:noFill/>
          <a:ln w="19050">
            <a:solidFill>
              <a:srgbClr val="D8BFE2"/>
            </a:solidFill>
            <a:prstDash val="solid"/>
            <a:tailEnd type="triangle"/>
          </a:ln>
        </p:spPr>
      </p:sp>
      <p:sp>
        <p:nvSpPr>
          <p:cNvPr id="16" name="Shape 14"/>
          <p:cNvSpPr/>
          <p:nvPr/>
        </p:nvSpPr>
        <p:spPr>
          <a:xfrm>
            <a:off x="8522208" y="4434840"/>
            <a:ext cx="512064" cy="365760"/>
          </a:xfrm>
          <a:prstGeom prst="rect">
            <a:avLst/>
          </a:prstGeom>
          <a:solidFill>
            <a:srgbClr val="D9731A"/>
          </a:solidFill>
          <a:ln w="12700">
            <a:solidFill>
              <a:srgbClr val="D9731A"/>
            </a:solidFill>
            <a:prstDash val="solid"/>
          </a:ln>
        </p:spPr>
      </p:sp>
      <p:sp>
        <p:nvSpPr>
          <p:cNvPr id="17" name="Shape 15"/>
          <p:cNvSpPr/>
          <p:nvPr/>
        </p:nvSpPr>
        <p:spPr>
          <a:xfrm>
            <a:off x="9144000" y="4434840"/>
            <a:ext cx="512064" cy="365760"/>
          </a:xfrm>
          <a:prstGeom prst="rect">
            <a:avLst/>
          </a:prstGeom>
          <a:solidFill>
            <a:srgbClr val="D9731A"/>
          </a:solidFill>
          <a:ln w="12700">
            <a:solidFill>
              <a:srgbClr val="D9731A"/>
            </a:solidFill>
            <a:prstDash val="solid"/>
          </a:ln>
        </p:spPr>
      </p:sp>
      <p:sp>
        <p:nvSpPr>
          <p:cNvPr id="18" name="Shape 16"/>
          <p:cNvSpPr/>
          <p:nvPr/>
        </p:nvSpPr>
        <p:spPr>
          <a:xfrm>
            <a:off x="9765792" y="4434840"/>
            <a:ext cx="512064" cy="365760"/>
          </a:xfrm>
          <a:prstGeom prst="rect">
            <a:avLst/>
          </a:prstGeom>
          <a:solidFill>
            <a:srgbClr val="D9731A"/>
          </a:solidFill>
          <a:ln w="12700">
            <a:solidFill>
              <a:srgbClr val="D9731A"/>
            </a:solidFill>
            <a:prstDash val="solid"/>
          </a:ln>
        </p:spPr>
      </p:sp>
      <p:sp>
        <p:nvSpPr>
          <p:cNvPr id="19" name="Shape 17"/>
          <p:cNvSpPr/>
          <p:nvPr/>
        </p:nvSpPr>
        <p:spPr>
          <a:xfrm>
            <a:off x="10387584" y="4434840"/>
            <a:ext cx="512064" cy="365760"/>
          </a:xfrm>
          <a:prstGeom prst="rect">
            <a:avLst/>
          </a:prstGeom>
          <a:solidFill>
            <a:srgbClr val="D9731A"/>
          </a:solidFill>
          <a:ln w="12700">
            <a:solidFill>
              <a:srgbClr val="D9731A"/>
            </a:solidFill>
            <a:prstDash val="solid"/>
          </a:ln>
        </p:spPr>
      </p:sp>
      <p:sp>
        <p:nvSpPr>
          <p:cNvPr id="20" name="Shape 18"/>
          <p:cNvSpPr/>
          <p:nvPr/>
        </p:nvSpPr>
        <p:spPr>
          <a:xfrm>
            <a:off x="9738360" y="3813048"/>
            <a:ext cx="91" cy="594360"/>
          </a:xfrm>
          <a:prstGeom prst="line">
            <a:avLst/>
          </a:prstGeom>
          <a:noFill/>
          <a:ln w="19050">
            <a:solidFill>
              <a:srgbClr val="E8B98A"/>
            </a:solidFill>
            <a:prstDash val="solid"/>
            <a:tailEnd type="triangle"/>
          </a:ln>
        </p:spPr>
      </p:sp>
      <p:sp>
        <p:nvSpPr>
          <p:cNvPr id="21" name="Text 19"/>
          <p:cNvSpPr txBox="1"/>
          <p:nvPr/>
        </p:nvSpPr>
        <p:spPr>
          <a:xfrm>
            <a:off x="8138160" y="4873752"/>
            <a:ext cx="3200400" cy="237744"/>
          </a:xfrm>
          <a:prstGeom prst="rect">
            <a:avLst/>
          </a:prstGeom>
          <a:noFill/>
          <a:ln/>
        </p:spPr>
        <p:txBody>
          <a:bodyPr wrap="square" lIns="0" tIns="0" rIns="0" bIns="0" rtlCol="0" anchor="t"/>
          <a:lstStyle/>
          <a:p>
            <a:pPr algn="ctr" indent="0" marL="0">
              <a:buNone/>
            </a:pPr>
            <a:r>
              <a:rPr lang="en-US" sz="1000" dirty="0">
                <a:solidFill>
                  <a:srgbClr val="E8B98A"/>
                </a:solidFill>
                <a:latin typeface="Calibri" pitchFamily="34" charset="0"/>
                <a:ea typeface="Calibri" pitchFamily="34" charset="-122"/>
                <a:cs typeface="Calibri" pitchFamily="34" charset="-120"/>
              </a:rPr>
              <a:t>rhapsody process pool</a:t>
            </a:r>
            <a:endParaRPr lang="en-US" sz="1000" dirty="0"/>
          </a:p>
        </p:txBody>
      </p:sp>
      <p:sp>
        <p:nvSpPr>
          <p:cNvPr id="22" name="Text 20"/>
          <p:cNvSpPr txBox="1"/>
          <p:nvPr/>
        </p:nvSpPr>
        <p:spPr>
          <a:xfrm>
            <a:off x="731520" y="1371600"/>
            <a:ext cx="6858000" cy="365760"/>
          </a:xfrm>
          <a:prstGeom prst="rect">
            <a:avLst/>
          </a:prstGeom>
          <a:noFill/>
          <a:ln/>
        </p:spPr>
        <p:txBody>
          <a:bodyPr wrap="square" lIns="0" tIns="0" rIns="0" bIns="0" rtlCol="0" anchor="t"/>
          <a:lstStyle/>
          <a:p>
            <a:pPr indent="0" marL="0">
              <a:buNone/>
            </a:pPr>
            <a:r>
              <a:rPr lang="en-US" sz="1400" b="1" spc="300" kern="0" dirty="0">
                <a:solidFill>
                  <a:srgbClr val="8FB8C9"/>
                </a:solidFill>
                <a:latin typeface="Calibri" pitchFamily="34" charset="0"/>
                <a:ea typeface="Calibri" pitchFamily="34" charset="-122"/>
                <a:cs typeface="Calibri" pitchFamily="34" charset="-120"/>
              </a:rPr>
              <a:t>DESIGNAGENT</a:t>
            </a:r>
            <a:endParaRPr lang="en-US" sz="1400" dirty="0"/>
          </a:p>
        </p:txBody>
      </p:sp>
      <p:sp>
        <p:nvSpPr>
          <p:cNvPr id="23" name="Text 21"/>
          <p:cNvSpPr txBox="1"/>
          <p:nvPr/>
        </p:nvSpPr>
        <p:spPr>
          <a:xfrm>
            <a:off x="731520" y="1783080"/>
            <a:ext cx="6492240" cy="12344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 chat agent that runs real redesign campaigns</a:t>
            </a:r>
            <a:endParaRPr lang="en-US" sz="3400" dirty="0"/>
          </a:p>
        </p:txBody>
      </p:sp>
      <p:sp>
        <p:nvSpPr>
          <p:cNvPr id="24" name="Text 22"/>
          <p:cNvSpPr txBox="1"/>
          <p:nvPr/>
        </p:nvSpPr>
        <p:spPr>
          <a:xfrm>
            <a:off x="731520" y="3154680"/>
            <a:ext cx="6492240" cy="822960"/>
          </a:xfrm>
          <a:prstGeom prst="rect">
            <a:avLst/>
          </a:prstGeom>
          <a:noFill/>
          <a:ln/>
        </p:spPr>
        <p:txBody>
          <a:bodyPr wrap="square" lIns="0" tIns="0" rIns="0" bIns="0" rtlCol="0" anchor="t"/>
          <a:lstStyle/>
          <a:p>
            <a:pPr indent="0" marL="0">
              <a:buNone/>
            </a:pPr>
            <a:r>
              <a:rPr lang="en-US" sz="1700" dirty="0">
                <a:solidFill>
                  <a:srgbClr val="D5DEE5"/>
                </a:solidFill>
                <a:latin typeface="Calibri" pitchFamily="34" charset="0"/>
                <a:ea typeface="Calibri" pitchFamily="34" charset="-122"/>
                <a:cs typeface="Calibri" pitchFamily="34" charset="-120"/>
              </a:rPr>
              <a:t>A LangGraph loop whose long work leaves the process — and a chat that keeps talking while it does</a:t>
            </a:r>
            <a:endParaRPr lang="en-US" sz="1700" dirty="0"/>
          </a:p>
        </p:txBody>
      </p:sp>
      <p:sp>
        <p:nvSpPr>
          <p:cNvPr id="25" name="Text 23"/>
          <p:cNvSpPr txBox="1"/>
          <p:nvPr/>
        </p:nvSpPr>
        <p:spPr>
          <a:xfrm>
            <a:off x="731520" y="4160520"/>
            <a:ext cx="6492240" cy="548640"/>
          </a:xfrm>
          <a:prstGeom prst="rect">
            <a:avLst/>
          </a:prstGeom>
          <a:noFill/>
          <a:ln/>
        </p:spPr>
        <p:txBody>
          <a:bodyPr wrap="square" lIns="0" tIns="0" rIns="0" bIns="0" rtlCol="0" anchor="t"/>
          <a:lstStyle/>
          <a:p>
            <a:pPr indent="0" marL="0">
              <a:buNone/>
            </a:pPr>
            <a:r>
              <a:rPr lang="en-US" sz="1300" dirty="0">
                <a:solidFill>
                  <a:srgbClr val="9FB0BD"/>
                </a:solidFill>
                <a:latin typeface="Calibri" pitchFamily="34" charset="0"/>
                <a:ea typeface="Calibri" pitchFamily="34" charset="-122"/>
                <a:cs typeface="Calibri" pitchFamily="34" charset="-120"/>
              </a:rPr>
              <a:t>Worked example, measured: 1OIL (P22088, 320 aa) · 2 rounds · 11 designs · pLDDT 81.66 → 81.79</a:t>
            </a:r>
            <a:endParaRPr lang="en-US" sz="1300" dirty="0"/>
          </a:p>
        </p:txBody>
      </p:sp>
      <p:sp>
        <p:nvSpPr>
          <p:cNvPr id="26" name="Text 24"/>
          <p:cNvSpPr txBox="1"/>
          <p:nvPr/>
        </p:nvSpPr>
        <p:spPr>
          <a:xfrm>
            <a:off x="731520" y="5852160"/>
            <a:ext cx="6949440" cy="274320"/>
          </a:xfrm>
          <a:prstGeom prst="rect">
            <a:avLst/>
          </a:prstGeom>
          <a:noFill/>
          <a:ln/>
        </p:spPr>
        <p:txBody>
          <a:bodyPr wrap="square" lIns="0" tIns="0" rIns="0" bIns="0" rtlCol="0" anchor="t"/>
          <a:lstStyle/>
          <a:p>
            <a:pPr indent="0" marL="0">
              <a:buNone/>
            </a:pPr>
            <a:r>
              <a:rPr lang="en-US" sz="1200" dirty="0">
                <a:solidFill>
                  <a:srgbClr val="7E8F9C"/>
                </a:solidFill>
                <a:latin typeface="Calibri" pitchFamily="34" charset="0"/>
                <a:ea typeface="Calibri" pitchFamily="34" charset="-122"/>
                <a:cs typeface="Calibri" pitchFamily="34" charset="-120"/>
              </a:rPr>
              <a:t>Lab code walk · main @ e8467e6 · ~7.6k lines backend, 1291 lines of tests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WHAT IT DOES</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One prompt, a whole campaign</a:t>
            </a:r>
            <a:endParaRPr lang="en-US" sz="2800" dirty="0"/>
          </a:p>
        </p:txBody>
      </p:sp>
      <p:sp>
        <p:nvSpPr>
          <p:cNvPr id="4" name="Shape 2"/>
          <p:cNvSpPr/>
          <p:nvPr/>
        </p:nvSpPr>
        <p:spPr>
          <a:xfrm>
            <a:off x="457200" y="1463040"/>
            <a:ext cx="1755648" cy="1188720"/>
          </a:xfrm>
          <a:prstGeom prst="roundRect">
            <a:avLst>
              <a:gd name="adj" fmla="val 6154"/>
            </a:avLst>
          </a:prstGeom>
          <a:solidFill>
            <a:srgbClr val="FFFFFF"/>
          </a:solidFill>
          <a:ln w="25400">
            <a:solidFill>
              <a:srgbClr val="7A4A8C"/>
            </a:solidFill>
            <a:prstDash val="solid"/>
          </a:ln>
        </p:spPr>
      </p:sp>
      <p:sp>
        <p:nvSpPr>
          <p:cNvPr id="5" name="Text 3"/>
          <p:cNvSpPr txBox="1"/>
          <p:nvPr/>
        </p:nvSpPr>
        <p:spPr>
          <a:xfrm>
            <a:off x="457200" y="1536192"/>
            <a:ext cx="1755648" cy="274320"/>
          </a:xfrm>
          <a:prstGeom prst="rect">
            <a:avLst/>
          </a:prstGeom>
          <a:noFill/>
          <a:ln/>
        </p:spPr>
        <p:txBody>
          <a:bodyPr wrap="square" lIns="0" tIns="0" rIns="0" bIns="0" rtlCol="0" anchor="t"/>
          <a:lstStyle/>
          <a:p>
            <a:pPr algn="ctr" indent="0" marL="0">
              <a:buNone/>
            </a:pPr>
            <a:r>
              <a:rPr lang="en-US" sz="1200" b="1" dirty="0">
                <a:solidFill>
                  <a:srgbClr val="7A4A8C"/>
                </a:solidFill>
                <a:latin typeface="Calibri" pitchFamily="34" charset="0"/>
                <a:ea typeface="Calibri" pitchFamily="34" charset="-122"/>
                <a:cs typeface="Calibri" pitchFamily="34" charset="-120"/>
              </a:rPr>
              <a:t>prompt</a:t>
            </a:r>
            <a:endParaRPr lang="en-US" sz="1200" dirty="0"/>
          </a:p>
        </p:txBody>
      </p:sp>
      <p:sp>
        <p:nvSpPr>
          <p:cNvPr id="6" name="Text 4"/>
          <p:cNvSpPr txBox="1"/>
          <p:nvPr/>
        </p:nvSpPr>
        <p:spPr>
          <a:xfrm>
            <a:off x="530352" y="1828800"/>
            <a:ext cx="1609344" cy="731520"/>
          </a:xfrm>
          <a:prstGeom prst="rect">
            <a:avLst/>
          </a:prstGeom>
          <a:noFill/>
          <a:ln/>
        </p:spPr>
        <p:txBody>
          <a:bodyPr wrap="square" lIns="0" tIns="0" rIns="0" bIns="0" rtlCol="0" anchor="t"/>
          <a:lstStyle/>
          <a:p>
            <a:pPr algn="ctr" indent="0" marL="0">
              <a:buNone/>
            </a:pPr>
            <a:r>
              <a:rPr lang="en-US" sz="1050" dirty="0">
                <a:solidFill>
                  <a:srgbClr val="22303C"/>
                </a:solidFill>
                <a:latin typeface="Calibri" pitchFamily="34" charset="0"/>
                <a:ea typeface="Calibri" pitchFamily="34" charset="-122"/>
                <a:cs typeface="Calibri" pitchFamily="34" charset="-120"/>
              </a:rPr>
              <a:t>"redesign 1OIL for</a:t>
            </a:r>
            <a:endParaRPr lang="en-US" sz="1050" dirty="0"/>
          </a:p>
          <a:p>
            <a:pPr algn="ctr" indent="0" marL="0">
              <a:buNone/>
            </a:pPr>
            <a:r>
              <a:rPr lang="en-US" sz="1050" dirty="0">
                <a:solidFill>
                  <a:srgbClr val="22303C"/>
                </a:solidFill>
                <a:latin typeface="Calibri" pitchFamily="34" charset="0"/>
                <a:ea typeface="Calibri" pitchFamily="34" charset="-122"/>
                <a:cs typeface="Calibri" pitchFamily="34" charset="-120"/>
              </a:rPr>
              <a:t>higher stability"</a:t>
            </a:r>
            <a:endParaRPr lang="en-US" sz="1050" dirty="0"/>
          </a:p>
        </p:txBody>
      </p:sp>
      <p:sp>
        <p:nvSpPr>
          <p:cNvPr id="7" name="Shape 5"/>
          <p:cNvSpPr/>
          <p:nvPr/>
        </p:nvSpPr>
        <p:spPr>
          <a:xfrm>
            <a:off x="2221992" y="2057400"/>
            <a:ext cx="91440" cy="91"/>
          </a:xfrm>
          <a:prstGeom prst="line">
            <a:avLst/>
          </a:prstGeom>
          <a:noFill/>
          <a:ln w="15875">
            <a:solidFill>
              <a:srgbClr val="5E6B75"/>
            </a:solidFill>
            <a:prstDash val="solid"/>
            <a:tailEnd type="triangle"/>
          </a:ln>
        </p:spPr>
      </p:sp>
      <p:sp>
        <p:nvSpPr>
          <p:cNvPr id="8" name="Shape 6"/>
          <p:cNvSpPr/>
          <p:nvPr/>
        </p:nvSpPr>
        <p:spPr>
          <a:xfrm>
            <a:off x="2322576" y="1463040"/>
            <a:ext cx="1755648" cy="1188720"/>
          </a:xfrm>
          <a:prstGeom prst="roundRect">
            <a:avLst>
              <a:gd name="adj" fmla="val 6154"/>
            </a:avLst>
          </a:prstGeom>
          <a:solidFill>
            <a:srgbClr val="FFFFFF"/>
          </a:solidFill>
          <a:ln w="25400">
            <a:solidFill>
              <a:srgbClr val="1E6470"/>
            </a:solidFill>
            <a:prstDash val="solid"/>
          </a:ln>
        </p:spPr>
      </p:sp>
      <p:sp>
        <p:nvSpPr>
          <p:cNvPr id="9" name="Text 7"/>
          <p:cNvSpPr txBox="1"/>
          <p:nvPr/>
        </p:nvSpPr>
        <p:spPr>
          <a:xfrm>
            <a:off x="2322576" y="1536192"/>
            <a:ext cx="1755648" cy="274320"/>
          </a:xfrm>
          <a:prstGeom prst="rect">
            <a:avLst/>
          </a:prstGeom>
          <a:noFill/>
          <a:ln/>
        </p:spPr>
        <p:txBody>
          <a:bodyPr wrap="square" lIns="0" tIns="0" rIns="0" bIns="0" rtlCol="0" anchor="t"/>
          <a:lstStyle/>
          <a:p>
            <a:pPr algn="ctr" indent="0" marL="0">
              <a:buNone/>
            </a:pPr>
            <a:r>
              <a:rPr lang="en-US" sz="1200" b="1" dirty="0">
                <a:solidFill>
                  <a:srgbClr val="1E6470"/>
                </a:solidFill>
                <a:latin typeface="Calibri" pitchFamily="34" charset="0"/>
                <a:ea typeface="Calibri" pitchFamily="34" charset="-122"/>
                <a:cs typeface="Calibri" pitchFamily="34" charset="-120"/>
              </a:rPr>
              <a:t>resolve</a:t>
            </a:r>
            <a:endParaRPr lang="en-US" sz="1200" dirty="0"/>
          </a:p>
        </p:txBody>
      </p:sp>
      <p:sp>
        <p:nvSpPr>
          <p:cNvPr id="10" name="Text 8"/>
          <p:cNvSpPr txBox="1"/>
          <p:nvPr/>
        </p:nvSpPr>
        <p:spPr>
          <a:xfrm>
            <a:off x="2395728" y="1828800"/>
            <a:ext cx="1609344" cy="731520"/>
          </a:xfrm>
          <a:prstGeom prst="rect">
            <a:avLst/>
          </a:prstGeom>
          <a:noFill/>
          <a:ln/>
        </p:spPr>
        <p:txBody>
          <a:bodyPr wrap="square" lIns="0" tIns="0" rIns="0" bIns="0" rtlCol="0" anchor="t"/>
          <a:lstStyle/>
          <a:p>
            <a:pPr algn="ctr" indent="0" marL="0">
              <a:buNone/>
            </a:pPr>
            <a:r>
              <a:rPr lang="en-US" sz="1050" dirty="0">
                <a:solidFill>
                  <a:srgbClr val="22303C"/>
                </a:solidFill>
                <a:latin typeface="Calibri" pitchFamily="34" charset="0"/>
                <a:ea typeface="Calibri" pitchFamily="34" charset="-122"/>
                <a:cs typeface="Calibri" pitchFamily="34" charset="-120"/>
              </a:rPr>
              <a:t>RCSB + UniProt +</a:t>
            </a:r>
            <a:endParaRPr lang="en-US" sz="1050" dirty="0"/>
          </a:p>
          <a:p>
            <a:pPr algn="ctr" indent="0" marL="0">
              <a:buNone/>
            </a:pPr>
            <a:r>
              <a:rPr lang="en-US" sz="1050" dirty="0">
                <a:solidFill>
                  <a:srgbClr val="22303C"/>
                </a:solidFill>
                <a:latin typeface="Calibri" pitchFamily="34" charset="0"/>
                <a:ea typeface="Calibri" pitchFamily="34" charset="-122"/>
                <a:cs typeface="Calibri" pitchFamily="34" charset="-120"/>
              </a:rPr>
              <a:t>EuropePMC, concurrent</a:t>
            </a:r>
            <a:endParaRPr lang="en-US" sz="1050" dirty="0"/>
          </a:p>
        </p:txBody>
      </p:sp>
      <p:sp>
        <p:nvSpPr>
          <p:cNvPr id="11" name="Shape 9"/>
          <p:cNvSpPr/>
          <p:nvPr/>
        </p:nvSpPr>
        <p:spPr>
          <a:xfrm>
            <a:off x="4087368" y="2057400"/>
            <a:ext cx="91440" cy="91"/>
          </a:xfrm>
          <a:prstGeom prst="line">
            <a:avLst/>
          </a:prstGeom>
          <a:noFill/>
          <a:ln w="15875">
            <a:solidFill>
              <a:srgbClr val="5E6B75"/>
            </a:solidFill>
            <a:prstDash val="solid"/>
            <a:tailEnd type="triangle"/>
          </a:ln>
        </p:spPr>
      </p:sp>
      <p:sp>
        <p:nvSpPr>
          <p:cNvPr id="12" name="Shape 10"/>
          <p:cNvSpPr/>
          <p:nvPr/>
        </p:nvSpPr>
        <p:spPr>
          <a:xfrm>
            <a:off x="4187952" y="1463040"/>
            <a:ext cx="1755648" cy="1188720"/>
          </a:xfrm>
          <a:prstGeom prst="roundRect">
            <a:avLst>
              <a:gd name="adj" fmla="val 6154"/>
            </a:avLst>
          </a:prstGeom>
          <a:solidFill>
            <a:srgbClr val="FFFFFF"/>
          </a:solidFill>
          <a:ln w="25400">
            <a:solidFill>
              <a:srgbClr val="3B4E8C"/>
            </a:solidFill>
            <a:prstDash val="solid"/>
          </a:ln>
        </p:spPr>
      </p:sp>
      <p:sp>
        <p:nvSpPr>
          <p:cNvPr id="13" name="Text 11"/>
          <p:cNvSpPr txBox="1"/>
          <p:nvPr/>
        </p:nvSpPr>
        <p:spPr>
          <a:xfrm>
            <a:off x="4187952" y="1536192"/>
            <a:ext cx="1755648" cy="274320"/>
          </a:xfrm>
          <a:prstGeom prst="rect">
            <a:avLst/>
          </a:prstGeom>
          <a:noFill/>
          <a:ln/>
        </p:spPr>
        <p:txBody>
          <a:bodyPr wrap="square" lIns="0" tIns="0" rIns="0" bIns="0" rtlCol="0" anchor="t"/>
          <a:lstStyle/>
          <a:p>
            <a:pPr algn="ctr" indent="0" marL="0">
              <a:buNone/>
            </a:pPr>
            <a:r>
              <a:rPr lang="en-US" sz="1200" b="1" dirty="0">
                <a:solidFill>
                  <a:srgbClr val="3B4E8C"/>
                </a:solidFill>
                <a:latin typeface="Calibri" pitchFamily="34" charset="0"/>
                <a:ea typeface="Calibri" pitchFamily="34" charset="-122"/>
                <a:cs typeface="Calibri" pitchFamily="34" charset="-120"/>
              </a:rPr>
              <a:t>propose</a:t>
            </a:r>
            <a:endParaRPr lang="en-US" sz="1200" dirty="0"/>
          </a:p>
        </p:txBody>
      </p:sp>
      <p:sp>
        <p:nvSpPr>
          <p:cNvPr id="14" name="Text 12"/>
          <p:cNvSpPr txBox="1"/>
          <p:nvPr/>
        </p:nvSpPr>
        <p:spPr>
          <a:xfrm>
            <a:off x="4261104" y="1828800"/>
            <a:ext cx="1609344" cy="731520"/>
          </a:xfrm>
          <a:prstGeom prst="rect">
            <a:avLst/>
          </a:prstGeom>
          <a:noFill/>
          <a:ln/>
        </p:spPr>
        <p:txBody>
          <a:bodyPr wrap="square" lIns="0" tIns="0" rIns="0" bIns="0" rtlCol="0" anchor="t"/>
          <a:lstStyle/>
          <a:p>
            <a:pPr algn="ctr" indent="0" marL="0">
              <a:buNone/>
            </a:pPr>
            <a:r>
              <a:rPr lang="en-US" sz="1050" dirty="0">
                <a:solidFill>
                  <a:srgbClr val="22303C"/>
                </a:solidFill>
                <a:latin typeface="Calibri" pitchFamily="34" charset="0"/>
                <a:ea typeface="Calibri" pitchFamily="34" charset="-122"/>
                <a:cs typeface="Calibri" pitchFamily="34" charset="-120"/>
              </a:rPr>
              <a:t>6 single-point</a:t>
            </a:r>
            <a:endParaRPr lang="en-US" sz="1050" dirty="0"/>
          </a:p>
          <a:p>
            <a:pPr algn="ctr" indent="0" marL="0">
              <a:buNone/>
            </a:pPr>
            <a:r>
              <a:rPr lang="en-US" sz="1050" dirty="0">
                <a:solidFill>
                  <a:srgbClr val="22303C"/>
                </a:solidFill>
                <a:latin typeface="Calibri" pitchFamily="34" charset="0"/>
                <a:ea typeface="Calibri" pitchFamily="34" charset="-122"/>
                <a:cs typeface="Calibri" pitchFamily="34" charset="-120"/>
              </a:rPr>
              <a:t>variants per round</a:t>
            </a:r>
            <a:endParaRPr lang="en-US" sz="1050" dirty="0"/>
          </a:p>
        </p:txBody>
      </p:sp>
      <p:sp>
        <p:nvSpPr>
          <p:cNvPr id="15" name="Shape 13"/>
          <p:cNvSpPr/>
          <p:nvPr/>
        </p:nvSpPr>
        <p:spPr>
          <a:xfrm>
            <a:off x="5952744" y="2057400"/>
            <a:ext cx="91440" cy="91"/>
          </a:xfrm>
          <a:prstGeom prst="line">
            <a:avLst/>
          </a:prstGeom>
          <a:noFill/>
          <a:ln w="15875">
            <a:solidFill>
              <a:srgbClr val="5E6B75"/>
            </a:solidFill>
            <a:prstDash val="solid"/>
            <a:tailEnd type="triangle"/>
          </a:ln>
        </p:spPr>
      </p:sp>
      <p:sp>
        <p:nvSpPr>
          <p:cNvPr id="16" name="Shape 14"/>
          <p:cNvSpPr/>
          <p:nvPr/>
        </p:nvSpPr>
        <p:spPr>
          <a:xfrm>
            <a:off x="6053328" y="1463040"/>
            <a:ext cx="1755648" cy="1188720"/>
          </a:xfrm>
          <a:prstGeom prst="roundRect">
            <a:avLst>
              <a:gd name="adj" fmla="val 6154"/>
            </a:avLst>
          </a:prstGeom>
          <a:solidFill>
            <a:srgbClr val="FFFFFF"/>
          </a:solidFill>
          <a:ln w="25400">
            <a:solidFill>
              <a:srgbClr val="D9731A"/>
            </a:solidFill>
            <a:prstDash val="solid"/>
          </a:ln>
        </p:spPr>
      </p:sp>
      <p:sp>
        <p:nvSpPr>
          <p:cNvPr id="17" name="Text 15"/>
          <p:cNvSpPr txBox="1"/>
          <p:nvPr/>
        </p:nvSpPr>
        <p:spPr>
          <a:xfrm>
            <a:off x="6053328" y="1536192"/>
            <a:ext cx="1755648" cy="274320"/>
          </a:xfrm>
          <a:prstGeom prst="rect">
            <a:avLst/>
          </a:prstGeom>
          <a:noFill/>
          <a:ln/>
        </p:spPr>
        <p:txBody>
          <a:bodyPr wrap="square" lIns="0" tIns="0" rIns="0" bIns="0" rtlCol="0" anchor="t"/>
          <a:lstStyle/>
          <a:p>
            <a:pPr algn="ctr" indent="0" marL="0">
              <a:buNone/>
            </a:pPr>
            <a:r>
              <a:rPr lang="en-US" sz="1200" b="1" dirty="0">
                <a:solidFill>
                  <a:srgbClr val="D9731A"/>
                </a:solidFill>
                <a:latin typeface="Calibri" pitchFamily="34" charset="0"/>
                <a:ea typeface="Calibri" pitchFamily="34" charset="-122"/>
                <a:cs typeface="Calibri" pitchFamily="34" charset="-120"/>
              </a:rPr>
              <a:t>fold</a:t>
            </a:r>
            <a:endParaRPr lang="en-US" sz="1200" dirty="0"/>
          </a:p>
        </p:txBody>
      </p:sp>
      <p:sp>
        <p:nvSpPr>
          <p:cNvPr id="18" name="Text 16"/>
          <p:cNvSpPr txBox="1"/>
          <p:nvPr/>
        </p:nvSpPr>
        <p:spPr>
          <a:xfrm>
            <a:off x="6126480" y="1828800"/>
            <a:ext cx="1609344" cy="731520"/>
          </a:xfrm>
          <a:prstGeom prst="rect">
            <a:avLst/>
          </a:prstGeom>
          <a:noFill/>
          <a:ln/>
        </p:spPr>
        <p:txBody>
          <a:bodyPr wrap="square" lIns="0" tIns="0" rIns="0" bIns="0" rtlCol="0" anchor="t"/>
          <a:lstStyle/>
          <a:p>
            <a:pPr algn="ctr" indent="0" marL="0">
              <a:buNone/>
            </a:pPr>
            <a:r>
              <a:rPr lang="en-US" sz="1050" dirty="0">
                <a:solidFill>
                  <a:srgbClr val="22303C"/>
                </a:solidFill>
                <a:latin typeface="Calibri" pitchFamily="34" charset="0"/>
                <a:ea typeface="Calibri" pitchFamily="34" charset="-122"/>
                <a:cs typeface="Calibri" pitchFamily="34" charset="-120"/>
              </a:rPr>
              <a:t>6 ESMFold calls,</a:t>
            </a:r>
            <a:endParaRPr lang="en-US" sz="1050" dirty="0"/>
          </a:p>
          <a:p>
            <a:pPr algn="ctr" indent="0" marL="0">
              <a:buNone/>
            </a:pPr>
            <a:r>
              <a:rPr lang="en-US" sz="1050" dirty="0">
                <a:solidFill>
                  <a:srgbClr val="22303C"/>
                </a:solidFill>
                <a:latin typeface="Calibri" pitchFamily="34" charset="0"/>
                <a:ea typeface="Calibri" pitchFamily="34" charset="-122"/>
                <a:cs typeface="Calibri" pitchFamily="34" charset="-120"/>
              </a:rPr>
              <a:t>in parallel</a:t>
            </a:r>
            <a:endParaRPr lang="en-US" sz="1050" dirty="0"/>
          </a:p>
        </p:txBody>
      </p:sp>
      <p:sp>
        <p:nvSpPr>
          <p:cNvPr id="19" name="Shape 17"/>
          <p:cNvSpPr/>
          <p:nvPr/>
        </p:nvSpPr>
        <p:spPr>
          <a:xfrm>
            <a:off x="7818120" y="2057400"/>
            <a:ext cx="91440" cy="91"/>
          </a:xfrm>
          <a:prstGeom prst="line">
            <a:avLst/>
          </a:prstGeom>
          <a:noFill/>
          <a:ln w="15875">
            <a:solidFill>
              <a:srgbClr val="5E6B75"/>
            </a:solidFill>
            <a:prstDash val="solid"/>
            <a:tailEnd type="triangle"/>
          </a:ln>
        </p:spPr>
      </p:sp>
      <p:sp>
        <p:nvSpPr>
          <p:cNvPr id="20" name="Shape 18"/>
          <p:cNvSpPr/>
          <p:nvPr/>
        </p:nvSpPr>
        <p:spPr>
          <a:xfrm>
            <a:off x="7918704" y="1463040"/>
            <a:ext cx="1755648" cy="1188720"/>
          </a:xfrm>
          <a:prstGeom prst="roundRect">
            <a:avLst>
              <a:gd name="adj" fmla="val 6154"/>
            </a:avLst>
          </a:prstGeom>
          <a:solidFill>
            <a:srgbClr val="FFFFFF"/>
          </a:solidFill>
          <a:ln w="25400">
            <a:solidFill>
              <a:srgbClr val="3B4E8C"/>
            </a:solidFill>
            <a:prstDash val="solid"/>
          </a:ln>
        </p:spPr>
      </p:sp>
      <p:sp>
        <p:nvSpPr>
          <p:cNvPr id="21" name="Text 19"/>
          <p:cNvSpPr txBox="1"/>
          <p:nvPr/>
        </p:nvSpPr>
        <p:spPr>
          <a:xfrm>
            <a:off x="7918704" y="1536192"/>
            <a:ext cx="1755648" cy="274320"/>
          </a:xfrm>
          <a:prstGeom prst="rect">
            <a:avLst/>
          </a:prstGeom>
          <a:noFill/>
          <a:ln/>
        </p:spPr>
        <p:txBody>
          <a:bodyPr wrap="square" lIns="0" tIns="0" rIns="0" bIns="0" rtlCol="0" anchor="t"/>
          <a:lstStyle/>
          <a:p>
            <a:pPr algn="ctr" indent="0" marL="0">
              <a:buNone/>
            </a:pPr>
            <a:r>
              <a:rPr lang="en-US" sz="1200" b="1" dirty="0">
                <a:solidFill>
                  <a:srgbClr val="3B4E8C"/>
                </a:solidFill>
                <a:latin typeface="Calibri" pitchFamily="34" charset="0"/>
                <a:ea typeface="Calibri" pitchFamily="34" charset="-122"/>
                <a:cs typeface="Calibri" pitchFamily="34" charset="-120"/>
              </a:rPr>
              <a:t>score</a:t>
            </a:r>
            <a:endParaRPr lang="en-US" sz="1200" dirty="0"/>
          </a:p>
        </p:txBody>
      </p:sp>
      <p:sp>
        <p:nvSpPr>
          <p:cNvPr id="22" name="Text 20"/>
          <p:cNvSpPr txBox="1"/>
          <p:nvPr/>
        </p:nvSpPr>
        <p:spPr>
          <a:xfrm>
            <a:off x="7991856" y="1828800"/>
            <a:ext cx="1609344" cy="731520"/>
          </a:xfrm>
          <a:prstGeom prst="rect">
            <a:avLst/>
          </a:prstGeom>
          <a:noFill/>
          <a:ln/>
        </p:spPr>
        <p:txBody>
          <a:bodyPr wrap="square" lIns="0" tIns="0" rIns="0" bIns="0" rtlCol="0" anchor="t"/>
          <a:lstStyle/>
          <a:p>
            <a:pPr algn="ctr" indent="0" marL="0">
              <a:buNone/>
            </a:pPr>
            <a:r>
              <a:rPr lang="en-US" sz="1050" dirty="0">
                <a:solidFill>
                  <a:srgbClr val="22303C"/>
                </a:solidFill>
                <a:latin typeface="Calibri" pitchFamily="34" charset="0"/>
                <a:ea typeface="Calibri" pitchFamily="34" charset="-122"/>
                <a:cs typeface="Calibri" pitchFamily="34" charset="-120"/>
              </a:rPr>
              <a:t>pLDDT, RMSD to the</a:t>
            </a:r>
            <a:endParaRPr lang="en-US" sz="1050" dirty="0"/>
          </a:p>
          <a:p>
            <a:pPr algn="ctr" indent="0" marL="0">
              <a:buNone/>
            </a:pPr>
            <a:r>
              <a:rPr lang="en-US" sz="1050" dirty="0">
                <a:solidFill>
                  <a:srgbClr val="22303C"/>
                </a:solidFill>
                <a:latin typeface="Calibri" pitchFamily="34" charset="0"/>
                <a:ea typeface="Calibri" pitchFamily="34" charset="-122"/>
                <a:cs typeface="Calibri" pitchFamily="34" charset="-120"/>
              </a:rPr>
              <a:t>crystal structure</a:t>
            </a:r>
            <a:endParaRPr lang="en-US" sz="1050" dirty="0"/>
          </a:p>
        </p:txBody>
      </p:sp>
      <p:sp>
        <p:nvSpPr>
          <p:cNvPr id="23" name="Shape 21"/>
          <p:cNvSpPr/>
          <p:nvPr/>
        </p:nvSpPr>
        <p:spPr>
          <a:xfrm>
            <a:off x="9683496" y="2057400"/>
            <a:ext cx="91440" cy="91"/>
          </a:xfrm>
          <a:prstGeom prst="line">
            <a:avLst/>
          </a:prstGeom>
          <a:noFill/>
          <a:ln w="15875">
            <a:solidFill>
              <a:srgbClr val="5E6B75"/>
            </a:solidFill>
            <a:prstDash val="solid"/>
            <a:tailEnd type="triangle"/>
          </a:ln>
        </p:spPr>
      </p:sp>
      <p:sp>
        <p:nvSpPr>
          <p:cNvPr id="24" name="Shape 22"/>
          <p:cNvSpPr/>
          <p:nvPr/>
        </p:nvSpPr>
        <p:spPr>
          <a:xfrm>
            <a:off x="9784080" y="1463040"/>
            <a:ext cx="1755648" cy="1188720"/>
          </a:xfrm>
          <a:prstGeom prst="roundRect">
            <a:avLst>
              <a:gd name="adj" fmla="val 6154"/>
            </a:avLst>
          </a:prstGeom>
          <a:solidFill>
            <a:srgbClr val="FFFFFF"/>
          </a:solidFill>
          <a:ln w="25400">
            <a:solidFill>
              <a:srgbClr val="2E7D5B"/>
            </a:solidFill>
            <a:prstDash val="solid"/>
          </a:ln>
        </p:spPr>
      </p:sp>
      <p:sp>
        <p:nvSpPr>
          <p:cNvPr id="25" name="Text 23"/>
          <p:cNvSpPr txBox="1"/>
          <p:nvPr/>
        </p:nvSpPr>
        <p:spPr>
          <a:xfrm>
            <a:off x="9784080" y="1536192"/>
            <a:ext cx="1755648" cy="274320"/>
          </a:xfrm>
          <a:prstGeom prst="rect">
            <a:avLst/>
          </a:prstGeom>
          <a:noFill/>
          <a:ln/>
        </p:spPr>
        <p:txBody>
          <a:bodyPr wrap="square" lIns="0" tIns="0" rIns="0" bIns="0" rtlCol="0" anchor="t"/>
          <a:lstStyle/>
          <a:p>
            <a:pPr algn="ctr" indent="0" marL="0">
              <a:buNone/>
            </a:pPr>
            <a:r>
              <a:rPr lang="en-US" sz="1200" b="1" dirty="0">
                <a:solidFill>
                  <a:srgbClr val="2E7D5B"/>
                </a:solidFill>
                <a:latin typeface="Calibri" pitchFamily="34" charset="0"/>
                <a:ea typeface="Calibri" pitchFamily="34" charset="-122"/>
                <a:cs typeface="Calibri" pitchFamily="34" charset="-120"/>
              </a:rPr>
              <a:t>record</a:t>
            </a:r>
            <a:endParaRPr lang="en-US" sz="1200" dirty="0"/>
          </a:p>
        </p:txBody>
      </p:sp>
      <p:sp>
        <p:nvSpPr>
          <p:cNvPr id="26" name="Text 24"/>
          <p:cNvSpPr txBox="1"/>
          <p:nvPr/>
        </p:nvSpPr>
        <p:spPr>
          <a:xfrm>
            <a:off x="9857232" y="1828800"/>
            <a:ext cx="1609344" cy="731520"/>
          </a:xfrm>
          <a:prstGeom prst="rect">
            <a:avLst/>
          </a:prstGeom>
          <a:noFill/>
          <a:ln/>
        </p:spPr>
        <p:txBody>
          <a:bodyPr wrap="square" lIns="0" tIns="0" rIns="0" bIns="0" rtlCol="0" anchor="t"/>
          <a:lstStyle/>
          <a:p>
            <a:pPr algn="ctr" indent="0" marL="0">
              <a:buNone/>
            </a:pPr>
            <a:r>
              <a:rPr lang="en-US" sz="1050" dirty="0">
                <a:solidFill>
                  <a:srgbClr val="22303C"/>
                </a:solidFill>
                <a:latin typeface="Calibri" pitchFamily="34" charset="0"/>
                <a:ea typeface="Calibri" pitchFamily="34" charset="-122"/>
                <a:cs typeface="Calibri" pitchFamily="34" charset="-120"/>
              </a:rPr>
              <a:t>3 lake tiers +</a:t>
            </a:r>
            <a:endParaRPr lang="en-US" sz="1050" dirty="0"/>
          </a:p>
          <a:p>
            <a:pPr algn="ctr" indent="0" marL="0">
              <a:buNone/>
            </a:pPr>
            <a:r>
              <a:rPr lang="en-US" sz="1050" dirty="0">
                <a:solidFill>
                  <a:srgbClr val="22303C"/>
                </a:solidFill>
                <a:latin typeface="Calibri" pitchFamily="34" charset="0"/>
                <a:ea typeface="Calibri" pitchFamily="34" charset="-122"/>
                <a:cs typeface="Calibri" pitchFamily="34" charset="-120"/>
              </a:rPr>
              <a:t>4 artifacts</a:t>
            </a:r>
            <a:endParaRPr lang="en-US" sz="1050" dirty="0"/>
          </a:p>
        </p:txBody>
      </p:sp>
      <p:sp>
        <p:nvSpPr>
          <p:cNvPr id="27" name="Shape 25"/>
          <p:cNvSpPr/>
          <p:nvPr/>
        </p:nvSpPr>
        <p:spPr>
          <a:xfrm>
            <a:off x="457200" y="2880360"/>
            <a:ext cx="5669280" cy="1828800"/>
          </a:xfrm>
          <a:prstGeom prst="rect">
            <a:avLst/>
          </a:prstGeom>
          <a:solidFill>
            <a:srgbClr val="EEF2F5"/>
          </a:solidFill>
          <a:ln w="12700">
            <a:solidFill>
              <a:srgbClr val="EEF2F5"/>
            </a:solidFill>
            <a:prstDash val="solid"/>
          </a:ln>
        </p:spPr>
      </p:sp>
      <p:sp>
        <p:nvSpPr>
          <p:cNvPr id="28" name="Text 26"/>
          <p:cNvSpPr txBox="1"/>
          <p:nvPr/>
        </p:nvSpPr>
        <p:spPr>
          <a:xfrm>
            <a:off x="594360" y="2971800"/>
            <a:ext cx="5394960"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What came back, for real (campaign s-tutp87hw)</a:t>
            </a:r>
            <a:endParaRPr lang="en-US" sz="1300" dirty="0"/>
          </a:p>
        </p:txBody>
      </p:sp>
      <p:sp>
        <p:nvSpPr>
          <p:cNvPr id="29" name="Text 27"/>
          <p:cNvSpPr txBox="1"/>
          <p:nvPr/>
        </p:nvSpPr>
        <p:spPr>
          <a:xfrm>
            <a:off x="594360" y="3291840"/>
            <a:ext cx="5394960" cy="132588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1OIL — P22088, Burkholderia cepacia lipase, 320 residues, resolved from the prompt alone</a:t>
            </a:r>
            <a:endParaRPr lang="en-US" sz="1150" dirty="0"/>
          </a:p>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lead design G147A at pLDDT 81.79, RMSD 3.75 Å to the crystal structure</a:t>
            </a:r>
            <a:endParaRPr lang="en-US" sz="1150" dirty="0"/>
          </a:p>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11 designs scored on 10 metrics; 114 score rows written</a:t>
            </a:r>
            <a:endParaRPr lang="en-US" sz="1150" dirty="0"/>
          </a:p>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a Markdown summary, a .docx, a sortable ensemble table, and a Mol* view of the lead</a:t>
            </a:r>
            <a:endParaRPr lang="en-US" sz="1150" dirty="0"/>
          </a:p>
        </p:txBody>
      </p:sp>
      <p:sp>
        <p:nvSpPr>
          <p:cNvPr id="30" name="Shape 28"/>
          <p:cNvSpPr/>
          <p:nvPr/>
        </p:nvSpPr>
        <p:spPr>
          <a:xfrm>
            <a:off x="6400800" y="2880360"/>
            <a:ext cx="5788152" cy="1828800"/>
          </a:xfrm>
          <a:prstGeom prst="rect">
            <a:avLst/>
          </a:prstGeom>
          <a:solidFill>
            <a:srgbClr val="F9E0DD"/>
          </a:solidFill>
          <a:ln w="12700">
            <a:solidFill>
              <a:srgbClr val="F9E0DD"/>
            </a:solidFill>
            <a:prstDash val="solid"/>
          </a:ln>
        </p:spPr>
      </p:sp>
      <p:sp>
        <p:nvSpPr>
          <p:cNvPr id="31" name="Text 29"/>
          <p:cNvSpPr txBox="1"/>
          <p:nvPr/>
        </p:nvSpPr>
        <p:spPr>
          <a:xfrm>
            <a:off x="6537960" y="2971800"/>
            <a:ext cx="5513832"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And what that is not</a:t>
            </a:r>
            <a:endParaRPr lang="en-US" sz="1300" dirty="0"/>
          </a:p>
        </p:txBody>
      </p:sp>
      <p:sp>
        <p:nvSpPr>
          <p:cNvPr id="32" name="Text 30"/>
          <p:cNvSpPr txBox="1"/>
          <p:nvPr/>
        </p:nvSpPr>
        <p:spPr>
          <a:xfrm>
            <a:off x="6537960" y="3291840"/>
            <a:ext cx="5513832" cy="132588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The variants are heuristic single-point proposals, not ProteinMPNN samples — no HPC endpoint was attached.</a:t>
            </a:r>
            <a:endParaRPr lang="en-US" sz="1150" dirty="0"/>
          </a:p>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A pLDDT move from 81.66 to 81.79 is inside the noise. The loop is real; the science is a demo.</a:t>
            </a:r>
            <a:endParaRPr lang="en-US" sz="1150" dirty="0"/>
          </a:p>
          <a:p>
            <a:pPr marL="342900" indent="-342900">
              <a:spcAft>
                <a:spcPts val="400"/>
              </a:spcAft>
              <a:buSzPct val="100000"/>
              <a:buChar char="•"/>
            </a:pPr>
            <a:r>
              <a:rPr lang="en-US" sz="1150" dirty="0">
                <a:solidFill>
                  <a:srgbClr val="22303C"/>
                </a:solidFill>
                <a:latin typeface="Calibri" pitchFamily="34" charset="0"/>
                <a:ea typeface="Calibri" pitchFamily="34" charset="-122"/>
                <a:cs typeface="Calibri" pitchFamily="34" charset="-120"/>
              </a:rPr>
              <a:t>This run had no ANTHROPIC_API_KEY. Every node took its deterministic path.</a:t>
            </a:r>
            <a:endParaRPr lang="en-US" sz="1150" dirty="0"/>
          </a:p>
        </p:txBody>
      </p:sp>
      <p:sp>
        <p:nvSpPr>
          <p:cNvPr id="33" name="Text 31"/>
          <p:cNvSpPr txBox="1"/>
          <p:nvPr/>
        </p:nvSpPr>
        <p:spPr>
          <a:xfrm>
            <a:off x="457200" y="4937760"/>
            <a:ext cx="11247120" cy="54864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The point of the demo: </a:t>
            </a:r>
            <a:pPr indent="0" marL="0">
              <a:buNone/>
            </a:pPr>
            <a:r>
              <a:rPr lang="en-US" sz="1300" dirty="0">
                <a:solidFill>
                  <a:srgbClr val="22303C"/>
                </a:solidFill>
                <a:latin typeface="Calibri" pitchFamily="34" charset="0"/>
                <a:ea typeface="Calibri" pitchFamily="34" charset="-122"/>
                <a:cs typeface="Calibri" pitchFamily="34" charset="-120"/>
              </a:rPr>
              <a:t>a prompt in a browser produced a provenance graph, a scored ensemble and a training-ready Parquet set, with no human in the middle and nothing stubbed.</a:t>
            </a:r>
            <a:endParaRPr lang="en-US" sz="1300" dirty="0"/>
          </a:p>
        </p:txBody>
      </p:sp>
      <p:sp>
        <p:nvSpPr>
          <p:cNvPr id="34" name="Text 32"/>
          <p:cNvSpPr txBox="1"/>
          <p:nvPr/>
        </p:nvSpPr>
        <p:spPr>
          <a:xfrm>
            <a:off x="457200" y="6473952"/>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Numbers read from slides/run.json, mined from data/lake by slides/run_model.py.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WHY IT LOOKS LIKE THIS</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One constraint sets the whole design</a:t>
            </a:r>
            <a:endParaRPr lang="en-US" sz="2800" dirty="0"/>
          </a:p>
        </p:txBody>
      </p:sp>
      <p:sp>
        <p:nvSpPr>
          <p:cNvPr id="4" name="Shape 2"/>
          <p:cNvSpPr/>
          <p:nvPr/>
        </p:nvSpPr>
        <p:spPr>
          <a:xfrm>
            <a:off x="457200" y="1417320"/>
            <a:ext cx="11274552" cy="822960"/>
          </a:xfrm>
          <a:prstGeom prst="rect">
            <a:avLst/>
          </a:prstGeom>
          <a:solidFill>
            <a:srgbClr val="16222B"/>
          </a:solidFill>
          <a:ln w="12700">
            <a:solidFill>
              <a:srgbClr val="16222B"/>
            </a:solidFill>
            <a:prstDash val="solid"/>
          </a:ln>
        </p:spPr>
      </p:sp>
      <p:sp>
        <p:nvSpPr>
          <p:cNvPr id="5" name="Text 3"/>
          <p:cNvSpPr txBox="1"/>
          <p:nvPr/>
        </p:nvSpPr>
        <p:spPr>
          <a:xfrm>
            <a:off x="685800" y="1572768"/>
            <a:ext cx="10789920" cy="548640"/>
          </a:xfrm>
          <a:prstGeom prst="rect">
            <a:avLst/>
          </a:prstGeom>
          <a:noFill/>
          <a:ln/>
        </p:spPr>
        <p:txBody>
          <a:bodyPr wrap="square" lIns="0" tIns="0" rIns="0" bIns="0" rtlCol="0" anchor="ctr"/>
          <a:lstStyle/>
          <a:p>
            <a:pPr indent="0" marL="0">
              <a:buNone/>
            </a:pPr>
            <a:r>
              <a:rPr lang="en-US" sz="1700" b="1" dirty="0">
                <a:solidFill>
                  <a:srgbClr val="F0C898"/>
                </a:solidFill>
                <a:latin typeface="Calibri" pitchFamily="34" charset="0"/>
                <a:ea typeface="Calibri" pitchFamily="34" charset="-122"/>
                <a:cs typeface="Calibri" pitchFamily="34" charset="-120"/>
              </a:rPr>
              <a:t>A chat interface must answer in milliseconds. </a:t>
            </a:r>
            <a:pPr indent="0" marL="0">
              <a:buNone/>
            </a:pPr>
            <a:r>
              <a:rPr lang="en-US" sz="1700" dirty="0">
                <a:solidFill>
                  <a:srgbClr val="DCE5EC"/>
                </a:solidFill>
                <a:latin typeface="Calibri" pitchFamily="34" charset="0"/>
                <a:ea typeface="Calibri" pitchFamily="34" charset="-122"/>
                <a:cs typeface="Calibri" pitchFamily="34" charset="-120"/>
              </a:rPr>
              <a:t>A protein fold takes tens of seconds. An HPC job takes hours, and may sit in a queue first.</a:t>
            </a:r>
            <a:endParaRPr lang="en-US" sz="17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4552" cy="914400"/>
        </p:xfrm>
        <a:graphic>
          <a:graphicData uri="http://schemas.openxmlformats.org/drawingml/2006/table">
            <a:tbl>
              <a:tblPr/>
              <a:tblGrid>
                <a:gridCol w="3154680"/>
                <a:gridCol w="6035040"/>
                <a:gridCol w="2084832"/>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consequence</a:t>
                      </a:r>
                      <a:endParaRPr lang="en-US" sz="12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means in the code</a:t>
                      </a:r>
                      <a:endParaRPr lang="en-US" sz="12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457200">
                <a:tc>
                  <a:txBody>
                    <a:bodyPr/>
                    <a:lstStyle/>
                    <a:p>
                      <a:pPr indent="0" marL="0">
                        <a:buNone/>
                      </a:pPr>
                      <a:r>
                        <a:rPr lang="en-US" sz="1200" b="1" dirty="0">
                          <a:solidFill>
                            <a:srgbClr val="22303C"/>
                          </a:solidFill>
                          <a:latin typeface="Calibri" pitchFamily="34" charset="0"/>
                          <a:ea typeface="Calibri" pitchFamily="34" charset="-122"/>
                          <a:cs typeface="Calibri" pitchFamily="34" charset="-120"/>
                        </a:rPr>
                        <a:t>Tasks return futures, never results</a:t>
                      </a:r>
                      <a:endParaRPr lang="en-US" sz="12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Every interface's submit() places the work and returns a handle. Nothing in the graph awaits a task at submission time.</a:t>
                      </a:r>
                      <a:endParaRPr lang="en-US" sz="12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000" dirty="0">
                          <a:solidFill>
                            <a:srgbClr val="5E6B75"/>
                          </a:solidFill>
                          <a:latin typeface="Consolas" pitchFamily="34" charset="0"/>
                          <a:ea typeface="Consolas" pitchFamily="34" charset="-122"/>
                          <a:cs typeface="Consolas" pitchFamily="34" charset="-120"/>
                        </a:rPr>
                        <a:t>tasks/base.py:146</a:t>
                      </a:r>
                      <a:endParaRPr lang="en-US" sz="1000" dirty="0">
                        <a:latin typeface="Consolas" charset="0"/>
                        <a:ea typeface="Consolas" charset="0"/>
                        <a:cs typeface="Consolas"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530352">
                <a:tc>
                  <a:txBody>
                    <a:bodyPr/>
                    <a:lstStyle/>
                    <a:p>
                      <a:pPr indent="0" marL="0">
                        <a:buNone/>
                      </a:pPr>
                      <a:r>
                        <a:rPr lang="en-US" sz="1200" b="1" dirty="0">
                          <a:solidFill>
                            <a:srgbClr val="22303C"/>
                          </a:solidFill>
                          <a:latin typeface="Calibri" pitchFamily="34" charset="0"/>
                          <a:ea typeface="Calibri" pitchFamily="34" charset="-122"/>
                          <a:cs typeface="Calibri" pitchFamily="34" charset="-120"/>
                        </a:rPr>
                        <a:t>Task duration is not the interface's business</a:t>
                      </a:r>
                      <a:endParaRPr lang="en-US" sz="12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The same handle covers a 40 ms REST call and a queued batch job. Only the capability flags differ.</a:t>
                      </a:r>
                      <a:endParaRPr lang="en-US" sz="12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1000" dirty="0">
                          <a:solidFill>
                            <a:srgbClr val="5E6B75"/>
                          </a:solidFill>
                          <a:latin typeface="Consolas" pitchFamily="34" charset="0"/>
                          <a:ea typeface="Consolas" pitchFamily="34" charset="-122"/>
                          <a:cs typeface="Consolas" pitchFamily="34" charset="-120"/>
                        </a:rPr>
                        <a:t>tasks/base.py:62</a:t>
                      </a:r>
                      <a:endParaRPr lang="en-US" sz="1000" dirty="0">
                        <a:latin typeface="Consolas" charset="0"/>
                        <a:ea typeface="Consolas" charset="0"/>
                        <a:cs typeface="Consolas"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2303C"/>
                          </a:solidFill>
                          <a:latin typeface="Calibri" pitchFamily="34" charset="0"/>
                          <a:ea typeface="Calibri" pitchFamily="34" charset="-122"/>
                          <a:cs typeface="Calibri" pitchFamily="34" charset="-120"/>
                        </a:rPr>
                        <a:t>Status is a stream, not a return value</a:t>
                      </a:r>
                      <a:endParaRPr lang="en-US" sz="12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Nodes emit progress over LangGraph's custom channel; the manager fans task events onto the same SSE stream.</a:t>
                      </a:r>
                      <a:endParaRPr lang="en-US" sz="12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000" dirty="0">
                          <a:solidFill>
                            <a:srgbClr val="5E6B75"/>
                          </a:solidFill>
                          <a:latin typeface="Consolas" pitchFamily="34" charset="0"/>
                          <a:ea typeface="Consolas" pitchFamily="34" charset="-122"/>
                          <a:cs typeface="Consolas" pitchFamily="34" charset="-120"/>
                        </a:rPr>
                        <a:t>graph/deps.py · app.py:77</a:t>
                      </a:r>
                      <a:endParaRPr lang="en-US" sz="1000" dirty="0">
                        <a:latin typeface="Consolas" charset="0"/>
                        <a:ea typeface="Consolas" charset="0"/>
                        <a:cs typeface="Consolas"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530352">
                <a:tc>
                  <a:txBody>
                    <a:bodyPr/>
                    <a:lstStyle/>
                    <a:p>
                      <a:pPr indent="0" marL="0">
                        <a:buNone/>
                      </a:pPr>
                      <a:r>
                        <a:rPr lang="en-US" sz="1200" b="1" dirty="0">
                          <a:solidFill>
                            <a:srgbClr val="22303C"/>
                          </a:solidFill>
                          <a:latin typeface="Calibri" pitchFamily="34" charset="0"/>
                          <a:ea typeface="Calibri" pitchFamily="34" charset="-122"/>
                          <a:cs typeface="Calibri" pitchFamily="34" charset="-120"/>
                        </a:rPr>
                        <a:t>State holds references, not payloads</a:t>
                      </a:r>
                      <a:endParaRPr lang="en-US" sz="12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Coordinates go to a content-addressed blob and travel as a path, because every checkpoint is serialized.</a:t>
                      </a:r>
                      <a:endParaRPr lang="en-US" sz="12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1000" dirty="0">
                          <a:solidFill>
                            <a:srgbClr val="5E6B75"/>
                          </a:solidFill>
                          <a:latin typeface="Consolas" pitchFamily="34" charset="0"/>
                          <a:ea typeface="Consolas" pitchFamily="34" charset="-122"/>
                          <a:cs typeface="Consolas" pitchFamily="34" charset="-120"/>
                        </a:rPr>
                        <a:t>orchestrator.py:252</a:t>
                      </a:r>
                      <a:endParaRPr lang="en-US" sz="1000" dirty="0">
                        <a:latin typeface="Consolas" charset="0"/>
                        <a:ea typeface="Consolas" charset="0"/>
                        <a:cs typeface="Consolas"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2303C"/>
                          </a:solidFill>
                          <a:latin typeface="Calibri" pitchFamily="34" charset="0"/>
                          <a:ea typeface="Calibri" pitchFamily="34" charset="-122"/>
                          <a:cs typeface="Calibri" pitchFamily="34" charset="-120"/>
                        </a:rPr>
                        <a:t>Every layer has a floor</a:t>
                      </a:r>
                      <a:endParaRPr lang="en-US" sz="12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200" dirty="0">
                          <a:solidFill>
                            <a:srgbClr val="22303C"/>
                          </a:solidFill>
                          <a:latin typeface="Calibri" pitchFamily="34" charset="0"/>
                          <a:ea typeface="Calibri" pitchFamily="34" charset="-122"/>
                          <a:cs typeface="Calibri" pitchFamily="34" charset="-120"/>
                        </a:rPr>
                        <a:t>No key, no endpoint, no graph DB: each degrades to something that still answers, and says so.</a:t>
                      </a:r>
                      <a:endParaRPr lang="en-US" sz="1200" dirty="0">
                        <a:latin typeface="Calibri" charset="0"/>
                        <a:ea typeface="Calibri" charset="0"/>
                        <a:cs typeface="Calibri"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000" dirty="0">
                          <a:solidFill>
                            <a:srgbClr val="5E6B75"/>
                          </a:solidFill>
                          <a:latin typeface="Consolas" pitchFamily="34" charset="0"/>
                          <a:ea typeface="Consolas" pitchFamily="34" charset="-122"/>
                          <a:cs typeface="Consolas" pitchFamily="34" charset="-120"/>
                        </a:rPr>
                        <a:t>runtime.py · analyst.py:155</a:t>
                      </a:r>
                      <a:endParaRPr lang="en-US" sz="1000" dirty="0">
                        <a:latin typeface="Consolas" charset="0"/>
                        <a:ea typeface="Consolas" charset="0"/>
                        <a:cs typeface="Consolas" charset="0"/>
                      </a:endParaRPr>
                    </a:p>
                  </a:txBody>
                  <a:tcPr marL="73152" marR="73152" marT="73152" marB="73152"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bl>
          </a:graphicData>
        </a:graphic>
      </p:graphicFrame>
      <p:sp>
        <p:nvSpPr>
          <p:cNvPr id="7" name="Text 4"/>
          <p:cNvSpPr txBox="1"/>
          <p:nvPr/>
        </p:nvSpPr>
        <p:spPr>
          <a:xfrm>
            <a:off x="457200" y="5852160"/>
            <a:ext cx="11247120" cy="54864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Nothing below this slide is a free choice. </a:t>
            </a:r>
            <a:pPr indent="0" marL="0">
              <a:buNone/>
            </a:pPr>
            <a:r>
              <a:rPr lang="en-US" sz="1300" dirty="0">
                <a:solidFill>
                  <a:srgbClr val="22303C"/>
                </a:solidFill>
                <a:latin typeface="Calibri" pitchFamily="34" charset="0"/>
                <a:ea typeface="Calibri" pitchFamily="34" charset="-122"/>
                <a:cs typeface="Calibri" pitchFamily="34" charset="-120"/>
              </a:rPr>
              <a:t>If you drop the constraint — if the agent may block — most of the Task Interface layer stops paying for itself and you would call the tools directly.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THE LOOP · F1</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Five nodes, and the nodes do their own routing</a:t>
            </a:r>
            <a:endParaRPr lang="en-US" sz="2800" dirty="0"/>
          </a:p>
        </p:txBody>
      </p:sp>
      <p:sp>
        <p:nvSpPr>
          <p:cNvPr id="4" name="Shape 2"/>
          <p:cNvSpPr/>
          <p:nvPr/>
        </p:nvSpPr>
        <p:spPr>
          <a:xfrm>
            <a:off x="457200" y="3154680"/>
            <a:ext cx="1920240" cy="1188720"/>
          </a:xfrm>
          <a:prstGeom prst="roundRect">
            <a:avLst>
              <a:gd name="adj" fmla="val 6154"/>
            </a:avLst>
          </a:prstGeom>
          <a:solidFill>
            <a:srgbClr val="FFFFFF"/>
          </a:solidFill>
          <a:ln w="25400">
            <a:solidFill>
              <a:srgbClr val="3B4E8C"/>
            </a:solidFill>
            <a:prstDash val="solid"/>
          </a:ln>
        </p:spPr>
      </p:sp>
      <p:sp>
        <p:nvSpPr>
          <p:cNvPr id="5" name="Text 3"/>
          <p:cNvSpPr txBox="1"/>
          <p:nvPr/>
        </p:nvSpPr>
        <p:spPr>
          <a:xfrm>
            <a:off x="548640" y="3209544"/>
            <a:ext cx="1737360" cy="1078992"/>
          </a:xfrm>
          <a:prstGeom prst="rect">
            <a:avLst/>
          </a:prstGeom>
          <a:noFill/>
          <a:ln/>
        </p:spPr>
        <p:txBody>
          <a:bodyPr wrap="square" lIns="0" tIns="0" rIns="0" bIns="0" rtlCol="0" anchor="ctr"/>
          <a:lstStyle/>
          <a:p>
            <a:pPr algn="ctr" indent="0" marL="0">
              <a:buNone/>
            </a:pPr>
            <a:r>
              <a:rPr lang="en-US" sz="1250" b="1" dirty="0">
                <a:solidFill>
                  <a:srgbClr val="16222B"/>
                </a:solidFill>
                <a:latin typeface="Calibri" pitchFamily="34" charset="0"/>
                <a:ea typeface="Calibri" pitchFamily="34" charset="-122"/>
                <a:cs typeface="Calibri" pitchFamily="34" charset="-120"/>
              </a:rPr>
              <a:t>Coordinator</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classify · answer</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from state</a:t>
            </a:r>
            <a:endParaRPr lang="en-US" sz="1400" dirty="0"/>
          </a:p>
        </p:txBody>
      </p:sp>
      <p:sp>
        <p:nvSpPr>
          <p:cNvPr id="6" name="Shape 4"/>
          <p:cNvSpPr/>
          <p:nvPr/>
        </p:nvSpPr>
        <p:spPr>
          <a:xfrm>
            <a:off x="2852928" y="1783080"/>
            <a:ext cx="1920240" cy="1188720"/>
          </a:xfrm>
          <a:prstGeom prst="roundRect">
            <a:avLst>
              <a:gd name="adj" fmla="val 6154"/>
            </a:avLst>
          </a:prstGeom>
          <a:solidFill>
            <a:srgbClr val="FFFFFF"/>
          </a:solidFill>
          <a:ln w="25400">
            <a:solidFill>
              <a:srgbClr val="1E6470"/>
            </a:solidFill>
            <a:prstDash val="solid"/>
          </a:ln>
        </p:spPr>
      </p:sp>
      <p:sp>
        <p:nvSpPr>
          <p:cNvPr id="7" name="Text 5"/>
          <p:cNvSpPr txBox="1"/>
          <p:nvPr/>
        </p:nvSpPr>
        <p:spPr>
          <a:xfrm>
            <a:off x="2944368" y="1837944"/>
            <a:ext cx="1737360" cy="1078992"/>
          </a:xfrm>
          <a:prstGeom prst="rect">
            <a:avLst/>
          </a:prstGeom>
          <a:noFill/>
          <a:ln/>
        </p:spPr>
        <p:txBody>
          <a:bodyPr wrap="square" lIns="0" tIns="0" rIns="0" bIns="0" rtlCol="0" anchor="ctr"/>
          <a:lstStyle/>
          <a:p>
            <a:pPr algn="ctr" indent="0" marL="0">
              <a:buNone/>
            </a:pPr>
            <a:r>
              <a:rPr lang="en-US" sz="1250" b="1" dirty="0">
                <a:solidFill>
                  <a:srgbClr val="16222B"/>
                </a:solidFill>
                <a:latin typeface="Calibri" pitchFamily="34" charset="0"/>
                <a:ea typeface="Calibri" pitchFamily="34" charset="-122"/>
                <a:cs typeface="Calibri" pitchFamily="34" charset="-120"/>
              </a:rPr>
              <a:t>Design Initializer</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PDB · UniProt</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literature</a:t>
            </a:r>
            <a:endParaRPr lang="en-US" sz="1400" dirty="0"/>
          </a:p>
        </p:txBody>
      </p:sp>
      <p:sp>
        <p:nvSpPr>
          <p:cNvPr id="8" name="Shape 6"/>
          <p:cNvSpPr/>
          <p:nvPr/>
        </p:nvSpPr>
        <p:spPr>
          <a:xfrm>
            <a:off x="5248656" y="1783080"/>
            <a:ext cx="1920240" cy="1188720"/>
          </a:xfrm>
          <a:prstGeom prst="roundRect">
            <a:avLst>
              <a:gd name="adj" fmla="val 6154"/>
            </a:avLst>
          </a:prstGeom>
          <a:solidFill>
            <a:srgbClr val="FFFFFF"/>
          </a:solidFill>
          <a:ln w="25400">
            <a:solidFill>
              <a:srgbClr val="1E6470"/>
            </a:solidFill>
            <a:prstDash val="solid"/>
          </a:ln>
        </p:spPr>
      </p:sp>
      <p:sp>
        <p:nvSpPr>
          <p:cNvPr id="9" name="Text 7"/>
          <p:cNvSpPr txBox="1"/>
          <p:nvPr/>
        </p:nvSpPr>
        <p:spPr>
          <a:xfrm>
            <a:off x="5340096" y="1837944"/>
            <a:ext cx="1737360" cy="1078992"/>
          </a:xfrm>
          <a:prstGeom prst="rect">
            <a:avLst/>
          </a:prstGeom>
          <a:noFill/>
          <a:ln/>
        </p:spPr>
        <p:txBody>
          <a:bodyPr wrap="square" lIns="0" tIns="0" rIns="0" bIns="0" rtlCol="0" anchor="ctr"/>
          <a:lstStyle/>
          <a:p>
            <a:pPr algn="ctr" indent="0" marL="0">
              <a:buNone/>
            </a:pPr>
            <a:r>
              <a:rPr lang="en-US" sz="1250" b="1" dirty="0">
                <a:solidFill>
                  <a:srgbClr val="16222B"/>
                </a:solidFill>
                <a:latin typeface="Calibri" pitchFamily="34" charset="0"/>
                <a:ea typeface="Calibri" pitchFamily="34" charset="-122"/>
                <a:cs typeface="Calibri" pitchFamily="34" charset="-120"/>
              </a:rPr>
              <a:t>Redesign Orchestrator</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key_metric</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worklist</a:t>
            </a:r>
            <a:endParaRPr lang="en-US" sz="1400" dirty="0"/>
          </a:p>
        </p:txBody>
      </p:sp>
      <p:sp>
        <p:nvSpPr>
          <p:cNvPr id="10" name="Shape 8"/>
          <p:cNvSpPr/>
          <p:nvPr/>
        </p:nvSpPr>
        <p:spPr>
          <a:xfrm>
            <a:off x="7644384" y="1783080"/>
            <a:ext cx="1920240" cy="1188720"/>
          </a:xfrm>
          <a:prstGeom prst="roundRect">
            <a:avLst>
              <a:gd name="adj" fmla="val 6154"/>
            </a:avLst>
          </a:prstGeom>
          <a:solidFill>
            <a:srgbClr val="FFFFFF"/>
          </a:solidFill>
          <a:ln w="25400">
            <a:solidFill>
              <a:srgbClr val="2E7D5B"/>
            </a:solidFill>
            <a:prstDash val="solid"/>
          </a:ln>
        </p:spPr>
      </p:sp>
      <p:sp>
        <p:nvSpPr>
          <p:cNvPr id="11" name="Text 9"/>
          <p:cNvSpPr txBox="1"/>
          <p:nvPr/>
        </p:nvSpPr>
        <p:spPr>
          <a:xfrm>
            <a:off x="7735824" y="1837944"/>
            <a:ext cx="1737360" cy="1078992"/>
          </a:xfrm>
          <a:prstGeom prst="rect">
            <a:avLst/>
          </a:prstGeom>
          <a:noFill/>
          <a:ln/>
        </p:spPr>
        <p:txBody>
          <a:bodyPr wrap="square" lIns="0" tIns="0" rIns="0" bIns="0" rtlCol="0" anchor="ctr"/>
          <a:lstStyle/>
          <a:p>
            <a:pPr algn="ctr" indent="0" marL="0">
              <a:buNone/>
            </a:pPr>
            <a:r>
              <a:rPr lang="en-US" sz="1250" b="1" dirty="0">
                <a:solidFill>
                  <a:srgbClr val="16222B"/>
                </a:solidFill>
                <a:latin typeface="Calibri" pitchFamily="34" charset="0"/>
                <a:ea typeface="Calibri" pitchFamily="34" charset="-122"/>
                <a:cs typeface="Calibri" pitchFamily="34" charset="-120"/>
              </a:rPr>
              <a:t>Analyst</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score · persist</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rank · visualize</a:t>
            </a:r>
            <a:endParaRPr lang="en-US" sz="1400" dirty="0"/>
          </a:p>
        </p:txBody>
      </p:sp>
      <p:sp>
        <p:nvSpPr>
          <p:cNvPr id="12" name="Shape 10"/>
          <p:cNvSpPr/>
          <p:nvPr/>
        </p:nvSpPr>
        <p:spPr>
          <a:xfrm>
            <a:off x="10040112" y="1783080"/>
            <a:ext cx="1920240" cy="1188720"/>
          </a:xfrm>
          <a:prstGeom prst="roundRect">
            <a:avLst>
              <a:gd name="adj" fmla="val 6154"/>
            </a:avLst>
          </a:prstGeom>
          <a:solidFill>
            <a:srgbClr val="FFFFFF"/>
          </a:solidFill>
          <a:ln w="25400">
            <a:solidFill>
              <a:srgbClr val="7A4A8C"/>
            </a:solidFill>
            <a:prstDash val="solid"/>
          </a:ln>
        </p:spPr>
      </p:sp>
      <p:sp>
        <p:nvSpPr>
          <p:cNvPr id="13" name="Text 11"/>
          <p:cNvSpPr txBox="1"/>
          <p:nvPr/>
        </p:nvSpPr>
        <p:spPr>
          <a:xfrm>
            <a:off x="10131552" y="1837944"/>
            <a:ext cx="1737360" cy="1078992"/>
          </a:xfrm>
          <a:prstGeom prst="rect">
            <a:avLst/>
          </a:prstGeom>
          <a:noFill/>
          <a:ln/>
        </p:spPr>
        <p:txBody>
          <a:bodyPr wrap="square" lIns="0" tIns="0" rIns="0" bIns="0" rtlCol="0" anchor="ctr"/>
          <a:lstStyle/>
          <a:p>
            <a:pPr algn="ctr" indent="0" marL="0">
              <a:buNone/>
            </a:pPr>
            <a:r>
              <a:rPr lang="en-US" sz="1250" b="1" dirty="0">
                <a:solidFill>
                  <a:srgbClr val="16222B"/>
                </a:solidFill>
                <a:latin typeface="Calibri" pitchFamily="34" charset="0"/>
                <a:ea typeface="Calibri" pitchFamily="34" charset="-122"/>
                <a:cs typeface="Calibri" pitchFamily="34" charset="-120"/>
              </a:rPr>
              <a:t>Interpreter</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summarize</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prior art</a:t>
            </a:r>
            <a:endParaRPr lang="en-US" sz="1400" dirty="0"/>
          </a:p>
        </p:txBody>
      </p:sp>
      <p:sp>
        <p:nvSpPr>
          <p:cNvPr id="14" name="Shape 12"/>
          <p:cNvSpPr/>
          <p:nvPr/>
        </p:nvSpPr>
        <p:spPr>
          <a:xfrm flipV="1">
            <a:off x="2377440" y="2697480"/>
            <a:ext cx="475488" cy="1051560"/>
          </a:xfrm>
          <a:prstGeom prst="line">
            <a:avLst/>
          </a:prstGeom>
          <a:noFill/>
          <a:ln w="19050">
            <a:solidFill>
              <a:srgbClr val="3B4E8C"/>
            </a:solidFill>
            <a:prstDash val="solid"/>
            <a:tailEnd type="triangle"/>
          </a:ln>
        </p:spPr>
      </p:sp>
      <p:sp>
        <p:nvSpPr>
          <p:cNvPr id="15" name="Shape 13"/>
          <p:cNvSpPr/>
          <p:nvPr/>
        </p:nvSpPr>
        <p:spPr>
          <a:xfrm>
            <a:off x="4773168" y="2377440"/>
            <a:ext cx="475488" cy="91"/>
          </a:xfrm>
          <a:prstGeom prst="line">
            <a:avLst/>
          </a:prstGeom>
          <a:noFill/>
          <a:ln w="19050">
            <a:solidFill>
              <a:srgbClr val="5E6B75"/>
            </a:solidFill>
            <a:prstDash val="solid"/>
            <a:tailEnd type="triangle"/>
          </a:ln>
        </p:spPr>
      </p:sp>
      <p:sp>
        <p:nvSpPr>
          <p:cNvPr id="16" name="Shape 14"/>
          <p:cNvSpPr/>
          <p:nvPr/>
        </p:nvSpPr>
        <p:spPr>
          <a:xfrm>
            <a:off x="7168896" y="2377440"/>
            <a:ext cx="475488" cy="91"/>
          </a:xfrm>
          <a:prstGeom prst="line">
            <a:avLst/>
          </a:prstGeom>
          <a:noFill/>
          <a:ln w="19050">
            <a:solidFill>
              <a:srgbClr val="5E6B75"/>
            </a:solidFill>
            <a:prstDash val="solid"/>
            <a:tailEnd type="triangle"/>
          </a:ln>
        </p:spPr>
      </p:sp>
      <p:sp>
        <p:nvSpPr>
          <p:cNvPr id="17" name="Shape 15"/>
          <p:cNvSpPr/>
          <p:nvPr/>
        </p:nvSpPr>
        <p:spPr>
          <a:xfrm>
            <a:off x="9564624" y="2377440"/>
            <a:ext cx="475488" cy="91"/>
          </a:xfrm>
          <a:prstGeom prst="line">
            <a:avLst/>
          </a:prstGeom>
          <a:noFill/>
          <a:ln w="19050">
            <a:solidFill>
              <a:srgbClr val="5E6B75"/>
            </a:solidFill>
            <a:prstDash val="solid"/>
            <a:tailEnd type="triangle"/>
          </a:ln>
        </p:spPr>
      </p:sp>
      <p:sp>
        <p:nvSpPr>
          <p:cNvPr id="18" name="Shape 16"/>
          <p:cNvSpPr/>
          <p:nvPr/>
        </p:nvSpPr>
        <p:spPr>
          <a:xfrm>
            <a:off x="8604504" y="2971800"/>
            <a:ext cx="91" cy="384048"/>
          </a:xfrm>
          <a:prstGeom prst="line">
            <a:avLst/>
          </a:prstGeom>
          <a:noFill/>
          <a:ln w="25400">
            <a:solidFill>
              <a:srgbClr val="C0392B"/>
            </a:solidFill>
            <a:prstDash val="solid"/>
          </a:ln>
        </p:spPr>
      </p:sp>
      <p:sp>
        <p:nvSpPr>
          <p:cNvPr id="19" name="Shape 17"/>
          <p:cNvSpPr/>
          <p:nvPr/>
        </p:nvSpPr>
        <p:spPr>
          <a:xfrm flipH="1">
            <a:off x="6208776" y="3355848"/>
            <a:ext cx="2395728" cy="91"/>
          </a:xfrm>
          <a:prstGeom prst="line">
            <a:avLst/>
          </a:prstGeom>
          <a:noFill/>
          <a:ln w="25400">
            <a:solidFill>
              <a:srgbClr val="C0392B"/>
            </a:solidFill>
            <a:prstDash val="solid"/>
          </a:ln>
        </p:spPr>
      </p:sp>
      <p:sp>
        <p:nvSpPr>
          <p:cNvPr id="20" name="Shape 18"/>
          <p:cNvSpPr/>
          <p:nvPr/>
        </p:nvSpPr>
        <p:spPr>
          <a:xfrm flipV="1">
            <a:off x="6208776" y="2971800"/>
            <a:ext cx="91" cy="384048"/>
          </a:xfrm>
          <a:prstGeom prst="line">
            <a:avLst/>
          </a:prstGeom>
          <a:noFill/>
          <a:ln w="25400">
            <a:solidFill>
              <a:srgbClr val="C0392B"/>
            </a:solidFill>
            <a:prstDash val="solid"/>
            <a:tailEnd type="triangle"/>
          </a:ln>
        </p:spPr>
      </p:sp>
      <p:sp>
        <p:nvSpPr>
          <p:cNvPr id="21" name="Text 19"/>
          <p:cNvSpPr txBox="1"/>
          <p:nvPr/>
        </p:nvSpPr>
        <p:spPr>
          <a:xfrm>
            <a:off x="5157216" y="3392424"/>
            <a:ext cx="4498848" cy="237744"/>
          </a:xfrm>
          <a:prstGeom prst="rect">
            <a:avLst/>
          </a:prstGeom>
          <a:noFill/>
          <a:ln/>
        </p:spPr>
        <p:txBody>
          <a:bodyPr wrap="square" lIns="0" tIns="0" rIns="0" bIns="0" rtlCol="0" anchor="ctr"/>
          <a:lstStyle/>
          <a:p>
            <a:pPr algn="ctr" indent="0" marL="0">
              <a:buNone/>
            </a:pPr>
            <a:r>
              <a:rPr lang="en-US" sz="1050" b="1" dirty="0">
                <a:solidFill>
                  <a:srgbClr val="C0392B"/>
                </a:solidFill>
                <a:latin typeface="Calibri" pitchFamily="34" charset="0"/>
                <a:ea typeface="Calibri" pitchFamily="34" charset="-122"/>
                <a:cs typeface="Calibri" pitchFamily="34" charset="-120"/>
              </a:rPr>
              <a:t>improved  AND  round &lt; max_rounds</a:t>
            </a:r>
            <a:endParaRPr lang="en-US" sz="1050" dirty="0"/>
          </a:p>
        </p:txBody>
      </p:sp>
      <p:sp>
        <p:nvSpPr>
          <p:cNvPr id="22" name="Shape 20"/>
          <p:cNvSpPr/>
          <p:nvPr/>
        </p:nvSpPr>
        <p:spPr>
          <a:xfrm>
            <a:off x="1417320" y="4343400"/>
            <a:ext cx="91" cy="91440"/>
          </a:xfrm>
          <a:prstGeom prst="line">
            <a:avLst/>
          </a:prstGeom>
          <a:noFill/>
          <a:ln w="19050">
            <a:solidFill>
              <a:srgbClr val="3B4E8C"/>
            </a:solidFill>
            <a:prstDash val="solid"/>
          </a:ln>
        </p:spPr>
      </p:sp>
      <p:sp>
        <p:nvSpPr>
          <p:cNvPr id="23" name="Shape 21"/>
          <p:cNvSpPr/>
          <p:nvPr/>
        </p:nvSpPr>
        <p:spPr>
          <a:xfrm>
            <a:off x="1417320" y="4041648"/>
            <a:ext cx="4471416" cy="91"/>
          </a:xfrm>
          <a:prstGeom prst="line">
            <a:avLst/>
          </a:prstGeom>
          <a:noFill/>
          <a:ln w="19050">
            <a:solidFill>
              <a:srgbClr val="3B4E8C"/>
            </a:solidFill>
            <a:prstDash val="solid"/>
          </a:ln>
        </p:spPr>
      </p:sp>
      <p:sp>
        <p:nvSpPr>
          <p:cNvPr id="24" name="Shape 22"/>
          <p:cNvSpPr/>
          <p:nvPr/>
        </p:nvSpPr>
        <p:spPr>
          <a:xfrm flipV="1">
            <a:off x="5888736" y="2990088"/>
            <a:ext cx="91" cy="1051560"/>
          </a:xfrm>
          <a:prstGeom prst="line">
            <a:avLst/>
          </a:prstGeom>
          <a:noFill/>
          <a:ln w="19050">
            <a:solidFill>
              <a:srgbClr val="3B4E8C"/>
            </a:solidFill>
            <a:prstDash val="solid"/>
            <a:tailEnd type="triangle"/>
          </a:ln>
        </p:spPr>
      </p:sp>
      <p:sp>
        <p:nvSpPr>
          <p:cNvPr id="25" name="Text 23"/>
          <p:cNvSpPr txBox="1"/>
          <p:nvPr/>
        </p:nvSpPr>
        <p:spPr>
          <a:xfrm>
            <a:off x="2606040" y="3767328"/>
            <a:ext cx="4023360" cy="237744"/>
          </a:xfrm>
          <a:prstGeom prst="rect">
            <a:avLst/>
          </a:prstGeom>
          <a:noFill/>
          <a:ln/>
        </p:spPr>
        <p:txBody>
          <a:bodyPr wrap="square" lIns="0" tIns="0" rIns="0" bIns="0" rtlCol="0" anchor="ctr"/>
          <a:lstStyle/>
          <a:p>
            <a:pPr algn="l" indent="0" marL="0">
              <a:buNone/>
            </a:pPr>
            <a:r>
              <a:rPr lang="en-US" sz="1050" dirty="0">
                <a:solidFill>
                  <a:srgbClr val="3B4E8C"/>
                </a:solidFill>
                <a:latin typeface="Calibri" pitchFamily="34" charset="0"/>
                <a:ea typeface="Calibri" pitchFamily="34" charset="-122"/>
                <a:cs typeface="Calibri" pitchFamily="34" charset="-120"/>
              </a:rPr>
              <a:t>a reference already loaded skips the initializer</a:t>
            </a:r>
            <a:endParaRPr lang="en-US" sz="1050" dirty="0"/>
          </a:p>
        </p:txBody>
      </p:sp>
      <p:sp>
        <p:nvSpPr>
          <p:cNvPr id="26" name="Shape 24"/>
          <p:cNvSpPr/>
          <p:nvPr/>
        </p:nvSpPr>
        <p:spPr>
          <a:xfrm>
            <a:off x="10725912" y="4233672"/>
            <a:ext cx="1234440" cy="402336"/>
          </a:xfrm>
          <a:prstGeom prst="roundRect">
            <a:avLst>
              <a:gd name="adj" fmla="val 18182"/>
            </a:avLst>
          </a:prstGeom>
          <a:solidFill>
            <a:srgbClr val="EEF2F5"/>
          </a:solidFill>
          <a:ln w="19050">
            <a:solidFill>
              <a:srgbClr val="5E6B75"/>
            </a:solidFill>
            <a:prstDash val="solid"/>
          </a:ln>
        </p:spPr>
      </p:sp>
      <p:sp>
        <p:nvSpPr>
          <p:cNvPr id="27" name="Text 25"/>
          <p:cNvSpPr txBox="1"/>
          <p:nvPr/>
        </p:nvSpPr>
        <p:spPr>
          <a:xfrm>
            <a:off x="10817352" y="4288536"/>
            <a:ext cx="1051560" cy="292608"/>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END</a:t>
            </a:r>
            <a:endParaRPr lang="en-US" sz="1400" dirty="0"/>
          </a:p>
        </p:txBody>
      </p:sp>
      <p:sp>
        <p:nvSpPr>
          <p:cNvPr id="28" name="Shape 26"/>
          <p:cNvSpPr/>
          <p:nvPr/>
        </p:nvSpPr>
        <p:spPr>
          <a:xfrm>
            <a:off x="11000232" y="2971800"/>
            <a:ext cx="91" cy="1261872"/>
          </a:xfrm>
          <a:prstGeom prst="line">
            <a:avLst/>
          </a:prstGeom>
          <a:noFill/>
          <a:ln w="19050">
            <a:solidFill>
              <a:srgbClr val="7A4A8C"/>
            </a:solidFill>
            <a:prstDash val="solid"/>
            <a:tailEnd type="triangle"/>
          </a:ln>
        </p:spPr>
      </p:sp>
      <p:sp>
        <p:nvSpPr>
          <p:cNvPr id="29" name="Shape 27"/>
          <p:cNvSpPr/>
          <p:nvPr/>
        </p:nvSpPr>
        <p:spPr>
          <a:xfrm>
            <a:off x="1417320" y="4434840"/>
            <a:ext cx="9290304" cy="91"/>
          </a:xfrm>
          <a:prstGeom prst="line">
            <a:avLst/>
          </a:prstGeom>
          <a:noFill/>
          <a:ln w="19050">
            <a:solidFill>
              <a:srgbClr val="3B4E8C"/>
            </a:solidFill>
            <a:prstDash val="solid"/>
            <a:tailEnd type="triangle"/>
          </a:ln>
        </p:spPr>
      </p:sp>
      <p:sp>
        <p:nvSpPr>
          <p:cNvPr id="30" name="Text 28"/>
          <p:cNvSpPr txBox="1"/>
          <p:nvPr/>
        </p:nvSpPr>
        <p:spPr>
          <a:xfrm>
            <a:off x="2606040" y="4160520"/>
            <a:ext cx="4206240" cy="237744"/>
          </a:xfrm>
          <a:prstGeom prst="rect">
            <a:avLst/>
          </a:prstGeom>
          <a:noFill/>
          <a:ln/>
        </p:spPr>
        <p:txBody>
          <a:bodyPr wrap="square" lIns="0" tIns="0" rIns="0" bIns="0" rtlCol="0" anchor="ctr"/>
          <a:lstStyle/>
          <a:p>
            <a:pPr algn="l" indent="0" marL="0">
              <a:buNone/>
            </a:pPr>
            <a:r>
              <a:rPr lang="en-US" sz="1050" dirty="0">
                <a:solidFill>
                  <a:srgbClr val="3B4E8C"/>
                </a:solidFill>
                <a:latin typeface="Calibri" pitchFamily="34" charset="0"/>
                <a:ea typeface="Calibri" pitchFamily="34" charset="-122"/>
                <a:cs typeface="Calibri" pitchFamily="34" charset="-120"/>
              </a:rPr>
              <a:t>plain chat, or a question state can already answer</a:t>
            </a:r>
            <a:endParaRPr lang="en-US" sz="1050" dirty="0"/>
          </a:p>
        </p:txBody>
      </p:sp>
      <p:sp>
        <p:nvSpPr>
          <p:cNvPr id="31" name="Shape 29"/>
          <p:cNvSpPr/>
          <p:nvPr/>
        </p:nvSpPr>
        <p:spPr>
          <a:xfrm>
            <a:off x="457200" y="5029200"/>
            <a:ext cx="6766560" cy="1325880"/>
          </a:xfrm>
          <a:prstGeom prst="rect">
            <a:avLst/>
          </a:prstGeom>
          <a:solidFill>
            <a:srgbClr val="16222B"/>
          </a:solidFill>
          <a:ln w="12700">
            <a:solidFill>
              <a:srgbClr val="16222B"/>
            </a:solidFill>
            <a:prstDash val="solid"/>
          </a:ln>
        </p:spPr>
      </p:sp>
      <p:sp>
        <p:nvSpPr>
          <p:cNvPr id="32" name="Text 30"/>
          <p:cNvSpPr txBox="1"/>
          <p:nvPr/>
        </p:nvSpPr>
        <p:spPr>
          <a:xfrm>
            <a:off x="566928" y="5129784"/>
            <a:ext cx="6547104" cy="1124712"/>
          </a:xfrm>
          <a:prstGeom prst="rect">
            <a:avLst/>
          </a:prstGeom>
          <a:noFill/>
          <a:ln/>
        </p:spPr>
        <p:txBody>
          <a:bodyPr wrap="square" lIns="0" tIns="0" rIns="0" bIns="0" rtlCol="0" anchor="t"/>
          <a:lstStyle/>
          <a:p>
            <a:pPr indent="0" marL="0">
              <a:lnSpc>
                <a:spcPts val="984"/>
              </a:lnSpc>
              <a:buNone/>
            </a:pPr>
            <a:r>
              <a:rPr lang="en-US" sz="787" dirty="0">
                <a:solidFill>
                  <a:srgbClr val="DCE5EC"/>
                </a:solidFill>
                <a:latin typeface="Consolas" pitchFamily="34" charset="0"/>
                <a:ea typeface="Consolas" pitchFamily="34" charset="-122"/>
                <a:cs typeface="Consolas" pitchFamily="34" charset="-120"/>
              </a:rPr>
              <a:t>destinations = {</a:t>
            </a:r>
            <a:endParaRPr lang="en-US" sz="787" dirty="0"/>
          </a:p>
          <a:p>
            <a:pPr indent="0" marL="0">
              <a:lnSpc>
                <a:spcPts val="984"/>
              </a:lnSpc>
              <a:buNone/>
            </a:pPr>
            <a:r>
              <a:rPr lang="en-US" sz="787" dirty="0">
                <a:solidFill>
                  <a:srgbClr val="DCE5EC"/>
                </a:solidFill>
                <a:latin typeface="Consolas" pitchFamily="34" charset="0"/>
                <a:ea typeface="Consolas" pitchFamily="34" charset="-122"/>
                <a:cs typeface="Consolas" pitchFamily="34" charset="-120"/>
              </a:rPr>
              <a:t>  "coordinator":  ("initializer", "orchestrator",</a:t>
            </a:r>
            <a:endParaRPr lang="en-US" sz="787" dirty="0"/>
          </a:p>
          <a:p>
            <a:pPr indent="0" marL="0">
              <a:lnSpc>
                <a:spcPts val="984"/>
              </a:lnSpc>
              <a:buNone/>
            </a:pPr>
            <a:r>
              <a:rPr lang="en-US" sz="787" dirty="0">
                <a:solidFill>
                  <a:srgbClr val="DCE5EC"/>
                </a:solidFill>
                <a:latin typeface="Consolas" pitchFamily="34" charset="0"/>
                <a:ea typeface="Consolas" pitchFamily="34" charset="-122"/>
                <a:cs typeface="Consolas" pitchFamily="34" charset="-120"/>
              </a:rPr>
              <a:t>                   "analyst", "interpreter", END),</a:t>
            </a:r>
            <a:endParaRPr lang="en-US" sz="787" dirty="0"/>
          </a:p>
          <a:p>
            <a:pPr indent="0" marL="0">
              <a:lnSpc>
                <a:spcPts val="984"/>
              </a:lnSpc>
              <a:buNone/>
            </a:pPr>
            <a:r>
              <a:rPr lang="en-US" sz="787" dirty="0">
                <a:solidFill>
                  <a:srgbClr val="DCE5EC"/>
                </a:solidFill>
                <a:latin typeface="Consolas" pitchFamily="34" charset="0"/>
                <a:ea typeface="Consolas" pitchFamily="34" charset="-122"/>
                <a:cs typeface="Consolas" pitchFamily="34" charset="-120"/>
              </a:rPr>
              <a:t>  "initializer":  ("orchestrator", END),</a:t>
            </a:r>
            <a:endParaRPr lang="en-US" sz="787" dirty="0"/>
          </a:p>
          <a:p>
            <a:pPr indent="0" marL="0">
              <a:lnSpc>
                <a:spcPts val="984"/>
              </a:lnSpc>
              <a:buNone/>
            </a:pPr>
            <a:r>
              <a:rPr lang="en-US" sz="787" dirty="0">
                <a:solidFill>
                  <a:srgbClr val="DCE5EC"/>
                </a:solidFill>
                <a:latin typeface="Consolas" pitchFamily="34" charset="0"/>
                <a:ea typeface="Consolas" pitchFamily="34" charset="-122"/>
                <a:cs typeface="Consolas" pitchFamily="34" charset="-120"/>
              </a:rPr>
              <a:t>  "orchestrator": ("analyst", "interpreter", END),</a:t>
            </a:r>
            <a:endParaRPr lang="en-US" sz="787" dirty="0"/>
          </a:p>
          <a:p>
            <a:pPr indent="0" marL="0">
              <a:lnSpc>
                <a:spcPts val="984"/>
              </a:lnSpc>
              <a:buNone/>
            </a:pPr>
            <a:r>
              <a:rPr lang="en-US" sz="787" dirty="0">
                <a:solidFill>
                  <a:srgbClr val="DCE5EC"/>
                </a:solidFill>
                <a:latin typeface="Consolas" pitchFamily="34" charset="0"/>
                <a:ea typeface="Consolas" pitchFamily="34" charset="-122"/>
                <a:cs typeface="Consolas" pitchFamily="34" charset="-120"/>
              </a:rPr>
              <a:t>  "analyst":      ("orchestrator", "interpreter", END),</a:t>
            </a:r>
            <a:endParaRPr lang="en-US" sz="787" dirty="0"/>
          </a:p>
          <a:p>
            <a:pPr indent="0" marL="0">
              <a:lnSpc>
                <a:spcPts val="984"/>
              </a:lnSpc>
              <a:buNone/>
            </a:pPr>
            <a:r>
              <a:rPr lang="en-US" sz="787" dirty="0">
                <a:solidFill>
                  <a:srgbClr val="DCE5EC"/>
                </a:solidFill>
                <a:latin typeface="Consolas" pitchFamily="34" charset="0"/>
                <a:ea typeface="Consolas" pitchFamily="34" charset="-122"/>
                <a:cs typeface="Consolas" pitchFamily="34" charset="-120"/>
              </a:rPr>
              <a:t>  "interpreter":  (END,),</a:t>
            </a:r>
            <a:endParaRPr lang="en-US" sz="787" dirty="0"/>
          </a:p>
          <a:p>
            <a:pPr indent="0" marL="0">
              <a:lnSpc>
                <a:spcPts val="984"/>
              </a:lnSpc>
              <a:buNone/>
            </a:pPr>
            <a:r>
              <a:rPr lang="en-US" sz="787" dirty="0">
                <a:solidFill>
                  <a:srgbClr val="DCE5EC"/>
                </a:solidFill>
                <a:latin typeface="Consolas" pitchFamily="34" charset="0"/>
                <a:ea typeface="Consolas" pitchFamily="34" charset="-122"/>
                <a:cs typeface="Consolas" pitchFamily="34" charset="-120"/>
              </a:rPr>
              <a:t>}</a:t>
            </a:r>
            <a:endParaRPr lang="en-US" sz="787" dirty="0"/>
          </a:p>
          <a:p>
            <a:pPr indent="0" marL="0">
              <a:lnSpc>
                <a:spcPts val="984"/>
              </a:lnSpc>
              <a:buNone/>
            </a:pPr>
            <a:r>
              <a:rPr lang="en-US" sz="787" dirty="0">
                <a:solidFill>
                  <a:srgbClr val="DCE5EC"/>
                </a:solidFill>
                <a:latin typeface="Consolas" pitchFamily="34" charset="0"/>
                <a:ea typeface="Consolas" pitchFamily="34" charset="-122"/>
                <a:cs typeface="Consolas" pitchFamily="34" charset="-120"/>
              </a:rPr>
              <a:t>builder.add_edge(START, "coordinator")   # the only static edge</a:t>
            </a:r>
            <a:endParaRPr lang="en-US" sz="787" dirty="0"/>
          </a:p>
        </p:txBody>
      </p:sp>
      <p:sp>
        <p:nvSpPr>
          <p:cNvPr id="33" name="Text 31"/>
          <p:cNvSpPr txBox="1"/>
          <p:nvPr/>
        </p:nvSpPr>
        <p:spPr>
          <a:xfrm>
            <a:off x="457200" y="6382512"/>
            <a:ext cx="6766560"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graph/build.py:99–114  ·  VERBATIM</a:t>
            </a:r>
            <a:endParaRPr lang="en-US" sz="850" dirty="0"/>
          </a:p>
        </p:txBody>
      </p:sp>
      <p:sp>
        <p:nvSpPr>
          <p:cNvPr id="34" name="Shape 32"/>
          <p:cNvSpPr/>
          <p:nvPr/>
        </p:nvSpPr>
        <p:spPr>
          <a:xfrm>
            <a:off x="7498080" y="5029200"/>
            <a:ext cx="4690872" cy="1325880"/>
          </a:xfrm>
          <a:prstGeom prst="rect">
            <a:avLst/>
          </a:prstGeom>
          <a:solidFill>
            <a:srgbClr val="E9EDF7"/>
          </a:solidFill>
          <a:ln w="12700">
            <a:solidFill>
              <a:srgbClr val="E9EDF7"/>
            </a:solidFill>
            <a:prstDash val="solid"/>
          </a:ln>
        </p:spPr>
      </p:sp>
      <p:sp>
        <p:nvSpPr>
          <p:cNvPr id="35" name="Text 33"/>
          <p:cNvSpPr txBox="1"/>
          <p:nvPr/>
        </p:nvSpPr>
        <p:spPr>
          <a:xfrm>
            <a:off x="7635240" y="5120640"/>
            <a:ext cx="4416552" cy="274320"/>
          </a:xfrm>
          <a:prstGeom prst="rect">
            <a:avLst/>
          </a:prstGeom>
          <a:noFill/>
          <a:ln/>
        </p:spPr>
        <p:txBody>
          <a:bodyPr wrap="square" lIns="0" tIns="0" rIns="0" bIns="0" rtlCol="0" anchor="t"/>
          <a:lstStyle/>
          <a:p>
            <a:pPr indent="0" marL="0">
              <a:buNone/>
            </a:pPr>
            <a:r>
              <a:rPr lang="en-US" sz="1300" b="1" dirty="0">
                <a:solidFill>
                  <a:srgbClr val="3B4E8C"/>
                </a:solidFill>
                <a:latin typeface="Calibri" pitchFamily="34" charset="0"/>
                <a:ea typeface="Calibri" pitchFamily="34" charset="-122"/>
                <a:cs typeface="Calibri" pitchFamily="34" charset="-120"/>
              </a:rPr>
              <a:t>Why no conditional edges</a:t>
            </a:r>
            <a:endParaRPr lang="en-US" sz="1300" dirty="0"/>
          </a:p>
        </p:txBody>
      </p:sp>
      <p:sp>
        <p:nvSpPr>
          <p:cNvPr id="36" name="Text 34"/>
          <p:cNvSpPr txBox="1"/>
          <p:nvPr/>
        </p:nvSpPr>
        <p:spPr>
          <a:xfrm>
            <a:off x="7635240" y="5440680"/>
            <a:ext cx="4416552" cy="8229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A node returns Command(goto=…, update=…): the decision and the state write are one atomic return.</a:t>
            </a:r>
            <a:endParaRPr lang="en-US" sz="1100" dirty="0"/>
          </a:p>
          <a:p>
            <a:pPr marL="342900" indent="-342900">
              <a:spcAft>
                <a:spcPts val="400"/>
              </a:spcAft>
              <a:buSzPct val="100000"/>
              <a:buChar char="•"/>
            </a:pPr>
            <a:r>
              <a:rPr lang="en-US" sz="1100" dirty="0">
                <a:solidFill>
                  <a:srgbClr val="22303C"/>
                </a:solidFill>
                <a:latin typeface="Calibri" pitchFamily="34" charset="0"/>
                <a:ea typeface="Calibri" pitchFamily="34" charset="-122"/>
                <a:cs typeface="Calibri" pitchFamily="34" charset="-120"/>
              </a:rPr>
              <a:t>destinations= is a declaration for validation and the drawn graph, not control flow.</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ARCHITECTURE · F2</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Architecture, and where the RADICAL stack sits</a:t>
            </a:r>
            <a:endParaRPr lang="en-US" sz="2800" dirty="0"/>
          </a:p>
        </p:txBody>
      </p:sp>
      <p:sp>
        <p:nvSpPr>
          <p:cNvPr id="4" name="Shape 2"/>
          <p:cNvSpPr/>
          <p:nvPr/>
        </p:nvSpPr>
        <p:spPr>
          <a:xfrm>
            <a:off x="457200" y="1371600"/>
            <a:ext cx="1097280" cy="475488"/>
          </a:xfrm>
          <a:prstGeom prst="rect">
            <a:avLst/>
          </a:prstGeom>
          <a:solidFill>
            <a:srgbClr val="7A4A8C"/>
          </a:solidFill>
          <a:ln w="12700">
            <a:solidFill>
              <a:srgbClr val="7A4A8C"/>
            </a:solidFill>
            <a:prstDash val="solid"/>
          </a:ln>
        </p:spPr>
      </p:sp>
      <p:sp>
        <p:nvSpPr>
          <p:cNvPr id="5" name="Text 3"/>
          <p:cNvSpPr txBox="1"/>
          <p:nvPr/>
        </p:nvSpPr>
        <p:spPr>
          <a:xfrm>
            <a:off x="457200" y="1371600"/>
            <a:ext cx="1097280" cy="47548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BROWSER</a:t>
            </a:r>
            <a:endParaRPr lang="en-US" sz="950" dirty="0"/>
          </a:p>
        </p:txBody>
      </p:sp>
      <p:sp>
        <p:nvSpPr>
          <p:cNvPr id="6" name="Shape 4"/>
          <p:cNvSpPr/>
          <p:nvPr/>
        </p:nvSpPr>
        <p:spPr>
          <a:xfrm>
            <a:off x="457200" y="1920240"/>
            <a:ext cx="1097280" cy="475488"/>
          </a:xfrm>
          <a:prstGeom prst="rect">
            <a:avLst/>
          </a:prstGeom>
          <a:solidFill>
            <a:srgbClr val="7A4A8C"/>
          </a:solidFill>
          <a:ln w="12700">
            <a:solidFill>
              <a:srgbClr val="7A4A8C"/>
            </a:solidFill>
            <a:prstDash val="solid"/>
          </a:ln>
        </p:spPr>
      </p:sp>
      <p:sp>
        <p:nvSpPr>
          <p:cNvPr id="7" name="Text 5"/>
          <p:cNvSpPr txBox="1"/>
          <p:nvPr/>
        </p:nvSpPr>
        <p:spPr>
          <a:xfrm>
            <a:off x="457200" y="1920240"/>
            <a:ext cx="1097280" cy="47548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API</a:t>
            </a:r>
            <a:endParaRPr lang="en-US" sz="950" dirty="0"/>
          </a:p>
        </p:txBody>
      </p:sp>
      <p:sp>
        <p:nvSpPr>
          <p:cNvPr id="8" name="Shape 6"/>
          <p:cNvSpPr/>
          <p:nvPr/>
        </p:nvSpPr>
        <p:spPr>
          <a:xfrm>
            <a:off x="457200" y="2487168"/>
            <a:ext cx="1097280" cy="658368"/>
          </a:xfrm>
          <a:prstGeom prst="rect">
            <a:avLst/>
          </a:prstGeom>
          <a:solidFill>
            <a:srgbClr val="3B4E8C"/>
          </a:solidFill>
          <a:ln w="12700">
            <a:solidFill>
              <a:srgbClr val="3B4E8C"/>
            </a:solidFill>
            <a:prstDash val="solid"/>
          </a:ln>
        </p:spPr>
      </p:sp>
      <p:sp>
        <p:nvSpPr>
          <p:cNvPr id="9" name="Text 7"/>
          <p:cNvSpPr txBox="1"/>
          <p:nvPr/>
        </p:nvSpPr>
        <p:spPr>
          <a:xfrm>
            <a:off x="457200" y="2487168"/>
            <a:ext cx="1097280" cy="65836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GRAPH</a:t>
            </a:r>
            <a:endParaRPr lang="en-US" sz="950" dirty="0"/>
          </a:p>
        </p:txBody>
      </p:sp>
      <p:sp>
        <p:nvSpPr>
          <p:cNvPr id="10" name="Shape 8"/>
          <p:cNvSpPr/>
          <p:nvPr/>
        </p:nvSpPr>
        <p:spPr>
          <a:xfrm>
            <a:off x="457200" y="3255264"/>
            <a:ext cx="1097280" cy="365760"/>
          </a:xfrm>
          <a:prstGeom prst="rect">
            <a:avLst/>
          </a:prstGeom>
          <a:solidFill>
            <a:srgbClr val="3B4E8C"/>
          </a:solidFill>
          <a:ln w="12700">
            <a:solidFill>
              <a:srgbClr val="3B4E8C"/>
            </a:solidFill>
            <a:prstDash val="solid"/>
          </a:ln>
        </p:spPr>
      </p:sp>
      <p:sp>
        <p:nvSpPr>
          <p:cNvPr id="11" name="Text 9"/>
          <p:cNvSpPr txBox="1"/>
          <p:nvPr/>
        </p:nvSpPr>
        <p:spPr>
          <a:xfrm>
            <a:off x="457200" y="3255264"/>
            <a:ext cx="1097280" cy="36576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DEPS</a:t>
            </a:r>
            <a:endParaRPr lang="en-US" sz="950" dirty="0"/>
          </a:p>
        </p:txBody>
      </p:sp>
      <p:sp>
        <p:nvSpPr>
          <p:cNvPr id="12" name="Shape 10"/>
          <p:cNvSpPr/>
          <p:nvPr/>
        </p:nvSpPr>
        <p:spPr>
          <a:xfrm>
            <a:off x="457200" y="3730752"/>
            <a:ext cx="1097280" cy="658368"/>
          </a:xfrm>
          <a:prstGeom prst="rect">
            <a:avLst/>
          </a:prstGeom>
          <a:solidFill>
            <a:srgbClr val="1E6470"/>
          </a:solidFill>
          <a:ln w="12700">
            <a:solidFill>
              <a:srgbClr val="1E6470"/>
            </a:solidFill>
            <a:prstDash val="solid"/>
          </a:ln>
        </p:spPr>
      </p:sp>
      <p:sp>
        <p:nvSpPr>
          <p:cNvPr id="13" name="Text 11"/>
          <p:cNvSpPr txBox="1"/>
          <p:nvPr/>
        </p:nvSpPr>
        <p:spPr>
          <a:xfrm>
            <a:off x="457200" y="3730752"/>
            <a:ext cx="1097280" cy="65836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INTERFACES</a:t>
            </a:r>
            <a:endParaRPr lang="en-US" sz="950" dirty="0"/>
          </a:p>
        </p:txBody>
      </p:sp>
      <p:sp>
        <p:nvSpPr>
          <p:cNvPr id="14" name="Shape 12"/>
          <p:cNvSpPr/>
          <p:nvPr/>
        </p:nvSpPr>
        <p:spPr>
          <a:xfrm>
            <a:off x="457200" y="4498848"/>
            <a:ext cx="1097280" cy="566928"/>
          </a:xfrm>
          <a:prstGeom prst="rect">
            <a:avLst/>
          </a:prstGeom>
          <a:solidFill>
            <a:srgbClr val="D9731A"/>
          </a:solidFill>
          <a:ln w="12700">
            <a:solidFill>
              <a:srgbClr val="D9731A"/>
            </a:solidFill>
            <a:prstDash val="solid"/>
          </a:ln>
        </p:spPr>
      </p:sp>
      <p:sp>
        <p:nvSpPr>
          <p:cNvPr id="15" name="Text 13"/>
          <p:cNvSpPr txBox="1"/>
          <p:nvPr/>
        </p:nvSpPr>
        <p:spPr>
          <a:xfrm>
            <a:off x="457200" y="4498848"/>
            <a:ext cx="1097280" cy="56692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SUBSTRATE</a:t>
            </a:r>
            <a:endParaRPr lang="en-US" sz="950" dirty="0"/>
          </a:p>
        </p:txBody>
      </p:sp>
      <p:sp>
        <p:nvSpPr>
          <p:cNvPr id="16" name="Shape 14"/>
          <p:cNvSpPr/>
          <p:nvPr/>
        </p:nvSpPr>
        <p:spPr>
          <a:xfrm>
            <a:off x="457200" y="5175504"/>
            <a:ext cx="1097280" cy="566928"/>
          </a:xfrm>
          <a:prstGeom prst="rect">
            <a:avLst/>
          </a:prstGeom>
          <a:solidFill>
            <a:srgbClr val="D9731A"/>
          </a:solidFill>
          <a:ln w="12700">
            <a:solidFill>
              <a:srgbClr val="D9731A"/>
            </a:solidFill>
            <a:prstDash val="solid"/>
          </a:ln>
        </p:spPr>
      </p:sp>
      <p:sp>
        <p:nvSpPr>
          <p:cNvPr id="17" name="Text 15"/>
          <p:cNvSpPr txBox="1"/>
          <p:nvPr/>
        </p:nvSpPr>
        <p:spPr>
          <a:xfrm>
            <a:off x="457200" y="5175504"/>
            <a:ext cx="1097280" cy="56692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REMOTE</a:t>
            </a:r>
            <a:endParaRPr lang="en-US" sz="950" dirty="0"/>
          </a:p>
        </p:txBody>
      </p:sp>
      <p:sp>
        <p:nvSpPr>
          <p:cNvPr id="18" name="Shape 16"/>
          <p:cNvSpPr/>
          <p:nvPr/>
        </p:nvSpPr>
        <p:spPr>
          <a:xfrm>
            <a:off x="457200" y="5852160"/>
            <a:ext cx="1097280" cy="548640"/>
          </a:xfrm>
          <a:prstGeom prst="rect">
            <a:avLst/>
          </a:prstGeom>
          <a:solidFill>
            <a:srgbClr val="2E7D5B"/>
          </a:solidFill>
          <a:ln w="12700">
            <a:solidFill>
              <a:srgbClr val="2E7D5B"/>
            </a:solidFill>
            <a:prstDash val="solid"/>
          </a:ln>
        </p:spPr>
      </p:sp>
      <p:sp>
        <p:nvSpPr>
          <p:cNvPr id="19" name="Text 17"/>
          <p:cNvSpPr txBox="1"/>
          <p:nvPr/>
        </p:nvSpPr>
        <p:spPr>
          <a:xfrm>
            <a:off x="457200" y="5852160"/>
            <a:ext cx="1097280" cy="54864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HISTORY</a:t>
            </a:r>
            <a:endParaRPr lang="en-US" sz="950" dirty="0"/>
          </a:p>
        </p:txBody>
      </p:sp>
      <p:sp>
        <p:nvSpPr>
          <p:cNvPr id="20" name="Shape 18"/>
          <p:cNvSpPr/>
          <p:nvPr/>
        </p:nvSpPr>
        <p:spPr>
          <a:xfrm>
            <a:off x="1645920" y="1371600"/>
            <a:ext cx="6812280" cy="475488"/>
          </a:xfrm>
          <a:prstGeom prst="rect">
            <a:avLst/>
          </a:prstGeom>
          <a:solidFill>
            <a:srgbClr val="F3EAF6"/>
          </a:solidFill>
          <a:ln w="19050">
            <a:solidFill>
              <a:srgbClr val="7A4A8C"/>
            </a:solidFill>
            <a:prstDash val="solid"/>
          </a:ln>
        </p:spPr>
      </p:sp>
      <p:sp>
        <p:nvSpPr>
          <p:cNvPr id="21" name="Text 19"/>
          <p:cNvSpPr txBox="1"/>
          <p:nvPr/>
        </p:nvSpPr>
        <p:spPr>
          <a:xfrm>
            <a:off x="1737360" y="1426464"/>
            <a:ext cx="6629400" cy="365760"/>
          </a:xfrm>
          <a:prstGeom prst="rect">
            <a:avLst/>
          </a:prstGeom>
          <a:noFill/>
          <a:ln/>
        </p:spPr>
        <p:txBody>
          <a:bodyPr wrap="square" lIns="0" tIns="0" rIns="0" bIns="0" rtlCol="0" anchor="ctr"/>
          <a:lstStyle/>
          <a:p>
            <a:pPr algn="l" indent="0" marL="0">
              <a:buNone/>
            </a:pPr>
            <a:r>
              <a:rPr lang="en-US" sz="1200" b="1" dirty="0">
                <a:solidFill>
                  <a:srgbClr val="16222B"/>
                </a:solidFill>
                <a:latin typeface="Calibri" pitchFamily="34" charset="0"/>
                <a:ea typeface="Calibri" pitchFamily="34" charset="-122"/>
                <a:cs typeface="Calibri" pitchFamily="34" charset="-120"/>
              </a:rPr>
              <a:t>React + Vite</a:t>
            </a:r>
            <a:endParaRPr lang="en-US" sz="1400" dirty="0"/>
          </a:p>
          <a:p>
            <a:pPr algn="l" indent="0" marL="0">
              <a:buNone/>
            </a:pPr>
            <a:r>
              <a:rPr lang="en-US" sz="1000" dirty="0">
                <a:solidFill>
                  <a:srgbClr val="5E6B75"/>
                </a:solidFill>
                <a:latin typeface="Calibri" pitchFamily="34" charset="0"/>
                <a:ea typeface="Calibri" pitchFamily="34" charset="-122"/>
                <a:cs typeface="Calibri" pitchFamily="34" charset="-120"/>
              </a:rPr>
              <a:t>   ChatPane · Composer · TaskChips · ArtifactPane (Mol* · Markdown · docx · table)</a:t>
            </a:r>
            <a:endParaRPr lang="en-US" sz="1400" dirty="0"/>
          </a:p>
        </p:txBody>
      </p:sp>
      <p:sp>
        <p:nvSpPr>
          <p:cNvPr id="22" name="Shape 20"/>
          <p:cNvSpPr/>
          <p:nvPr/>
        </p:nvSpPr>
        <p:spPr>
          <a:xfrm>
            <a:off x="1645920" y="1920240"/>
            <a:ext cx="6812280" cy="475488"/>
          </a:xfrm>
          <a:prstGeom prst="rect">
            <a:avLst/>
          </a:prstGeom>
          <a:solidFill>
            <a:srgbClr val="F3EAF6"/>
          </a:solidFill>
          <a:ln w="19050">
            <a:solidFill>
              <a:srgbClr val="7A4A8C"/>
            </a:solidFill>
            <a:prstDash val="solid"/>
          </a:ln>
        </p:spPr>
      </p:sp>
      <p:sp>
        <p:nvSpPr>
          <p:cNvPr id="23" name="Text 21"/>
          <p:cNvSpPr txBox="1"/>
          <p:nvPr/>
        </p:nvSpPr>
        <p:spPr>
          <a:xfrm>
            <a:off x="1737360" y="1975104"/>
            <a:ext cx="6629400" cy="365760"/>
          </a:xfrm>
          <a:prstGeom prst="rect">
            <a:avLst/>
          </a:prstGeom>
          <a:noFill/>
          <a:ln/>
        </p:spPr>
        <p:txBody>
          <a:bodyPr wrap="square" lIns="0" tIns="0" rIns="0" bIns="0" rtlCol="0" anchor="ctr"/>
          <a:lstStyle/>
          <a:p>
            <a:pPr algn="l" indent="0" marL="0">
              <a:buNone/>
            </a:pPr>
            <a:r>
              <a:rPr lang="en-US" sz="1200" b="1" dirty="0">
                <a:solidFill>
                  <a:srgbClr val="16222B"/>
                </a:solidFill>
                <a:latin typeface="Calibri" pitchFamily="34" charset="0"/>
                <a:ea typeface="Calibri" pitchFamily="34" charset="-122"/>
                <a:cs typeface="Calibri" pitchFamily="34" charset="-120"/>
              </a:rPr>
              <a:t>FastAPI + SSE</a:t>
            </a:r>
            <a:endParaRPr lang="en-US" sz="1400" dirty="0"/>
          </a:p>
          <a:p>
            <a:pPr algn="l" indent="0" marL="0">
              <a:buNone/>
            </a:pPr>
            <a:r>
              <a:rPr lang="en-US" sz="1000" dirty="0">
                <a:solidFill>
                  <a:srgbClr val="5E6B75"/>
                </a:solidFill>
                <a:latin typeface="Calibri" pitchFamily="34" charset="0"/>
                <a:ea typeface="Calibri" pitchFamily="34" charset="-122"/>
                <a:cs typeface="Calibri" pitchFamily="34" charset="-120"/>
              </a:rPr>
              <a:t>   app.py — /api/chat streams 7 frame kinds · artifacts · tasks · health · catalog</a:t>
            </a:r>
            <a:endParaRPr lang="en-US" sz="1400" dirty="0"/>
          </a:p>
        </p:txBody>
      </p:sp>
      <p:sp>
        <p:nvSpPr>
          <p:cNvPr id="24" name="Shape 22"/>
          <p:cNvSpPr/>
          <p:nvPr/>
        </p:nvSpPr>
        <p:spPr>
          <a:xfrm>
            <a:off x="1645920" y="2487168"/>
            <a:ext cx="6812280" cy="658368"/>
          </a:xfrm>
          <a:prstGeom prst="rect">
            <a:avLst/>
          </a:prstGeom>
          <a:solidFill>
            <a:srgbClr val="E9EDF7"/>
          </a:solidFill>
          <a:ln w="19050">
            <a:solidFill>
              <a:srgbClr val="3B4E8C"/>
            </a:solidFill>
            <a:prstDash val="solid"/>
          </a:ln>
        </p:spPr>
      </p:sp>
      <p:sp>
        <p:nvSpPr>
          <p:cNvPr id="25" name="Text 23"/>
          <p:cNvSpPr txBox="1"/>
          <p:nvPr/>
        </p:nvSpPr>
        <p:spPr>
          <a:xfrm>
            <a:off x="1737360" y="2542032"/>
            <a:ext cx="6629400" cy="548640"/>
          </a:xfrm>
          <a:prstGeom prst="rect">
            <a:avLst/>
          </a:prstGeom>
          <a:noFill/>
          <a:ln/>
        </p:spPr>
        <p:txBody>
          <a:bodyPr wrap="square" lIns="0" tIns="0" rIns="0" bIns="0" rtlCol="0" anchor="ctr"/>
          <a:lstStyle/>
          <a:p>
            <a:pPr algn="l" indent="0" marL="0">
              <a:buNone/>
            </a:pPr>
            <a:r>
              <a:rPr lang="en-US" sz="1200" b="1" dirty="0">
                <a:solidFill>
                  <a:srgbClr val="16222B"/>
                </a:solidFill>
                <a:latin typeface="Calibri" pitchFamily="34" charset="0"/>
                <a:ea typeface="Calibri" pitchFamily="34" charset="-122"/>
                <a:cs typeface="Calibri" pitchFamily="34" charset="-120"/>
              </a:rPr>
              <a:t>LangGraph StateGraph</a:t>
            </a:r>
            <a:endParaRPr lang="en-US" sz="1400" dirty="0"/>
          </a:p>
          <a:p>
            <a:pPr algn="l" indent="0" marL="0">
              <a:buNone/>
            </a:pPr>
            <a:r>
              <a:rPr lang="en-US" sz="1000" dirty="0">
                <a:solidFill>
                  <a:srgbClr val="5E6B75"/>
                </a:solidFill>
                <a:latin typeface="Calibri" pitchFamily="34" charset="0"/>
                <a:ea typeface="Calibri" pitchFamily="34" charset="-122"/>
                <a:cs typeface="Calibri" pitchFamily="34" charset="-120"/>
              </a:rPr>
              <a:t>   coordinator · initializer · orchestrator · analyst · interpreter   —   AsyncSqliteSaver checkpoints</a:t>
            </a:r>
            <a:endParaRPr lang="en-US" sz="1400" dirty="0"/>
          </a:p>
        </p:txBody>
      </p:sp>
      <p:sp>
        <p:nvSpPr>
          <p:cNvPr id="26" name="Shape 24"/>
          <p:cNvSpPr/>
          <p:nvPr/>
        </p:nvSpPr>
        <p:spPr>
          <a:xfrm>
            <a:off x="1645920" y="3255264"/>
            <a:ext cx="6812280" cy="365760"/>
          </a:xfrm>
          <a:prstGeom prst="rect">
            <a:avLst/>
          </a:prstGeom>
          <a:solidFill>
            <a:srgbClr val="FFFFFF"/>
          </a:solidFill>
          <a:ln w="19050">
            <a:solidFill>
              <a:srgbClr val="3B4E8C"/>
            </a:solidFill>
            <a:prstDash val="solid"/>
          </a:ln>
        </p:spPr>
      </p:sp>
      <p:sp>
        <p:nvSpPr>
          <p:cNvPr id="27" name="Text 25"/>
          <p:cNvSpPr txBox="1"/>
          <p:nvPr/>
        </p:nvSpPr>
        <p:spPr>
          <a:xfrm>
            <a:off x="1737360" y="3310128"/>
            <a:ext cx="6629400" cy="256032"/>
          </a:xfrm>
          <a:prstGeom prst="rect">
            <a:avLst/>
          </a:prstGeom>
          <a:noFill/>
          <a:ln/>
        </p:spPr>
        <p:txBody>
          <a:bodyPr wrap="square" lIns="0" tIns="0" rIns="0" bIns="0" rtlCol="0" anchor="ctr"/>
          <a:lstStyle/>
          <a:p>
            <a:pPr algn="l" indent="0" marL="0">
              <a:buNone/>
            </a:pPr>
            <a:r>
              <a:rPr lang="en-US" sz="1100" b="1" dirty="0">
                <a:solidFill>
                  <a:srgbClr val="16222B"/>
                </a:solidFill>
                <a:latin typeface="Calibri" pitchFamily="34" charset="0"/>
                <a:ea typeface="Calibri" pitchFamily="34" charset="-122"/>
                <a:cs typeface="Calibri" pitchFamily="34" charset="-120"/>
              </a:rPr>
              <a:t>Deps(settings, tasks, history, artifacts)</a:t>
            </a:r>
            <a:endParaRPr lang="en-US" sz="1400" dirty="0"/>
          </a:p>
          <a:p>
            <a:pPr algn="l" indent="0" marL="0">
              <a:buNone/>
            </a:pPr>
            <a:r>
              <a:rPr lang="en-US" sz="1000" dirty="0">
                <a:solidFill>
                  <a:srgbClr val="5E6B75"/>
                </a:solidFill>
                <a:latin typeface="Calibri" pitchFamily="34" charset="0"/>
                <a:ea typeface="Calibri" pitchFamily="34" charset="-122"/>
                <a:cs typeface="Calibri" pitchFamily="34" charset="-120"/>
              </a:rPr>
              <a:t>   the only thing a node closes over</a:t>
            </a:r>
            <a:endParaRPr lang="en-US" sz="1400" dirty="0"/>
          </a:p>
        </p:txBody>
      </p:sp>
      <p:sp>
        <p:nvSpPr>
          <p:cNvPr id="28" name="Shape 26"/>
          <p:cNvSpPr/>
          <p:nvPr/>
        </p:nvSpPr>
        <p:spPr>
          <a:xfrm>
            <a:off x="1645920" y="3730752"/>
            <a:ext cx="2197608" cy="658368"/>
          </a:xfrm>
          <a:prstGeom prst="roundRect">
            <a:avLst>
              <a:gd name="adj" fmla="val 11111"/>
            </a:avLst>
          </a:prstGeom>
          <a:solidFill>
            <a:srgbClr val="E3F0F1"/>
          </a:solidFill>
          <a:ln w="19050">
            <a:solidFill>
              <a:srgbClr val="1E6470"/>
            </a:solidFill>
            <a:prstDash val="solid"/>
          </a:ln>
        </p:spPr>
      </p:sp>
      <p:sp>
        <p:nvSpPr>
          <p:cNvPr id="29" name="Text 27"/>
          <p:cNvSpPr txBox="1"/>
          <p:nvPr/>
        </p:nvSpPr>
        <p:spPr>
          <a:xfrm>
            <a:off x="1737360" y="3785616"/>
            <a:ext cx="2014728" cy="548640"/>
          </a:xfrm>
          <a:prstGeom prst="rect">
            <a:avLst/>
          </a:prstGeom>
          <a:noFill/>
          <a:ln/>
        </p:spPr>
        <p:txBody>
          <a:bodyPr wrap="square" lIns="0" tIns="0" rIns="0" bIns="0" rtlCol="0" anchor="ctr"/>
          <a:lstStyle/>
          <a:p>
            <a:pPr algn="ctr" indent="0" marL="0">
              <a:buNone/>
            </a:pPr>
            <a:r>
              <a:rPr lang="en-US" sz="1100" b="1" dirty="0">
                <a:solidFill>
                  <a:srgbClr val="16222B"/>
                </a:solidFill>
                <a:latin typeface="Calibri" pitchFamily="34" charset="0"/>
                <a:ea typeface="Calibri" pitchFamily="34" charset="-122"/>
                <a:cs typeface="Calibri" pitchFamily="34" charset="-120"/>
              </a:rPr>
              <a:t>LocalTaskInterface</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app-local compute</a:t>
            </a:r>
            <a:endParaRPr lang="en-US" sz="1400" dirty="0"/>
          </a:p>
        </p:txBody>
      </p:sp>
      <p:sp>
        <p:nvSpPr>
          <p:cNvPr id="30" name="Shape 28"/>
          <p:cNvSpPr/>
          <p:nvPr/>
        </p:nvSpPr>
        <p:spPr>
          <a:xfrm>
            <a:off x="3953256" y="3730752"/>
            <a:ext cx="2197608" cy="658368"/>
          </a:xfrm>
          <a:prstGeom prst="roundRect">
            <a:avLst>
              <a:gd name="adj" fmla="val 11111"/>
            </a:avLst>
          </a:prstGeom>
          <a:solidFill>
            <a:srgbClr val="E3F0F1"/>
          </a:solidFill>
          <a:ln w="19050">
            <a:solidFill>
              <a:srgbClr val="1E6470"/>
            </a:solidFill>
            <a:prstDash val="solid"/>
          </a:ln>
        </p:spPr>
      </p:sp>
      <p:sp>
        <p:nvSpPr>
          <p:cNvPr id="31" name="Text 29"/>
          <p:cNvSpPr txBox="1"/>
          <p:nvPr/>
        </p:nvSpPr>
        <p:spPr>
          <a:xfrm>
            <a:off x="4044696" y="3785616"/>
            <a:ext cx="2014728" cy="548640"/>
          </a:xfrm>
          <a:prstGeom prst="rect">
            <a:avLst/>
          </a:prstGeom>
          <a:noFill/>
          <a:ln/>
        </p:spPr>
        <p:txBody>
          <a:bodyPr wrap="square" lIns="0" tIns="0" rIns="0" bIns="0" rtlCol="0" anchor="ctr"/>
          <a:lstStyle/>
          <a:p>
            <a:pPr algn="ctr" indent="0" marL="0">
              <a:buNone/>
            </a:pPr>
            <a:r>
              <a:rPr lang="en-US" sz="1100" b="1" dirty="0">
                <a:solidFill>
                  <a:srgbClr val="16222B"/>
                </a:solidFill>
                <a:latin typeface="Calibri" pitchFamily="34" charset="0"/>
                <a:ea typeface="Calibri" pitchFamily="34" charset="-122"/>
                <a:cs typeface="Calibri" pitchFamily="34" charset="-120"/>
              </a:rPr>
              <a:t>QueryTaskInterface</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REST, on the loop</a:t>
            </a:r>
            <a:endParaRPr lang="en-US" sz="1400" dirty="0"/>
          </a:p>
        </p:txBody>
      </p:sp>
      <p:sp>
        <p:nvSpPr>
          <p:cNvPr id="32" name="Shape 30"/>
          <p:cNvSpPr/>
          <p:nvPr/>
        </p:nvSpPr>
        <p:spPr>
          <a:xfrm>
            <a:off x="6260592" y="3730752"/>
            <a:ext cx="2197608" cy="658368"/>
          </a:xfrm>
          <a:prstGeom prst="roundRect">
            <a:avLst>
              <a:gd name="adj" fmla="val 11111"/>
            </a:avLst>
          </a:prstGeom>
          <a:solidFill>
            <a:srgbClr val="E3F0F1"/>
          </a:solidFill>
          <a:ln w="19050">
            <a:solidFill>
              <a:srgbClr val="1E6470"/>
            </a:solidFill>
            <a:prstDash val="solid"/>
          </a:ln>
        </p:spPr>
      </p:sp>
      <p:sp>
        <p:nvSpPr>
          <p:cNvPr id="33" name="Text 31"/>
          <p:cNvSpPr txBox="1"/>
          <p:nvPr/>
        </p:nvSpPr>
        <p:spPr>
          <a:xfrm>
            <a:off x="6352032" y="3785616"/>
            <a:ext cx="2014728" cy="548640"/>
          </a:xfrm>
          <a:prstGeom prst="rect">
            <a:avLst/>
          </a:prstGeom>
          <a:noFill/>
          <a:ln/>
        </p:spPr>
        <p:txBody>
          <a:bodyPr wrap="square" lIns="0" tIns="0" rIns="0" bIns="0" rtlCol="0" anchor="ctr"/>
          <a:lstStyle/>
          <a:p>
            <a:pPr algn="ctr" indent="0" marL="0">
              <a:buNone/>
            </a:pPr>
            <a:r>
              <a:rPr lang="en-US" sz="1100" b="1" dirty="0">
                <a:solidFill>
                  <a:srgbClr val="16222B"/>
                </a:solidFill>
                <a:latin typeface="Calibri" pitchFamily="34" charset="0"/>
                <a:ea typeface="Calibri" pitchFamily="34" charset="-122"/>
                <a:cs typeface="Calibri" pitchFamily="34" charset="-120"/>
              </a:rPr>
              <a:t>RemoteWorkflow (ABC)</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Orbit · Globus</a:t>
            </a:r>
            <a:endParaRPr lang="en-US" sz="1400" dirty="0"/>
          </a:p>
        </p:txBody>
      </p:sp>
      <p:sp>
        <p:nvSpPr>
          <p:cNvPr id="34" name="Shape 32"/>
          <p:cNvSpPr/>
          <p:nvPr/>
        </p:nvSpPr>
        <p:spPr>
          <a:xfrm>
            <a:off x="1645920" y="4498848"/>
            <a:ext cx="4223614" cy="566928"/>
          </a:xfrm>
          <a:prstGeom prst="roundRect">
            <a:avLst>
              <a:gd name="adj" fmla="val 12903"/>
            </a:avLst>
          </a:prstGeom>
          <a:solidFill>
            <a:srgbClr val="FCEBDD"/>
          </a:solidFill>
          <a:ln w="19050">
            <a:solidFill>
              <a:srgbClr val="D9731A"/>
            </a:solidFill>
            <a:prstDash val="solid"/>
          </a:ln>
        </p:spPr>
      </p:sp>
      <p:sp>
        <p:nvSpPr>
          <p:cNvPr id="35" name="Text 33"/>
          <p:cNvSpPr txBox="1"/>
          <p:nvPr/>
        </p:nvSpPr>
        <p:spPr>
          <a:xfrm>
            <a:off x="1737360" y="4553712"/>
            <a:ext cx="4040734" cy="457200"/>
          </a:xfrm>
          <a:prstGeom prst="rect">
            <a:avLst/>
          </a:prstGeom>
          <a:noFill/>
          <a:ln/>
        </p:spPr>
        <p:txBody>
          <a:bodyPr wrap="square" lIns="0" tIns="0" rIns="0" bIns="0" rtlCol="0" anchor="ctr"/>
          <a:lstStyle/>
          <a:p>
            <a:pPr algn="ctr" indent="0" marL="0">
              <a:buNone/>
            </a:pPr>
            <a:r>
              <a:rPr lang="en-US" sz="1150" b="1" dirty="0">
                <a:solidFill>
                  <a:srgbClr val="D9731A"/>
                </a:solidFill>
                <a:latin typeface="Calibri" pitchFamily="34" charset="0"/>
                <a:ea typeface="Calibri" pitchFamily="34" charset="-122"/>
                <a:cs typeface="Calibri" pitchFamily="34" charset="-120"/>
              </a:rPr>
              <a:t>flowgentic  →  radical.asyncflow  →  rhapsody</a:t>
            </a:r>
            <a:endParaRPr lang="en-US" sz="1400" dirty="0"/>
          </a:p>
          <a:p>
            <a:pPr algn="ctr" indent="0" marL="0">
              <a:buNone/>
            </a:pPr>
            <a:endParaRPr lang="en-US" sz="1400" dirty="0"/>
          </a:p>
          <a:p>
            <a:pPr algn="ctr" indent="0" marL="0">
              <a:buNone/>
            </a:pPr>
            <a:r>
              <a:rPr lang="en-US" sz="950" dirty="0">
                <a:solidFill>
                  <a:srgbClr val="5E6B75"/>
                </a:solidFill>
                <a:latin typeface="Consolas" pitchFamily="34" charset="0"/>
                <a:ea typeface="Consolas" pitchFamily="34" charset="-122"/>
                <a:cs typeface="Consolas" pitchFamily="34" charset="-120"/>
              </a:rPr>
              <a:t>ConcurrentExecutionBackend(ProcessPoolExecutor(4))</a:t>
            </a:r>
            <a:endParaRPr lang="en-US" sz="1400" dirty="0"/>
          </a:p>
        </p:txBody>
      </p:sp>
      <p:sp>
        <p:nvSpPr>
          <p:cNvPr id="36" name="Shape 34"/>
          <p:cNvSpPr/>
          <p:nvPr/>
        </p:nvSpPr>
        <p:spPr>
          <a:xfrm>
            <a:off x="5937656" y="4498848"/>
            <a:ext cx="2511400" cy="566928"/>
          </a:xfrm>
          <a:prstGeom prst="roundRect">
            <a:avLst>
              <a:gd name="adj" fmla="val 12903"/>
            </a:avLst>
          </a:prstGeom>
          <a:solidFill>
            <a:srgbClr val="FFFFFF"/>
          </a:solidFill>
          <a:ln w="19050">
            <a:solidFill>
              <a:srgbClr val="5E6B75"/>
            </a:solidFill>
            <a:prstDash val="sysDot"/>
          </a:ln>
        </p:spPr>
      </p:sp>
      <p:sp>
        <p:nvSpPr>
          <p:cNvPr id="37" name="Text 35"/>
          <p:cNvSpPr txBox="1"/>
          <p:nvPr/>
        </p:nvSpPr>
        <p:spPr>
          <a:xfrm>
            <a:off x="6029096" y="4553712"/>
            <a:ext cx="2328520" cy="457200"/>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ChemGraph</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optional extra</a:t>
            </a:r>
            <a:endParaRPr lang="en-US" sz="1400" dirty="0"/>
          </a:p>
        </p:txBody>
      </p:sp>
      <p:sp>
        <p:nvSpPr>
          <p:cNvPr id="38" name="Shape 36"/>
          <p:cNvSpPr/>
          <p:nvPr/>
        </p:nvSpPr>
        <p:spPr>
          <a:xfrm>
            <a:off x="1645920" y="5175504"/>
            <a:ext cx="3269894" cy="566928"/>
          </a:xfrm>
          <a:prstGeom prst="roundRect">
            <a:avLst>
              <a:gd name="adj" fmla="val 12903"/>
            </a:avLst>
          </a:prstGeom>
          <a:solidFill>
            <a:srgbClr val="FCEBDD"/>
          </a:solidFill>
          <a:ln w="19050">
            <a:solidFill>
              <a:srgbClr val="D9731A"/>
            </a:solidFill>
            <a:prstDash val="sysDot"/>
          </a:ln>
        </p:spPr>
      </p:sp>
      <p:sp>
        <p:nvSpPr>
          <p:cNvPr id="39" name="Text 37"/>
          <p:cNvSpPr txBox="1"/>
          <p:nvPr/>
        </p:nvSpPr>
        <p:spPr>
          <a:xfrm>
            <a:off x="1737360" y="5230368"/>
            <a:ext cx="3087014" cy="457200"/>
          </a:xfrm>
          <a:prstGeom prst="rect">
            <a:avLst/>
          </a:prstGeom>
          <a:noFill/>
          <a:ln/>
        </p:spPr>
        <p:txBody>
          <a:bodyPr wrap="square" lIns="0" tIns="0" rIns="0" bIns="0" rtlCol="0" anchor="ctr"/>
          <a:lstStyle/>
          <a:p>
            <a:pPr algn="ctr" indent="0" marL="0">
              <a:buNone/>
            </a:pPr>
            <a:r>
              <a:rPr lang="en-US" sz="1150" b="1" dirty="0">
                <a:solidFill>
                  <a:srgbClr val="D9731A"/>
                </a:solidFill>
                <a:latin typeface="Calibri" pitchFamily="34" charset="0"/>
                <a:ea typeface="Calibri" pitchFamily="34" charset="-122"/>
                <a:cs typeface="Calibri" pitchFamily="34" charset="-120"/>
              </a:rPr>
              <a:t>RADICAL Orbit</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RhapsodyClient + PSIJClient</a:t>
            </a:r>
            <a:endParaRPr lang="en-US" sz="1400" dirty="0"/>
          </a:p>
        </p:txBody>
      </p:sp>
      <p:sp>
        <p:nvSpPr>
          <p:cNvPr id="40" name="Shape 38"/>
          <p:cNvSpPr/>
          <p:nvPr/>
        </p:nvSpPr>
        <p:spPr>
          <a:xfrm>
            <a:off x="5052060" y="5175504"/>
            <a:ext cx="3406140" cy="566928"/>
          </a:xfrm>
          <a:prstGeom prst="roundRect">
            <a:avLst>
              <a:gd name="adj" fmla="val 12903"/>
            </a:avLst>
          </a:prstGeom>
          <a:solidFill>
            <a:srgbClr val="FFFFFF"/>
          </a:solidFill>
          <a:ln w="19050">
            <a:solidFill>
              <a:srgbClr val="5E6B75"/>
            </a:solidFill>
            <a:prstDash val="dash"/>
          </a:ln>
        </p:spPr>
      </p:sp>
      <p:sp>
        <p:nvSpPr>
          <p:cNvPr id="41" name="Text 39"/>
          <p:cNvSpPr txBox="1"/>
          <p:nvPr/>
        </p:nvSpPr>
        <p:spPr>
          <a:xfrm>
            <a:off x="5143500" y="5230368"/>
            <a:ext cx="3223260" cy="457200"/>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Globus Compute / hpc-bridge</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GlobusRunner, injected executor</a:t>
            </a:r>
            <a:endParaRPr lang="en-US" sz="1400" dirty="0"/>
          </a:p>
        </p:txBody>
      </p:sp>
      <p:sp>
        <p:nvSpPr>
          <p:cNvPr id="42" name="Shape 40"/>
          <p:cNvSpPr/>
          <p:nvPr/>
        </p:nvSpPr>
        <p:spPr>
          <a:xfrm>
            <a:off x="1645920" y="5852160"/>
            <a:ext cx="2197608" cy="548640"/>
          </a:xfrm>
          <a:prstGeom prst="roundRect">
            <a:avLst>
              <a:gd name="adj" fmla="val 13333"/>
            </a:avLst>
          </a:prstGeom>
          <a:solidFill>
            <a:srgbClr val="E4F1EA"/>
          </a:solidFill>
          <a:ln w="19050">
            <a:solidFill>
              <a:srgbClr val="2E7D5B"/>
            </a:solidFill>
            <a:prstDash val="solid"/>
          </a:ln>
        </p:spPr>
      </p:sp>
      <p:sp>
        <p:nvSpPr>
          <p:cNvPr id="43" name="Text 41"/>
          <p:cNvSpPr txBox="1"/>
          <p:nvPr/>
        </p:nvSpPr>
        <p:spPr>
          <a:xfrm>
            <a:off x="1737360" y="5907024"/>
            <a:ext cx="2014728" cy="438912"/>
          </a:xfrm>
          <a:prstGeom prst="rect">
            <a:avLst/>
          </a:prstGeom>
          <a:noFill/>
          <a:ln/>
        </p:spPr>
        <p:txBody>
          <a:bodyPr wrap="square" lIns="0" tIns="0" rIns="0" bIns="0" rtlCol="0" anchor="ctr"/>
          <a:lstStyle/>
          <a:p>
            <a:pPr algn="ctr" indent="0" marL="0">
              <a:buNone/>
            </a:pPr>
            <a:r>
              <a:rPr lang="en-US" sz="1100" b="1" dirty="0">
                <a:solidFill>
                  <a:srgbClr val="16222B"/>
                </a:solidFill>
                <a:latin typeface="Calibri" pitchFamily="34" charset="0"/>
                <a:ea typeface="Calibri" pitchFamily="34" charset="-122"/>
                <a:cs typeface="Calibri" pitchFamily="34" charset="-120"/>
              </a:rPr>
              <a:t>Tier 1 · Kuzu</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raw task outputs</a:t>
            </a:r>
            <a:endParaRPr lang="en-US" sz="1400" dirty="0"/>
          </a:p>
        </p:txBody>
      </p:sp>
      <p:sp>
        <p:nvSpPr>
          <p:cNvPr id="44" name="Shape 42"/>
          <p:cNvSpPr/>
          <p:nvPr/>
        </p:nvSpPr>
        <p:spPr>
          <a:xfrm>
            <a:off x="3953256" y="5852160"/>
            <a:ext cx="2197608" cy="548640"/>
          </a:xfrm>
          <a:prstGeom prst="roundRect">
            <a:avLst>
              <a:gd name="adj" fmla="val 13333"/>
            </a:avLst>
          </a:prstGeom>
          <a:solidFill>
            <a:srgbClr val="E4F1EA"/>
          </a:solidFill>
          <a:ln w="19050">
            <a:solidFill>
              <a:srgbClr val="2E7D5B"/>
            </a:solidFill>
            <a:prstDash val="solid"/>
          </a:ln>
        </p:spPr>
      </p:sp>
      <p:sp>
        <p:nvSpPr>
          <p:cNvPr id="45" name="Text 43"/>
          <p:cNvSpPr txBox="1"/>
          <p:nvPr/>
        </p:nvSpPr>
        <p:spPr>
          <a:xfrm>
            <a:off x="4044696" y="5907024"/>
            <a:ext cx="2014728" cy="438912"/>
          </a:xfrm>
          <a:prstGeom prst="rect">
            <a:avLst/>
          </a:prstGeom>
          <a:noFill/>
          <a:ln/>
        </p:spPr>
        <p:txBody>
          <a:bodyPr wrap="square" lIns="0" tIns="0" rIns="0" bIns="0" rtlCol="0" anchor="ctr"/>
          <a:lstStyle/>
          <a:p>
            <a:pPr algn="ctr" indent="0" marL="0">
              <a:buNone/>
            </a:pPr>
            <a:r>
              <a:rPr lang="en-US" sz="1100" b="1" dirty="0">
                <a:solidFill>
                  <a:srgbClr val="16222B"/>
                </a:solidFill>
                <a:latin typeface="Calibri" pitchFamily="34" charset="0"/>
                <a:ea typeface="Calibri" pitchFamily="34" charset="-122"/>
                <a:cs typeface="Calibri" pitchFamily="34" charset="-120"/>
              </a:rPr>
              <a:t>Tier 2 · SQLite</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scores · rankings</a:t>
            </a:r>
            <a:endParaRPr lang="en-US" sz="1400" dirty="0"/>
          </a:p>
        </p:txBody>
      </p:sp>
      <p:sp>
        <p:nvSpPr>
          <p:cNvPr id="46" name="Shape 44"/>
          <p:cNvSpPr/>
          <p:nvPr/>
        </p:nvSpPr>
        <p:spPr>
          <a:xfrm>
            <a:off x="6260592" y="5852160"/>
            <a:ext cx="2197608" cy="548640"/>
          </a:xfrm>
          <a:prstGeom prst="roundRect">
            <a:avLst>
              <a:gd name="adj" fmla="val 13333"/>
            </a:avLst>
          </a:prstGeom>
          <a:solidFill>
            <a:srgbClr val="E4F1EA"/>
          </a:solidFill>
          <a:ln w="19050">
            <a:solidFill>
              <a:srgbClr val="2E7D5B"/>
            </a:solidFill>
            <a:prstDash val="solid"/>
          </a:ln>
        </p:spPr>
      </p:sp>
      <p:sp>
        <p:nvSpPr>
          <p:cNvPr id="47" name="Text 45"/>
          <p:cNvSpPr txBox="1"/>
          <p:nvPr/>
        </p:nvSpPr>
        <p:spPr>
          <a:xfrm>
            <a:off x="6352032" y="5907024"/>
            <a:ext cx="2014728" cy="438912"/>
          </a:xfrm>
          <a:prstGeom prst="rect">
            <a:avLst/>
          </a:prstGeom>
          <a:noFill/>
          <a:ln/>
        </p:spPr>
        <p:txBody>
          <a:bodyPr wrap="square" lIns="0" tIns="0" rIns="0" bIns="0" rtlCol="0" anchor="ctr"/>
          <a:lstStyle/>
          <a:p>
            <a:pPr algn="ctr" indent="0" marL="0">
              <a:buNone/>
            </a:pPr>
            <a:r>
              <a:rPr lang="en-US" sz="1100" b="1" dirty="0">
                <a:solidFill>
                  <a:srgbClr val="16222B"/>
                </a:solidFill>
                <a:latin typeface="Calibri" pitchFamily="34" charset="0"/>
                <a:ea typeface="Calibri" pitchFamily="34" charset="-122"/>
                <a:cs typeface="Calibri" pitchFamily="34" charset="-120"/>
              </a:rPr>
              <a:t>Tier 3 · Parquet</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golden sets</a:t>
            </a:r>
            <a:endParaRPr lang="en-US" sz="1400" dirty="0"/>
          </a:p>
        </p:txBody>
      </p:sp>
      <p:sp>
        <p:nvSpPr>
          <p:cNvPr id="48" name="Shape 46"/>
          <p:cNvSpPr/>
          <p:nvPr/>
        </p:nvSpPr>
        <p:spPr>
          <a:xfrm>
            <a:off x="8686800" y="1371600"/>
            <a:ext cx="3047695" cy="2011680"/>
          </a:xfrm>
          <a:prstGeom prst="rect">
            <a:avLst/>
          </a:prstGeom>
          <a:solidFill>
            <a:srgbClr val="E9EDF7"/>
          </a:solidFill>
          <a:ln w="12700">
            <a:solidFill>
              <a:srgbClr val="E9EDF7"/>
            </a:solidFill>
            <a:prstDash val="solid"/>
          </a:ln>
        </p:spPr>
      </p:sp>
      <p:sp>
        <p:nvSpPr>
          <p:cNvPr id="49" name="Text 47"/>
          <p:cNvSpPr txBox="1"/>
          <p:nvPr/>
        </p:nvSpPr>
        <p:spPr>
          <a:xfrm>
            <a:off x="8823960" y="1463040"/>
            <a:ext cx="2773375" cy="274320"/>
          </a:xfrm>
          <a:prstGeom prst="rect">
            <a:avLst/>
          </a:prstGeom>
          <a:noFill/>
          <a:ln/>
        </p:spPr>
        <p:txBody>
          <a:bodyPr wrap="square" lIns="0" tIns="0" rIns="0" bIns="0" rtlCol="0" anchor="t"/>
          <a:lstStyle/>
          <a:p>
            <a:pPr indent="0" marL="0">
              <a:buNone/>
            </a:pPr>
            <a:r>
              <a:rPr lang="en-US" sz="1300" b="1" dirty="0">
                <a:solidFill>
                  <a:srgbClr val="3B4E8C"/>
                </a:solidFill>
                <a:latin typeface="Calibri" pitchFamily="34" charset="0"/>
                <a:ea typeface="Calibri" pitchFamily="34" charset="-122"/>
                <a:cs typeface="Calibri" pitchFamily="34" charset="-120"/>
              </a:rPr>
              <a:t>The one rule</a:t>
            </a:r>
            <a:endParaRPr lang="en-US" sz="1300" dirty="0"/>
          </a:p>
        </p:txBody>
      </p:sp>
      <p:sp>
        <p:nvSpPr>
          <p:cNvPr id="50" name="Text 48"/>
          <p:cNvSpPr txBox="1"/>
          <p:nvPr/>
        </p:nvSpPr>
        <p:spPr>
          <a:xfrm>
            <a:off x="8823960" y="1783080"/>
            <a:ext cx="2773375" cy="15087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 node reaches the outside only through Deps — never an interface or a store directly.</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That is what makes 93 of 99 tests run with no network, no pool and no endpoint.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Convention, not an enforced check.</a:t>
            </a:r>
            <a:endParaRPr lang="en-US" sz="1050" dirty="0"/>
          </a:p>
        </p:txBody>
      </p:sp>
      <p:sp>
        <p:nvSpPr>
          <p:cNvPr id="51" name="Shape 49"/>
          <p:cNvSpPr/>
          <p:nvPr/>
        </p:nvSpPr>
        <p:spPr>
          <a:xfrm>
            <a:off x="8686800" y="3520440"/>
            <a:ext cx="3047695" cy="1371600"/>
          </a:xfrm>
          <a:prstGeom prst="rect">
            <a:avLst/>
          </a:prstGeom>
          <a:solidFill>
            <a:srgbClr val="FCEBDD"/>
          </a:solidFill>
          <a:ln w="12700">
            <a:solidFill>
              <a:srgbClr val="FCEBDD"/>
            </a:solidFill>
            <a:prstDash val="solid"/>
          </a:ln>
        </p:spPr>
      </p:sp>
      <p:sp>
        <p:nvSpPr>
          <p:cNvPr id="52" name="Text 50"/>
          <p:cNvSpPr txBox="1"/>
          <p:nvPr/>
        </p:nvSpPr>
        <p:spPr>
          <a:xfrm>
            <a:off x="8823960" y="3611880"/>
            <a:ext cx="2773375" cy="274320"/>
          </a:xfrm>
          <a:prstGeom prst="rect">
            <a:avLst/>
          </a:prstGeom>
          <a:noFill/>
          <a:ln/>
        </p:spPr>
        <p:txBody>
          <a:bodyPr wrap="square" lIns="0" tIns="0" rIns="0" bIns="0" rtlCol="0" anchor="t"/>
          <a:lstStyle/>
          <a:p>
            <a:pPr indent="0" marL="0">
              <a:buNone/>
            </a:pPr>
            <a:r>
              <a:rPr lang="en-US" sz="1300" b="1" dirty="0">
                <a:solidFill>
                  <a:srgbClr val="D9731A"/>
                </a:solidFill>
                <a:latin typeface="Calibri" pitchFamily="34" charset="0"/>
                <a:ea typeface="Calibri" pitchFamily="34" charset="-122"/>
                <a:cs typeface="Calibri" pitchFamily="34" charset="-120"/>
              </a:rPr>
              <a:t>Where it leaves the process</a:t>
            </a:r>
            <a:endParaRPr lang="en-US" sz="1300" dirty="0"/>
          </a:p>
        </p:txBody>
      </p:sp>
      <p:sp>
        <p:nvSpPr>
          <p:cNvPr id="53" name="Text 51"/>
          <p:cNvSpPr txBox="1"/>
          <p:nvPr/>
        </p:nvSpPr>
        <p:spPr>
          <a:xfrm>
            <a:off x="8823960" y="3931920"/>
            <a:ext cx="2773375" cy="8686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LocalTaskInterface is the only band that crosses into asyncflow.</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Everything above it is ordinary async Python, and stubbable.</a:t>
            </a:r>
            <a:endParaRPr lang="en-US" sz="1050" dirty="0"/>
          </a:p>
        </p:txBody>
      </p:sp>
      <p:sp>
        <p:nvSpPr>
          <p:cNvPr id="54" name="Shape 52"/>
          <p:cNvSpPr/>
          <p:nvPr/>
        </p:nvSpPr>
        <p:spPr>
          <a:xfrm>
            <a:off x="8732520" y="5184648"/>
            <a:ext cx="411480" cy="0"/>
          </a:xfrm>
          <a:prstGeom prst="line">
            <a:avLst/>
          </a:prstGeom>
          <a:noFill/>
          <a:ln w="22225">
            <a:solidFill>
              <a:srgbClr val="22303C"/>
            </a:solidFill>
            <a:prstDash val="solid"/>
          </a:ln>
        </p:spPr>
      </p:sp>
      <p:sp>
        <p:nvSpPr>
          <p:cNvPr id="55" name="Text 53"/>
          <p:cNvSpPr txBox="1"/>
          <p:nvPr/>
        </p:nvSpPr>
        <p:spPr>
          <a:xfrm>
            <a:off x="9235440" y="5074920"/>
            <a:ext cx="2407615" cy="237744"/>
          </a:xfrm>
          <a:prstGeom prst="rect">
            <a:avLst/>
          </a:prstGeom>
          <a:noFill/>
          <a:ln/>
        </p:spPr>
        <p:txBody>
          <a:bodyPr wrap="square" lIns="0" tIns="0" rIns="0" bIns="0" rtlCol="0" anchor="ctr"/>
          <a:lstStyle/>
          <a:p>
            <a:pPr indent="0" marL="0">
              <a:buNone/>
            </a:pPr>
            <a:r>
              <a:rPr lang="en-US" sz="1000" dirty="0">
                <a:solidFill>
                  <a:srgbClr val="5E6B75"/>
                </a:solidFill>
                <a:latin typeface="Calibri" pitchFamily="34" charset="0"/>
                <a:ea typeface="Calibri" pitchFamily="34" charset="-122"/>
                <a:cs typeface="Calibri" pitchFamily="34" charset="-120"/>
              </a:rPr>
              <a:t>built, runs end to end</a:t>
            </a:r>
            <a:endParaRPr lang="en-US" sz="1000" dirty="0"/>
          </a:p>
        </p:txBody>
      </p:sp>
      <p:sp>
        <p:nvSpPr>
          <p:cNvPr id="56" name="Shape 54"/>
          <p:cNvSpPr/>
          <p:nvPr/>
        </p:nvSpPr>
        <p:spPr>
          <a:xfrm>
            <a:off x="8732520" y="5422392"/>
            <a:ext cx="411480" cy="0"/>
          </a:xfrm>
          <a:prstGeom prst="line">
            <a:avLst/>
          </a:prstGeom>
          <a:noFill/>
          <a:ln w="22225">
            <a:solidFill>
              <a:srgbClr val="22303C"/>
            </a:solidFill>
            <a:prstDash val="sysDot"/>
          </a:ln>
        </p:spPr>
      </p:sp>
      <p:sp>
        <p:nvSpPr>
          <p:cNvPr id="57" name="Text 55"/>
          <p:cNvSpPr txBox="1"/>
          <p:nvPr/>
        </p:nvSpPr>
        <p:spPr>
          <a:xfrm>
            <a:off x="9235440" y="5312664"/>
            <a:ext cx="2407615" cy="237744"/>
          </a:xfrm>
          <a:prstGeom prst="rect">
            <a:avLst/>
          </a:prstGeom>
          <a:noFill/>
          <a:ln/>
        </p:spPr>
        <p:txBody>
          <a:bodyPr wrap="square" lIns="0" tIns="0" rIns="0" bIns="0" rtlCol="0" anchor="ctr"/>
          <a:lstStyle/>
          <a:p>
            <a:pPr indent="0" marL="0">
              <a:buNone/>
            </a:pPr>
            <a:r>
              <a:rPr lang="en-US" sz="1000" dirty="0">
                <a:solidFill>
                  <a:srgbClr val="5E6B75"/>
                </a:solidFill>
                <a:latin typeface="Calibri" pitchFamily="34" charset="0"/>
                <a:ea typeface="Calibri" pitchFamily="34" charset="-122"/>
                <a:cs typeface="Calibri" pitchFamily="34" charset="-120"/>
              </a:rPr>
              <a:t>built and tested, never run for real</a:t>
            </a:r>
            <a:endParaRPr lang="en-US" sz="1000" dirty="0"/>
          </a:p>
        </p:txBody>
      </p:sp>
      <p:sp>
        <p:nvSpPr>
          <p:cNvPr id="58" name="Shape 56"/>
          <p:cNvSpPr/>
          <p:nvPr/>
        </p:nvSpPr>
        <p:spPr>
          <a:xfrm>
            <a:off x="8732520" y="5660136"/>
            <a:ext cx="411480" cy="0"/>
          </a:xfrm>
          <a:prstGeom prst="line">
            <a:avLst/>
          </a:prstGeom>
          <a:noFill/>
          <a:ln w="22225">
            <a:solidFill>
              <a:srgbClr val="22303C"/>
            </a:solidFill>
            <a:prstDash val="dash"/>
          </a:ln>
        </p:spPr>
      </p:sp>
      <p:sp>
        <p:nvSpPr>
          <p:cNvPr id="59" name="Text 57"/>
          <p:cNvSpPr txBox="1"/>
          <p:nvPr/>
        </p:nvSpPr>
        <p:spPr>
          <a:xfrm>
            <a:off x="9235440" y="5550408"/>
            <a:ext cx="2407615" cy="237744"/>
          </a:xfrm>
          <a:prstGeom prst="rect">
            <a:avLst/>
          </a:prstGeom>
          <a:noFill/>
          <a:ln/>
        </p:spPr>
        <p:txBody>
          <a:bodyPr wrap="square" lIns="0" tIns="0" rIns="0" bIns="0" rtlCol="0" anchor="ctr"/>
          <a:lstStyle/>
          <a:p>
            <a:pPr indent="0" marL="0">
              <a:buNone/>
            </a:pPr>
            <a:r>
              <a:rPr lang="en-US" sz="1000" dirty="0">
                <a:solidFill>
                  <a:srgbClr val="5E6B75"/>
                </a:solidFill>
                <a:latin typeface="Calibri" pitchFamily="34" charset="0"/>
                <a:ea typeface="Calibri" pitchFamily="34" charset="-122"/>
                <a:cs typeface="Calibri" pitchFamily="34" charset="-120"/>
              </a:rPr>
              <a:t>designed for, not implemented</a:t>
            </a:r>
            <a:endParaRPr lang="en-US" sz="1000" dirty="0"/>
          </a:p>
        </p:txBody>
      </p:sp>
      <p:sp>
        <p:nvSpPr>
          <p:cNvPr id="60" name="Shape 58"/>
          <p:cNvSpPr/>
          <p:nvPr/>
        </p:nvSpPr>
        <p:spPr>
          <a:xfrm>
            <a:off x="8823960" y="5824728"/>
            <a:ext cx="228600" cy="155448"/>
          </a:xfrm>
          <a:prstGeom prst="rect">
            <a:avLst/>
          </a:prstGeom>
          <a:solidFill>
            <a:srgbClr val="FCEBDD"/>
          </a:solidFill>
          <a:ln w="19050">
            <a:solidFill>
              <a:srgbClr val="D9731A"/>
            </a:solidFill>
            <a:prstDash val="solid"/>
          </a:ln>
        </p:spPr>
      </p:sp>
      <p:sp>
        <p:nvSpPr>
          <p:cNvPr id="61" name="Text 59"/>
          <p:cNvSpPr txBox="1"/>
          <p:nvPr/>
        </p:nvSpPr>
        <p:spPr>
          <a:xfrm>
            <a:off x="9235440" y="5788152"/>
            <a:ext cx="2407615" cy="237744"/>
          </a:xfrm>
          <a:prstGeom prst="rect">
            <a:avLst/>
          </a:prstGeom>
          <a:noFill/>
          <a:ln/>
        </p:spPr>
        <p:txBody>
          <a:bodyPr wrap="square" lIns="0" tIns="0" rIns="0" bIns="0" rtlCol="0" anchor="ctr"/>
          <a:lstStyle/>
          <a:p>
            <a:pPr indent="0" marL="0">
              <a:buNone/>
            </a:pPr>
            <a:r>
              <a:rPr lang="en-US" sz="1000" b="1" dirty="0">
                <a:solidFill>
                  <a:srgbClr val="D9731A"/>
                </a:solidFill>
                <a:latin typeface="Calibri" pitchFamily="34" charset="0"/>
                <a:ea typeface="Calibri" pitchFamily="34" charset="-122"/>
                <a:cs typeface="Calibri" pitchFamily="34" charset="-120"/>
              </a:rPr>
              <a:t>RADICAL component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STATE</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State, its reducers, and what must never enter it</a:t>
            </a:r>
            <a:endParaRPr lang="en-US" sz="2800" dirty="0"/>
          </a:p>
        </p:txBody>
      </p:sp>
      <p:sp>
        <p:nvSpPr>
          <p:cNvPr id="4" name="Shape 2"/>
          <p:cNvSpPr/>
          <p:nvPr/>
        </p:nvSpPr>
        <p:spPr>
          <a:xfrm>
            <a:off x="457200" y="1417320"/>
            <a:ext cx="6400800" cy="2331720"/>
          </a:xfrm>
          <a:prstGeom prst="rect">
            <a:avLst/>
          </a:prstGeom>
          <a:solidFill>
            <a:srgbClr val="16222B"/>
          </a:solidFill>
          <a:ln w="12700">
            <a:solidFill>
              <a:srgbClr val="16222B"/>
            </a:solidFill>
            <a:prstDash val="solid"/>
          </a:ln>
        </p:spPr>
      </p:sp>
      <p:sp>
        <p:nvSpPr>
          <p:cNvPr id="5" name="Text 3"/>
          <p:cNvSpPr txBox="1"/>
          <p:nvPr/>
        </p:nvSpPr>
        <p:spPr>
          <a:xfrm>
            <a:off x="566928" y="1517904"/>
            <a:ext cx="6181344" cy="2130552"/>
          </a:xfrm>
          <a:prstGeom prst="rect">
            <a:avLst/>
          </a:prstGeom>
          <a:noFill/>
          <a:ln/>
        </p:spPr>
        <p:txBody>
          <a:bodyPr wrap="square" lIns="0" tIns="0" rIns="0" bIns="0" rtlCol="0" anchor="t"/>
          <a:lstStyle/>
          <a:p>
            <a:pPr indent="0" marL="0">
              <a:lnSpc>
                <a:spcPts val="1048"/>
              </a:lnSpc>
              <a:buNone/>
            </a:pPr>
            <a:r>
              <a:rPr lang="en-US" sz="839" dirty="0">
                <a:solidFill>
                  <a:srgbClr val="DCE5EC"/>
                </a:solidFill>
                <a:latin typeface="Consolas" pitchFamily="34" charset="0"/>
                <a:ea typeface="Consolas" pitchFamily="34" charset="-122"/>
                <a:cs typeface="Consolas" pitchFamily="34" charset="-120"/>
              </a:rPr>
              <a:t>class DesignState(TypedDict, total=False):</a:t>
            </a:r>
            <a:endParaRPr lang="en-US" sz="839" dirty="0"/>
          </a:p>
          <a:p>
            <a:pPr indent="0" marL="0">
              <a:lnSpc>
                <a:spcPts val="1048"/>
              </a:lnSpc>
              <a:buNone/>
            </a:pPr>
            <a:r>
              <a:rPr lang="en-US" sz="839" dirty="0">
                <a:solidFill>
                  <a:srgbClr val="DCE5EC"/>
                </a:solidFill>
                <a:latin typeface="Consolas" pitchFamily="34" charset="0"/>
                <a:ea typeface="Consolas" pitchFamily="34" charset="-122"/>
                <a:cs typeface="Consolas" pitchFamily="34" charset="-120"/>
              </a:rPr>
              <a:t>    messages: Annotated[list, add_messages]</a:t>
            </a:r>
            <a:endParaRPr lang="en-US" sz="839" dirty="0"/>
          </a:p>
          <a:p>
            <a:pPr indent="0" marL="0">
              <a:lnSpc>
                <a:spcPts val="1048"/>
              </a:lnSpc>
              <a:buNone/>
            </a:pPr>
            <a:endParaRPr lang="en-US" sz="839" dirty="0"/>
          </a:p>
          <a:p>
            <a:pPr indent="0" marL="0">
              <a:lnSpc>
                <a:spcPts val="1048"/>
              </a:lnSpc>
              <a:buNone/>
            </a:pPr>
            <a:r>
              <a:rPr lang="en-US" sz="839" dirty="0">
                <a:solidFill>
                  <a:srgbClr val="DCE5EC"/>
                </a:solidFill>
                <a:latin typeface="Consolas" pitchFamily="34" charset="0"/>
                <a:ea typeface="Consolas" pitchFamily="34" charset="-122"/>
                <a:cs typeface="Consolas" pitchFamily="34" charset="-120"/>
              </a:rPr>
              <a:t>    reference_design:        Annotated[ReferenceDesign, replace]</a:t>
            </a:r>
            <a:endParaRPr lang="en-US" sz="839" dirty="0"/>
          </a:p>
          <a:p>
            <a:pPr indent="0" marL="0">
              <a:lnSpc>
                <a:spcPts val="1048"/>
              </a:lnSpc>
              <a:buNone/>
            </a:pPr>
            <a:r>
              <a:rPr lang="en-US" sz="839" dirty="0">
                <a:solidFill>
                  <a:srgbClr val="DCE5EC"/>
                </a:solidFill>
                <a:latin typeface="Consolas" pitchFamily="34" charset="0"/>
                <a:ea typeface="Consolas" pitchFamily="34" charset="-122"/>
                <a:cs typeface="Consolas" pitchFamily="34" charset="-120"/>
              </a:rPr>
              <a:t>    key_metric:             Annotated[KeyMetric, replace]</a:t>
            </a:r>
            <a:endParaRPr lang="en-US" sz="839" dirty="0"/>
          </a:p>
          <a:p>
            <a:pPr indent="0" marL="0">
              <a:lnSpc>
                <a:spcPts val="1048"/>
              </a:lnSpc>
              <a:buNone/>
            </a:pPr>
            <a:r>
              <a:rPr lang="en-US" sz="839" dirty="0">
                <a:solidFill>
                  <a:srgbClr val="DCE5EC"/>
                </a:solidFill>
                <a:latin typeface="Consolas" pitchFamily="34" charset="0"/>
                <a:ea typeface="Consolas" pitchFamily="34" charset="-122"/>
                <a:cs typeface="Consolas" pitchFamily="34" charset="-120"/>
              </a:rPr>
              <a:t>    worklist:               Annotated[list[WorkItem], merge_worklist]</a:t>
            </a:r>
            <a:endParaRPr lang="en-US" sz="839" dirty="0"/>
          </a:p>
          <a:p>
            <a:pPr indent="0" marL="0">
              <a:lnSpc>
                <a:spcPts val="1048"/>
              </a:lnSpc>
              <a:buNone/>
            </a:pPr>
            <a:r>
              <a:rPr lang="en-US" sz="839" dirty="0">
                <a:solidFill>
                  <a:srgbClr val="DCE5EC"/>
                </a:solidFill>
                <a:latin typeface="Consolas" pitchFamily="34" charset="0"/>
                <a:ea typeface="Consolas" pitchFamily="34" charset="-122"/>
                <a:cs typeface="Consolas" pitchFamily="34" charset="-120"/>
              </a:rPr>
              <a:t>    lead_design:            Annotated[Design, replace]</a:t>
            </a:r>
            <a:endParaRPr lang="en-US" sz="839" dirty="0"/>
          </a:p>
          <a:p>
            <a:pPr indent="0" marL="0">
              <a:lnSpc>
                <a:spcPts val="1048"/>
              </a:lnSpc>
              <a:buNone/>
            </a:pPr>
            <a:r>
              <a:rPr lang="en-US" sz="839" dirty="0">
                <a:solidFill>
                  <a:srgbClr val="DCE5EC"/>
                </a:solidFill>
                <a:latin typeface="Consolas" pitchFamily="34" charset="0"/>
                <a:ea typeface="Consolas" pitchFamily="34" charset="-122"/>
                <a:cs typeface="Consolas" pitchFamily="34" charset="-120"/>
              </a:rPr>
              <a:t>    ensemble:               Annotated[list[Design], replace]</a:t>
            </a:r>
            <a:endParaRPr lang="en-US" sz="839" dirty="0"/>
          </a:p>
          <a:p>
            <a:pPr indent="0" marL="0">
              <a:lnSpc>
                <a:spcPts val="1048"/>
              </a:lnSpc>
              <a:buNone/>
            </a:pPr>
            <a:r>
              <a:rPr lang="en-US" sz="839" dirty="0">
                <a:solidFill>
                  <a:srgbClr val="DCE5EC"/>
                </a:solidFill>
                <a:latin typeface="Consolas" pitchFamily="34" charset="0"/>
                <a:ea typeface="Consolas" pitchFamily="34" charset="-122"/>
                <a:cs typeface="Consolas" pitchFamily="34" charset="-120"/>
              </a:rPr>
              <a:t>    molecular_visualization: Annotated[MolVisualization, replace]</a:t>
            </a:r>
            <a:endParaRPr lang="en-US" sz="839" dirty="0"/>
          </a:p>
          <a:p>
            <a:pPr indent="0" marL="0">
              <a:lnSpc>
                <a:spcPts val="1048"/>
              </a:lnSpc>
              <a:buNone/>
            </a:pPr>
            <a:r>
              <a:rPr lang="en-US" sz="839" dirty="0">
                <a:solidFill>
                  <a:srgbClr val="DCE5EC"/>
                </a:solidFill>
                <a:latin typeface="Consolas" pitchFamily="34" charset="0"/>
                <a:ea typeface="Consolas" pitchFamily="34" charset="-122"/>
                <a:cs typeface="Consolas" pitchFamily="34" charset="-120"/>
              </a:rPr>
              <a:t>    artifacts:              Annotated[list[ArtifactRef], merge_artifacts]</a:t>
            </a:r>
            <a:endParaRPr lang="en-US" sz="839" dirty="0"/>
          </a:p>
          <a:p>
            <a:pPr indent="0" marL="0">
              <a:lnSpc>
                <a:spcPts val="1048"/>
              </a:lnSpc>
              <a:buNone/>
            </a:pPr>
            <a:r>
              <a:rPr lang="en-US" sz="839" dirty="0">
                <a:solidFill>
                  <a:srgbClr val="DCE5EC"/>
                </a:solidFill>
                <a:latin typeface="Consolas" pitchFamily="34" charset="0"/>
                <a:ea typeface="Consolas" pitchFamily="34" charset="-122"/>
                <a:cs typeface="Consolas" pitchFamily="34" charset="-120"/>
              </a:rPr>
              <a:t>    design_summary:         Annotated[str, replace]</a:t>
            </a:r>
            <a:endParaRPr lang="en-US" sz="839" dirty="0"/>
          </a:p>
          <a:p>
            <a:pPr indent="0" marL="0">
              <a:lnSpc>
                <a:spcPts val="1048"/>
              </a:lnSpc>
              <a:buNone/>
            </a:pPr>
            <a:endParaRPr lang="en-US" sz="839" dirty="0"/>
          </a:p>
          <a:p>
            <a:pPr indent="0" marL="0">
              <a:lnSpc>
                <a:spcPts val="1048"/>
              </a:lnSpc>
              <a:buNone/>
            </a:pPr>
            <a:r>
              <a:rPr lang="en-US" sz="839" dirty="0">
                <a:solidFill>
                  <a:srgbClr val="DCE5EC"/>
                </a:solidFill>
                <a:latin typeface="Consolas" pitchFamily="34" charset="0"/>
                <a:ea typeface="Consolas" pitchFamily="34" charset="-122"/>
                <a:cs typeface="Consolas" pitchFamily="34" charset="-120"/>
              </a:rPr>
              <a:t>    # control</a:t>
            </a:r>
            <a:endParaRPr lang="en-US" sz="839" dirty="0"/>
          </a:p>
          <a:p>
            <a:pPr indent="0" marL="0">
              <a:lnSpc>
                <a:spcPts val="1048"/>
              </a:lnSpc>
              <a:buNone/>
            </a:pPr>
            <a:r>
              <a:rPr lang="en-US" sz="839" dirty="0">
                <a:solidFill>
                  <a:srgbClr val="DCE5EC"/>
                </a:solidFill>
                <a:latin typeface="Consolas" pitchFamily="34" charset="0"/>
                <a:ea typeface="Consolas" pitchFamily="34" charset="-122"/>
                <a:cs typeface="Consolas" pitchFamily="34" charset="-120"/>
              </a:rPr>
              <a:t>    intent · round · session_id · goal · status</a:t>
            </a:r>
            <a:endParaRPr lang="en-US" sz="839" dirty="0"/>
          </a:p>
          <a:p>
            <a:pPr indent="0" marL="0">
              <a:lnSpc>
                <a:spcPts val="1048"/>
              </a:lnSpc>
              <a:buNone/>
            </a:pPr>
            <a:r>
              <a:rPr lang="en-US" sz="839" dirty="0">
                <a:solidFill>
                  <a:srgbClr val="DCE5EC"/>
                </a:solidFill>
                <a:latin typeface="Consolas" pitchFamily="34" charset="0"/>
                <a:ea typeface="Consolas" pitchFamily="34" charset="-122"/>
                <a:cs typeface="Consolas" pitchFamily="34" charset="-120"/>
              </a:rPr>
              <a:t>    warnings:        Annotated[list[str], merge_warnings]</a:t>
            </a:r>
            <a:endParaRPr lang="en-US" sz="839" dirty="0"/>
          </a:p>
          <a:p>
            <a:pPr indent="0" marL="0">
              <a:lnSpc>
                <a:spcPts val="1048"/>
              </a:lnSpc>
              <a:buNone/>
            </a:pPr>
            <a:r>
              <a:rPr lang="en-US" sz="839" dirty="0">
                <a:solidFill>
                  <a:srgbClr val="DCE5EC"/>
                </a:solidFill>
                <a:latin typeface="Consolas" pitchFamily="34" charset="0"/>
                <a:ea typeface="Consolas" pitchFamily="34" charset="-122"/>
                <a:cs typeface="Consolas" pitchFamily="34" charset="-120"/>
              </a:rPr>
              <a:t>    target_hints · requested_mutations · pending_results</a:t>
            </a:r>
            <a:endParaRPr lang="en-US" sz="839" dirty="0"/>
          </a:p>
        </p:txBody>
      </p:sp>
      <p:sp>
        <p:nvSpPr>
          <p:cNvPr id="6" name="Text 4"/>
          <p:cNvSpPr txBox="1"/>
          <p:nvPr/>
        </p:nvSpPr>
        <p:spPr>
          <a:xfrm>
            <a:off x="457200" y="3776472"/>
            <a:ext cx="6400800"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graph/state.py:168–196  ·  TRIMMED</a:t>
            </a:r>
            <a:endParaRPr lang="en-US" sz="850" dirty="0"/>
          </a:p>
        </p:txBody>
      </p:sp>
      <p:sp>
        <p:nvSpPr>
          <p:cNvPr id="7" name="Shape 5"/>
          <p:cNvSpPr/>
          <p:nvPr/>
        </p:nvSpPr>
        <p:spPr>
          <a:xfrm>
            <a:off x="457200" y="3886200"/>
            <a:ext cx="6400800" cy="1188720"/>
          </a:xfrm>
          <a:prstGeom prst="rect">
            <a:avLst/>
          </a:prstGeom>
          <a:solidFill>
            <a:srgbClr val="E9EDF7"/>
          </a:solidFill>
          <a:ln w="12700">
            <a:solidFill>
              <a:srgbClr val="E9EDF7"/>
            </a:solidFill>
            <a:prstDash val="solid"/>
          </a:ln>
        </p:spPr>
      </p:sp>
      <p:sp>
        <p:nvSpPr>
          <p:cNvPr id="8" name="Text 6"/>
          <p:cNvSpPr txBox="1"/>
          <p:nvPr/>
        </p:nvSpPr>
        <p:spPr>
          <a:xfrm>
            <a:off x="594360" y="3977640"/>
            <a:ext cx="6126480" cy="274320"/>
          </a:xfrm>
          <a:prstGeom prst="rect">
            <a:avLst/>
          </a:prstGeom>
          <a:noFill/>
          <a:ln/>
        </p:spPr>
        <p:txBody>
          <a:bodyPr wrap="square" lIns="0" tIns="0" rIns="0" bIns="0" rtlCol="0" anchor="t"/>
          <a:lstStyle/>
          <a:p>
            <a:pPr indent="0" marL="0">
              <a:buNone/>
            </a:pPr>
            <a:r>
              <a:rPr lang="en-US" sz="1300" b="1" dirty="0">
                <a:solidFill>
                  <a:srgbClr val="3B4E8C"/>
                </a:solidFill>
                <a:latin typeface="Calibri" pitchFamily="34" charset="0"/>
                <a:ea typeface="Calibri" pitchFamily="34" charset="-122"/>
                <a:cs typeface="Calibri" pitchFamily="34" charset="-120"/>
              </a:rPr>
              <a:t>Four reducers, each for a reason</a:t>
            </a:r>
            <a:endParaRPr lang="en-US" sz="1300" dirty="0"/>
          </a:p>
        </p:txBody>
      </p:sp>
      <p:sp>
        <p:nvSpPr>
          <p:cNvPr id="9" name="Text 7"/>
          <p:cNvSpPr txBox="1"/>
          <p:nvPr/>
        </p:nvSpPr>
        <p:spPr>
          <a:xfrm>
            <a:off x="594360" y="4297680"/>
            <a:ext cx="6126480" cy="6858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merge_artifacts — append, dedupe by id, last write wins: the analyst replaces a viz each round.</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merge_worklist — upsert by id, so status can be updated in place.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merge_warnings — accumulate, dedupe, keep 20. Survives the turn; status does not.</a:t>
            </a:r>
            <a:endParaRPr lang="en-US" sz="1050" dirty="0"/>
          </a:p>
        </p:txBody>
      </p:sp>
      <p:sp>
        <p:nvSpPr>
          <p:cNvPr id="10" name="Shape 8"/>
          <p:cNvSpPr/>
          <p:nvPr/>
        </p:nvSpPr>
        <p:spPr>
          <a:xfrm>
            <a:off x="7132320" y="1417320"/>
            <a:ext cx="5056632" cy="384048"/>
          </a:xfrm>
          <a:prstGeom prst="rect">
            <a:avLst/>
          </a:prstGeom>
          <a:solidFill>
            <a:srgbClr val="C0392B"/>
          </a:solidFill>
          <a:ln w="12700">
            <a:solidFill>
              <a:srgbClr val="C0392B"/>
            </a:solidFill>
            <a:prstDash val="solid"/>
          </a:ln>
        </p:spPr>
      </p:sp>
      <p:sp>
        <p:nvSpPr>
          <p:cNvPr id="11" name="Text 9"/>
          <p:cNvSpPr txBox="1"/>
          <p:nvPr/>
        </p:nvSpPr>
        <p:spPr>
          <a:xfrm>
            <a:off x="7223760" y="1417320"/>
            <a:ext cx="493776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finding: a checkpoint is serialized on every turn</a:t>
            </a:r>
            <a:endParaRPr lang="en-US" sz="1300" dirty="0"/>
          </a:p>
        </p:txBody>
      </p:sp>
      <p:sp>
        <p:nvSpPr>
          <p:cNvPr id="12" name="Text 10"/>
          <p:cNvSpPr txBox="1"/>
          <p:nvPr/>
        </p:nvSpPr>
        <p:spPr>
          <a:xfrm>
            <a:off x="7132320" y="1920240"/>
            <a:ext cx="5056632" cy="914400"/>
          </a:xfrm>
          <a:prstGeom prst="rect">
            <a:avLst/>
          </a:prstGeom>
          <a:noFill/>
          <a:ln/>
        </p:spPr>
        <p:txBody>
          <a:bodyPr wrap="square" lIns="0" tIns="0" rIns="0" bIns="0" rtlCol="0" anchor="t"/>
          <a:lstStyle/>
          <a:p>
            <a:pPr indent="0" marL="0">
              <a:buNone/>
            </a:pPr>
            <a:r>
              <a:rPr lang="en-US" sz="1200" dirty="0">
                <a:solidFill>
                  <a:srgbClr val="22303C"/>
                </a:solidFill>
                <a:latin typeface="Calibri" pitchFamily="34" charset="0"/>
                <a:ea typeface="Calibri" pitchFamily="34" charset="-122"/>
                <a:cs typeface="Calibri" pitchFamily="34" charset="-120"/>
              </a:rPr>
              <a:t>First build put fold coordinates in </a:t>
            </a:r>
            <a:pPr indent="0" marL="0">
              <a:buNone/>
            </a:pPr>
            <a:r>
              <a:rPr lang="en-US" sz="1200" dirty="0">
                <a:solidFill>
                  <a:srgbClr val="22303C"/>
                </a:solidFill>
                <a:latin typeface="Consolas" pitchFamily="34" charset="0"/>
                <a:ea typeface="Consolas" pitchFamily="34" charset="-122"/>
                <a:cs typeface="Consolas" pitchFamily="34" charset="-120"/>
              </a:rPr>
              <a:t>pending_results</a:t>
            </a:r>
            <a:pPr indent="0" marL="0">
              <a:buNone/>
            </a:pPr>
            <a:r>
              <a:rPr lang="en-US" sz="1200" dirty="0">
                <a:solidFill>
                  <a:srgbClr val="22303C"/>
                </a:solidFill>
                <a:latin typeface="Calibri" pitchFamily="34" charset="0"/>
                <a:ea typeface="Calibri" pitchFamily="34" charset="-122"/>
                <a:cs typeface="Calibri" pitchFamily="34" charset="-120"/>
              </a:rPr>
              <a:t>. Six PDB files is ~320 KB of checkpoint per turn, and it grows with the ensemble. The orchestrator now writes coordinates to a content-addressed blob and passes a path:</a:t>
            </a:r>
            <a:endParaRPr lang="en-US" sz="1200" dirty="0"/>
          </a:p>
        </p:txBody>
      </p:sp>
      <p:sp>
        <p:nvSpPr>
          <p:cNvPr id="13" name="Shape 11"/>
          <p:cNvSpPr/>
          <p:nvPr/>
        </p:nvSpPr>
        <p:spPr>
          <a:xfrm>
            <a:off x="7132320" y="2880360"/>
            <a:ext cx="5056632" cy="548640"/>
          </a:xfrm>
          <a:prstGeom prst="rect">
            <a:avLst/>
          </a:prstGeom>
          <a:solidFill>
            <a:srgbClr val="16222B"/>
          </a:solidFill>
          <a:ln w="12700">
            <a:solidFill>
              <a:srgbClr val="16222B"/>
            </a:solidFill>
            <a:prstDash val="solid"/>
          </a:ln>
        </p:spPr>
      </p:sp>
      <p:sp>
        <p:nvSpPr>
          <p:cNvPr id="14" name="Text 12"/>
          <p:cNvSpPr txBox="1"/>
          <p:nvPr/>
        </p:nvSpPr>
        <p:spPr>
          <a:xfrm>
            <a:off x="7242048" y="2980944"/>
            <a:ext cx="4837176" cy="347472"/>
          </a:xfrm>
          <a:prstGeom prst="rect">
            <a:avLst/>
          </a:prstGeom>
          <a:noFill/>
          <a:ln/>
        </p:spPr>
        <p:txBody>
          <a:bodyPr wrap="square" lIns="0" tIns="0" rIns="0" bIns="0" rtlCol="0" anchor="t"/>
          <a:lstStyle/>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summary["structure_path"] = deps.history.write_blob(</a:t>
            </a:r>
            <a:endParaRPr lang="en-US" sz="1000" dirty="0"/>
          </a:p>
          <a:p>
            <a:pPr indent="0" marL="0">
              <a:lnSpc>
                <a:spcPts val="1300"/>
              </a:lnSpc>
              <a:buNone/>
            </a:pPr>
            <a:r>
              <a:rPr lang="en-US" sz="1000" dirty="0">
                <a:solidFill>
                  <a:srgbClr val="DCE5EC"/>
                </a:solidFill>
                <a:latin typeface="Consolas" pitchFamily="34" charset="0"/>
                <a:ea typeface="Consolas" pitchFamily="34" charset="-122"/>
                <a:cs typeface="Consolas" pitchFamily="34" charset="-120"/>
              </a:rPr>
              <a:t>    structure, suffix=".pdb", prefix=summary["design_id"])</a:t>
            </a:r>
            <a:endParaRPr lang="en-US" sz="1000" dirty="0"/>
          </a:p>
        </p:txBody>
      </p:sp>
      <p:sp>
        <p:nvSpPr>
          <p:cNvPr id="15" name="Text 13"/>
          <p:cNvSpPr txBox="1"/>
          <p:nvPr/>
        </p:nvSpPr>
        <p:spPr>
          <a:xfrm>
            <a:off x="7132320" y="3456432"/>
            <a:ext cx="5056632"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orchestrator.py:252–256  ·  TRIMMED</a:t>
            </a:r>
            <a:endParaRPr lang="en-US" sz="850" dirty="0"/>
          </a:p>
        </p:txBody>
      </p:sp>
      <p:sp>
        <p:nvSpPr>
          <p:cNvPr id="16" name="Shape 14"/>
          <p:cNvSpPr/>
          <p:nvPr/>
        </p:nvSpPr>
        <p:spPr>
          <a:xfrm>
            <a:off x="7132320" y="3749040"/>
            <a:ext cx="5056632" cy="685800"/>
          </a:xfrm>
          <a:prstGeom prst="rect">
            <a:avLst/>
          </a:prstGeom>
          <a:solidFill>
            <a:srgbClr val="243240"/>
          </a:solidFill>
          <a:ln w="12700">
            <a:solidFill>
              <a:srgbClr val="243240"/>
            </a:solidFill>
            <a:prstDash val="solid"/>
          </a:ln>
        </p:spPr>
      </p:sp>
      <p:sp>
        <p:nvSpPr>
          <p:cNvPr id="17" name="Text 15"/>
          <p:cNvSpPr txBox="1"/>
          <p:nvPr/>
        </p:nvSpPr>
        <p:spPr>
          <a:xfrm>
            <a:off x="7242048" y="3849624"/>
            <a:ext cx="4837176" cy="484632"/>
          </a:xfrm>
          <a:prstGeom prst="rect">
            <a:avLst/>
          </a:prstGeom>
          <a:noFill/>
          <a:ln/>
        </p:spPr>
        <p:txBody>
          <a:bodyPr wrap="square" lIns="0" tIns="0" rIns="0" bIns="0" rtlCol="0" anchor="t"/>
          <a:lstStyle/>
          <a:p>
            <a:pPr indent="0" marL="0">
              <a:lnSpc>
                <a:spcPts val="1272"/>
              </a:lnSpc>
              <a:buNone/>
            </a:pPr>
            <a:r>
              <a:rPr lang="en-US" sz="1000" dirty="0">
                <a:solidFill>
                  <a:srgbClr val="DCE5EC"/>
                </a:solidFill>
                <a:latin typeface="Consolas" pitchFamily="34" charset="0"/>
                <a:ea typeface="Consolas" pitchFamily="34" charset="-122"/>
                <a:cs typeface="Consolas" pitchFamily="34" charset="-120"/>
              </a:rPr>
              <a:t>def test_structures_are_not_carried_in_state(...):</a:t>
            </a:r>
            <a:endParaRPr lang="en-US" sz="1000" dirty="0"/>
          </a:p>
          <a:p>
            <a:pPr indent="0" marL="0">
              <a:lnSpc>
                <a:spcPts val="1272"/>
              </a:lnSpc>
              <a:buNone/>
            </a:pPr>
            <a:r>
              <a:rPr lang="en-US" sz="1000" dirty="0">
                <a:solidFill>
                  <a:srgbClr val="DCE5EC"/>
                </a:solidFill>
                <a:latin typeface="Consolas" pitchFamily="34" charset="0"/>
                <a:ea typeface="Consolas" pitchFamily="34" charset="-122"/>
                <a:cs typeface="Consolas" pitchFamily="34" charset="-120"/>
              </a:rPr>
              <a:t>    blob = json.dumps(jsonable(out), default=str)</a:t>
            </a:r>
            <a:endParaRPr lang="en-US" sz="1000" dirty="0"/>
          </a:p>
          <a:p>
            <a:pPr indent="0" marL="0">
              <a:lnSpc>
                <a:spcPts val="1272"/>
              </a:lnSpc>
              <a:buNone/>
            </a:pPr>
            <a:r>
              <a:rPr lang="en-US" sz="1000" dirty="0">
                <a:solidFill>
                  <a:srgbClr val="DCE5EC"/>
                </a:solidFill>
                <a:latin typeface="Consolas" pitchFamily="34" charset="0"/>
                <a:ea typeface="Consolas" pitchFamily="34" charset="-122"/>
                <a:cs typeface="Consolas" pitchFamily="34" charset="-120"/>
              </a:rPr>
              <a:t>    assert "ATOM  " not in blob</a:t>
            </a:r>
            <a:endParaRPr lang="en-US" sz="1000" dirty="0"/>
          </a:p>
        </p:txBody>
      </p:sp>
      <p:sp>
        <p:nvSpPr>
          <p:cNvPr id="18" name="Text 16"/>
          <p:cNvSpPr txBox="1"/>
          <p:nvPr/>
        </p:nvSpPr>
        <p:spPr>
          <a:xfrm>
            <a:off x="7132320" y="4462272"/>
            <a:ext cx="5056632"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tests/test_graph.py  ·  TRIMMED</a:t>
            </a:r>
            <a:endParaRPr lang="en-US" sz="850" dirty="0"/>
          </a:p>
        </p:txBody>
      </p:sp>
      <p:sp>
        <p:nvSpPr>
          <p:cNvPr id="19" name="Text 17"/>
          <p:cNvSpPr txBox="1"/>
          <p:nvPr/>
        </p:nvSpPr>
        <p:spPr>
          <a:xfrm>
            <a:off x="7132320" y="4572000"/>
            <a:ext cx="5056632" cy="502920"/>
          </a:xfrm>
          <a:prstGeom prst="rect">
            <a:avLst/>
          </a:prstGeom>
          <a:noFill/>
          <a:ln/>
        </p:spPr>
        <p:txBody>
          <a:bodyPr wrap="square" lIns="0" tIns="0" rIns="0" bIns="0" rtlCol="0" anchor="t"/>
          <a:lstStyle/>
          <a:p>
            <a:pPr indent="0" marL="0">
              <a:buNone/>
            </a:pPr>
            <a:r>
              <a:rPr lang="en-US" sz="1150" i="1" dirty="0">
                <a:solidFill>
                  <a:srgbClr val="5E6B75"/>
                </a:solidFill>
                <a:latin typeface="Calibri" pitchFamily="34" charset="0"/>
                <a:ea typeface="Calibri" pitchFamily="34" charset="-122"/>
                <a:cs typeface="Calibri" pitchFamily="34" charset="-120"/>
              </a:rPr>
              <a:t>Pinned by a test, because the regression is invisible: everything still works, just slower every turn.</a:t>
            </a:r>
            <a:endParaRPr lang="en-US" sz="1150" dirty="0"/>
          </a:p>
        </p:txBody>
      </p:sp>
      <p:sp>
        <p:nvSpPr>
          <p:cNvPr id="20" name="Text 18"/>
          <p:cNvSpPr txBox="1"/>
          <p:nvPr/>
        </p:nvSpPr>
        <p:spPr>
          <a:xfrm>
            <a:off x="457200" y="5303520"/>
            <a:ext cx="11247120" cy="54864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Reducers are the only place concurrency shows up in state. </a:t>
            </a:r>
            <a:pPr indent="0" marL="0">
              <a:buNone/>
            </a:pPr>
            <a:r>
              <a:rPr lang="en-US" sz="1300" dirty="0">
                <a:solidFill>
                  <a:srgbClr val="22303C"/>
                </a:solidFill>
                <a:latin typeface="Calibri" pitchFamily="34" charset="0"/>
                <a:ea typeface="Calibri" pitchFamily="34" charset="-122"/>
                <a:cs typeface="Calibri" pitchFamily="34" charset="-120"/>
              </a:rPr>
              <a:t>Nodes run sequentially here, but artifacts and warnings arrive from different nodes in the same turn, and both must accumulate rather than clobber.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DATA FLOW · F3</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One campaign, measured: 37 tasks in 146 seconds</a:t>
            </a:r>
            <a:endParaRPr lang="en-US" sz="2800" dirty="0"/>
          </a:p>
        </p:txBody>
      </p:sp>
      <p:sp>
        <p:nvSpPr>
          <p:cNvPr id="4" name="Shape 2"/>
          <p:cNvSpPr/>
          <p:nvPr/>
        </p:nvSpPr>
        <p:spPr>
          <a:xfrm>
            <a:off x="2226222" y="1796796"/>
            <a:ext cx="32591" cy="84125"/>
          </a:xfrm>
          <a:prstGeom prst="rect">
            <a:avLst/>
          </a:prstGeom>
          <a:solidFill>
            <a:srgbClr val="1E6470"/>
          </a:solidFill>
          <a:ln w="12700">
            <a:solidFill>
              <a:srgbClr val="1E6470"/>
            </a:solidFill>
            <a:prstDash val="solid"/>
          </a:ln>
        </p:spPr>
      </p:sp>
      <p:sp>
        <p:nvSpPr>
          <p:cNvPr id="5" name="Text 3"/>
          <p:cNvSpPr txBox="1"/>
          <p:nvPr/>
        </p:nvSpPr>
        <p:spPr>
          <a:xfrm>
            <a:off x="457200" y="1783080"/>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pdb_lookup</a:t>
            </a:r>
            <a:endParaRPr lang="en-US" sz="700" dirty="0"/>
          </a:p>
        </p:txBody>
      </p:sp>
      <p:sp>
        <p:nvSpPr>
          <p:cNvPr id="6" name="Text 4"/>
          <p:cNvSpPr txBox="1"/>
          <p:nvPr/>
        </p:nvSpPr>
        <p:spPr>
          <a:xfrm>
            <a:off x="2286245" y="1783080"/>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0.5s</a:t>
            </a:r>
            <a:endParaRPr lang="en-US" sz="650" dirty="0"/>
          </a:p>
        </p:txBody>
      </p:sp>
      <p:sp>
        <p:nvSpPr>
          <p:cNvPr id="7" name="Shape 5"/>
          <p:cNvSpPr/>
          <p:nvPr/>
        </p:nvSpPr>
        <p:spPr>
          <a:xfrm>
            <a:off x="2226770" y="1912925"/>
            <a:ext cx="267024" cy="84125"/>
          </a:xfrm>
          <a:prstGeom prst="rect">
            <a:avLst/>
          </a:prstGeom>
          <a:solidFill>
            <a:srgbClr val="1E6470"/>
          </a:solidFill>
          <a:ln w="12700">
            <a:solidFill>
              <a:srgbClr val="1E6470"/>
            </a:solidFill>
            <a:prstDash val="solid"/>
          </a:ln>
        </p:spPr>
      </p:sp>
      <p:sp>
        <p:nvSpPr>
          <p:cNvPr id="8" name="Text 6"/>
          <p:cNvSpPr txBox="1"/>
          <p:nvPr/>
        </p:nvSpPr>
        <p:spPr>
          <a:xfrm>
            <a:off x="457200" y="1899209"/>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uniprot_lookup</a:t>
            </a:r>
            <a:endParaRPr lang="en-US" sz="700" dirty="0"/>
          </a:p>
        </p:txBody>
      </p:sp>
      <p:sp>
        <p:nvSpPr>
          <p:cNvPr id="9" name="Text 7"/>
          <p:cNvSpPr txBox="1"/>
          <p:nvPr/>
        </p:nvSpPr>
        <p:spPr>
          <a:xfrm>
            <a:off x="2521226" y="1899209"/>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3.9s</a:t>
            </a:r>
            <a:endParaRPr lang="en-US" sz="650" dirty="0"/>
          </a:p>
        </p:txBody>
      </p:sp>
      <p:sp>
        <p:nvSpPr>
          <p:cNvPr id="10" name="Shape 8"/>
          <p:cNvSpPr/>
          <p:nvPr/>
        </p:nvSpPr>
        <p:spPr>
          <a:xfrm>
            <a:off x="2496054" y="2029054"/>
            <a:ext cx="34782" cy="84125"/>
          </a:xfrm>
          <a:prstGeom prst="rect">
            <a:avLst/>
          </a:prstGeom>
          <a:solidFill>
            <a:srgbClr val="1E6470"/>
          </a:solidFill>
          <a:ln w="12700">
            <a:solidFill>
              <a:srgbClr val="1E6470"/>
            </a:solidFill>
            <a:prstDash val="solid"/>
          </a:ln>
        </p:spPr>
      </p:sp>
      <p:sp>
        <p:nvSpPr>
          <p:cNvPr id="11" name="Text 9"/>
          <p:cNvSpPr txBox="1"/>
          <p:nvPr/>
        </p:nvSpPr>
        <p:spPr>
          <a:xfrm>
            <a:off x="457200" y="2015338"/>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uniprot_lookup</a:t>
            </a:r>
            <a:endParaRPr lang="en-US" sz="700" dirty="0"/>
          </a:p>
        </p:txBody>
      </p:sp>
      <p:sp>
        <p:nvSpPr>
          <p:cNvPr id="12" name="Text 10"/>
          <p:cNvSpPr txBox="1"/>
          <p:nvPr/>
        </p:nvSpPr>
        <p:spPr>
          <a:xfrm>
            <a:off x="2558267" y="2015338"/>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0.5s</a:t>
            </a:r>
            <a:endParaRPr lang="en-US" sz="650" dirty="0"/>
          </a:p>
        </p:txBody>
      </p:sp>
      <p:sp>
        <p:nvSpPr>
          <p:cNvPr id="13" name="Shape 11"/>
          <p:cNvSpPr/>
          <p:nvPr/>
        </p:nvSpPr>
        <p:spPr>
          <a:xfrm>
            <a:off x="2533232" y="2145182"/>
            <a:ext cx="32004" cy="84125"/>
          </a:xfrm>
          <a:prstGeom prst="rect">
            <a:avLst/>
          </a:prstGeom>
          <a:solidFill>
            <a:srgbClr val="1E6470"/>
          </a:solidFill>
          <a:ln w="12700">
            <a:solidFill>
              <a:srgbClr val="1E6470"/>
            </a:solidFill>
            <a:prstDash val="solid"/>
          </a:ln>
        </p:spPr>
      </p:sp>
      <p:sp>
        <p:nvSpPr>
          <p:cNvPr id="14" name="Text 12"/>
          <p:cNvSpPr txBox="1"/>
          <p:nvPr/>
        </p:nvSpPr>
        <p:spPr>
          <a:xfrm>
            <a:off x="457200" y="2131466"/>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pdb_structure</a:t>
            </a:r>
            <a:endParaRPr lang="en-US" sz="700" dirty="0"/>
          </a:p>
        </p:txBody>
      </p:sp>
      <p:sp>
        <p:nvSpPr>
          <p:cNvPr id="15" name="Text 13"/>
          <p:cNvSpPr txBox="1"/>
          <p:nvPr/>
        </p:nvSpPr>
        <p:spPr>
          <a:xfrm>
            <a:off x="2592668" y="2131466"/>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0.1s</a:t>
            </a:r>
            <a:endParaRPr lang="en-US" sz="650" dirty="0"/>
          </a:p>
        </p:txBody>
      </p:sp>
      <p:sp>
        <p:nvSpPr>
          <p:cNvPr id="16" name="Shape 14"/>
          <p:cNvSpPr/>
          <p:nvPr/>
        </p:nvSpPr>
        <p:spPr>
          <a:xfrm>
            <a:off x="2533848" y="2261311"/>
            <a:ext cx="119271" cy="84125"/>
          </a:xfrm>
          <a:prstGeom prst="rect">
            <a:avLst/>
          </a:prstGeom>
          <a:solidFill>
            <a:srgbClr val="1E6470"/>
          </a:solidFill>
          <a:ln w="12700">
            <a:solidFill>
              <a:srgbClr val="1E6470"/>
            </a:solidFill>
            <a:prstDash val="solid"/>
          </a:ln>
        </p:spPr>
      </p:sp>
      <p:sp>
        <p:nvSpPr>
          <p:cNvPr id="17" name="Text 15"/>
          <p:cNvSpPr txBox="1"/>
          <p:nvPr/>
        </p:nvSpPr>
        <p:spPr>
          <a:xfrm>
            <a:off x="457200" y="2247595"/>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literature_lookup</a:t>
            </a:r>
            <a:endParaRPr lang="en-US" sz="700" dirty="0"/>
          </a:p>
        </p:txBody>
      </p:sp>
      <p:sp>
        <p:nvSpPr>
          <p:cNvPr id="18" name="Text 16"/>
          <p:cNvSpPr txBox="1"/>
          <p:nvPr/>
        </p:nvSpPr>
        <p:spPr>
          <a:xfrm>
            <a:off x="2680551" y="2247595"/>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1.7s</a:t>
            </a:r>
            <a:endParaRPr lang="en-US" sz="650" dirty="0"/>
          </a:p>
        </p:txBody>
      </p:sp>
      <p:sp>
        <p:nvSpPr>
          <p:cNvPr id="19" name="Shape 17"/>
          <p:cNvSpPr/>
          <p:nvPr/>
        </p:nvSpPr>
        <p:spPr>
          <a:xfrm>
            <a:off x="2655994" y="2377440"/>
            <a:ext cx="32004" cy="84125"/>
          </a:xfrm>
          <a:prstGeom prst="rect">
            <a:avLst/>
          </a:prstGeom>
          <a:solidFill>
            <a:srgbClr val="2E7D5B"/>
          </a:solidFill>
          <a:ln w="12700">
            <a:solidFill>
              <a:srgbClr val="2E7D5B"/>
            </a:solidFill>
            <a:prstDash val="solid"/>
          </a:ln>
        </p:spPr>
      </p:sp>
      <p:sp>
        <p:nvSpPr>
          <p:cNvPr id="20" name="Text 18"/>
          <p:cNvSpPr txBox="1"/>
          <p:nvPr/>
        </p:nvSpPr>
        <p:spPr>
          <a:xfrm>
            <a:off x="457200" y="2363724"/>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propose_variants</a:t>
            </a:r>
            <a:endParaRPr lang="en-US" sz="700" dirty="0"/>
          </a:p>
        </p:txBody>
      </p:sp>
      <p:sp>
        <p:nvSpPr>
          <p:cNvPr id="21" name="Text 19"/>
          <p:cNvSpPr txBox="1"/>
          <p:nvPr/>
        </p:nvSpPr>
        <p:spPr>
          <a:xfrm>
            <a:off x="2715430" y="2363724"/>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0.0s</a:t>
            </a:r>
            <a:endParaRPr lang="en-US" sz="650" dirty="0"/>
          </a:p>
        </p:txBody>
      </p:sp>
      <p:sp>
        <p:nvSpPr>
          <p:cNvPr id="22" name="Shape 20"/>
          <p:cNvSpPr/>
          <p:nvPr/>
        </p:nvSpPr>
        <p:spPr>
          <a:xfrm>
            <a:off x="2660445" y="2493569"/>
            <a:ext cx="982512" cy="84125"/>
          </a:xfrm>
          <a:prstGeom prst="rect">
            <a:avLst/>
          </a:prstGeom>
          <a:solidFill>
            <a:srgbClr val="D9731A"/>
          </a:solidFill>
          <a:ln w="12700">
            <a:solidFill>
              <a:srgbClr val="D9731A"/>
            </a:solidFill>
            <a:prstDash val="solid"/>
          </a:ln>
        </p:spPr>
      </p:sp>
      <p:sp>
        <p:nvSpPr>
          <p:cNvPr id="23" name="Text 21"/>
          <p:cNvSpPr txBox="1"/>
          <p:nvPr/>
        </p:nvSpPr>
        <p:spPr>
          <a:xfrm>
            <a:off x="457200" y="2479853"/>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fold_sequence</a:t>
            </a:r>
            <a:endParaRPr lang="en-US" sz="700" dirty="0"/>
          </a:p>
        </p:txBody>
      </p:sp>
      <p:sp>
        <p:nvSpPr>
          <p:cNvPr id="24" name="Text 22"/>
          <p:cNvSpPr txBox="1"/>
          <p:nvPr/>
        </p:nvSpPr>
        <p:spPr>
          <a:xfrm>
            <a:off x="3670389" y="2479853"/>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14.3s</a:t>
            </a:r>
            <a:endParaRPr lang="en-US" sz="650" dirty="0"/>
          </a:p>
        </p:txBody>
      </p:sp>
      <p:sp>
        <p:nvSpPr>
          <p:cNvPr id="25" name="Shape 23"/>
          <p:cNvSpPr/>
          <p:nvPr/>
        </p:nvSpPr>
        <p:spPr>
          <a:xfrm>
            <a:off x="2661061" y="2609698"/>
            <a:ext cx="1223792" cy="84125"/>
          </a:xfrm>
          <a:prstGeom prst="rect">
            <a:avLst/>
          </a:prstGeom>
          <a:solidFill>
            <a:srgbClr val="D9731A"/>
          </a:solidFill>
          <a:ln w="12700">
            <a:solidFill>
              <a:srgbClr val="D9731A"/>
            </a:solidFill>
            <a:prstDash val="solid"/>
          </a:ln>
        </p:spPr>
      </p:sp>
      <p:sp>
        <p:nvSpPr>
          <p:cNvPr id="26" name="Text 24"/>
          <p:cNvSpPr txBox="1"/>
          <p:nvPr/>
        </p:nvSpPr>
        <p:spPr>
          <a:xfrm>
            <a:off x="457200" y="2595982"/>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fold_sequence</a:t>
            </a:r>
            <a:endParaRPr lang="en-US" sz="700" dirty="0"/>
          </a:p>
        </p:txBody>
      </p:sp>
      <p:sp>
        <p:nvSpPr>
          <p:cNvPr id="27" name="Text 25"/>
          <p:cNvSpPr txBox="1"/>
          <p:nvPr/>
        </p:nvSpPr>
        <p:spPr>
          <a:xfrm>
            <a:off x="3912285" y="2595982"/>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17.9s</a:t>
            </a:r>
            <a:endParaRPr lang="en-US" sz="650" dirty="0"/>
          </a:p>
        </p:txBody>
      </p:sp>
      <p:sp>
        <p:nvSpPr>
          <p:cNvPr id="28" name="Shape 26"/>
          <p:cNvSpPr/>
          <p:nvPr/>
        </p:nvSpPr>
        <p:spPr>
          <a:xfrm>
            <a:off x="2661746" y="2725826"/>
            <a:ext cx="1780709" cy="84125"/>
          </a:xfrm>
          <a:prstGeom prst="rect">
            <a:avLst/>
          </a:prstGeom>
          <a:solidFill>
            <a:srgbClr val="D9731A"/>
          </a:solidFill>
          <a:ln w="12700">
            <a:solidFill>
              <a:srgbClr val="D9731A"/>
            </a:solidFill>
            <a:prstDash val="solid"/>
          </a:ln>
        </p:spPr>
      </p:sp>
      <p:sp>
        <p:nvSpPr>
          <p:cNvPr id="29" name="Text 27"/>
          <p:cNvSpPr txBox="1"/>
          <p:nvPr/>
        </p:nvSpPr>
        <p:spPr>
          <a:xfrm>
            <a:off x="457200" y="2712110"/>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fold_sequence</a:t>
            </a:r>
            <a:endParaRPr lang="en-US" sz="700" dirty="0"/>
          </a:p>
        </p:txBody>
      </p:sp>
      <p:sp>
        <p:nvSpPr>
          <p:cNvPr id="30" name="Text 28"/>
          <p:cNvSpPr txBox="1"/>
          <p:nvPr/>
        </p:nvSpPr>
        <p:spPr>
          <a:xfrm>
            <a:off x="4469887" y="2712110"/>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26.0s</a:t>
            </a:r>
            <a:endParaRPr lang="en-US" sz="650" dirty="0"/>
          </a:p>
        </p:txBody>
      </p:sp>
      <p:sp>
        <p:nvSpPr>
          <p:cNvPr id="31" name="Shape 29"/>
          <p:cNvSpPr/>
          <p:nvPr/>
        </p:nvSpPr>
        <p:spPr>
          <a:xfrm>
            <a:off x="2662430" y="2841955"/>
            <a:ext cx="910073" cy="84125"/>
          </a:xfrm>
          <a:prstGeom prst="rect">
            <a:avLst/>
          </a:prstGeom>
          <a:solidFill>
            <a:srgbClr val="D9731A"/>
          </a:solidFill>
          <a:ln w="12700">
            <a:solidFill>
              <a:srgbClr val="D9731A"/>
            </a:solidFill>
            <a:prstDash val="solid"/>
          </a:ln>
        </p:spPr>
      </p:sp>
      <p:sp>
        <p:nvSpPr>
          <p:cNvPr id="32" name="Text 30"/>
          <p:cNvSpPr txBox="1"/>
          <p:nvPr/>
        </p:nvSpPr>
        <p:spPr>
          <a:xfrm>
            <a:off x="457200" y="2828239"/>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fold_sequence</a:t>
            </a:r>
            <a:endParaRPr lang="en-US" sz="700" dirty="0"/>
          </a:p>
        </p:txBody>
      </p:sp>
      <p:sp>
        <p:nvSpPr>
          <p:cNvPr id="33" name="Text 31"/>
          <p:cNvSpPr txBox="1"/>
          <p:nvPr/>
        </p:nvSpPr>
        <p:spPr>
          <a:xfrm>
            <a:off x="3599936" y="2828239"/>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13.3s</a:t>
            </a:r>
            <a:endParaRPr lang="en-US" sz="650" dirty="0"/>
          </a:p>
        </p:txBody>
      </p:sp>
      <p:sp>
        <p:nvSpPr>
          <p:cNvPr id="34" name="Shape 32"/>
          <p:cNvSpPr/>
          <p:nvPr/>
        </p:nvSpPr>
        <p:spPr>
          <a:xfrm>
            <a:off x="2663047" y="2958084"/>
            <a:ext cx="1909771" cy="84125"/>
          </a:xfrm>
          <a:prstGeom prst="rect">
            <a:avLst/>
          </a:prstGeom>
          <a:solidFill>
            <a:srgbClr val="D9731A"/>
          </a:solidFill>
          <a:ln w="12700">
            <a:solidFill>
              <a:srgbClr val="D9731A"/>
            </a:solidFill>
            <a:prstDash val="solid"/>
          </a:ln>
        </p:spPr>
      </p:sp>
      <p:sp>
        <p:nvSpPr>
          <p:cNvPr id="35" name="Text 33"/>
          <p:cNvSpPr txBox="1"/>
          <p:nvPr/>
        </p:nvSpPr>
        <p:spPr>
          <a:xfrm>
            <a:off x="457200" y="2944368"/>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fold_sequence</a:t>
            </a:r>
            <a:endParaRPr lang="en-US" sz="700" dirty="0"/>
          </a:p>
        </p:txBody>
      </p:sp>
      <p:sp>
        <p:nvSpPr>
          <p:cNvPr id="36" name="Text 34"/>
          <p:cNvSpPr txBox="1"/>
          <p:nvPr/>
        </p:nvSpPr>
        <p:spPr>
          <a:xfrm>
            <a:off x="4600249" y="2944368"/>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27.9s</a:t>
            </a:r>
            <a:endParaRPr lang="en-US" sz="650" dirty="0"/>
          </a:p>
        </p:txBody>
      </p:sp>
      <p:sp>
        <p:nvSpPr>
          <p:cNvPr id="37" name="Shape 35"/>
          <p:cNvSpPr/>
          <p:nvPr/>
        </p:nvSpPr>
        <p:spPr>
          <a:xfrm>
            <a:off x="2663526" y="3074213"/>
            <a:ext cx="2169811" cy="84125"/>
          </a:xfrm>
          <a:prstGeom prst="rect">
            <a:avLst/>
          </a:prstGeom>
          <a:solidFill>
            <a:srgbClr val="D9731A"/>
          </a:solidFill>
          <a:ln w="12700">
            <a:solidFill>
              <a:srgbClr val="D9731A"/>
            </a:solidFill>
            <a:prstDash val="solid"/>
          </a:ln>
        </p:spPr>
      </p:sp>
      <p:sp>
        <p:nvSpPr>
          <p:cNvPr id="38" name="Text 36"/>
          <p:cNvSpPr txBox="1"/>
          <p:nvPr/>
        </p:nvSpPr>
        <p:spPr>
          <a:xfrm>
            <a:off x="457200" y="3060497"/>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fold_sequence</a:t>
            </a:r>
            <a:endParaRPr lang="en-US" sz="700" dirty="0"/>
          </a:p>
        </p:txBody>
      </p:sp>
      <p:sp>
        <p:nvSpPr>
          <p:cNvPr id="39" name="Text 37"/>
          <p:cNvSpPr txBox="1"/>
          <p:nvPr/>
        </p:nvSpPr>
        <p:spPr>
          <a:xfrm>
            <a:off x="4860769" y="3060497"/>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31.7s</a:t>
            </a:r>
            <a:endParaRPr lang="en-US" sz="650" dirty="0"/>
          </a:p>
        </p:txBody>
      </p:sp>
      <p:sp>
        <p:nvSpPr>
          <p:cNvPr id="40" name="Shape 38"/>
          <p:cNvSpPr/>
          <p:nvPr/>
        </p:nvSpPr>
        <p:spPr>
          <a:xfrm>
            <a:off x="4836144" y="3190342"/>
            <a:ext cx="32004" cy="84125"/>
          </a:xfrm>
          <a:prstGeom prst="rect">
            <a:avLst/>
          </a:prstGeom>
          <a:solidFill>
            <a:srgbClr val="3B4E8C"/>
          </a:solidFill>
          <a:ln w="12700">
            <a:solidFill>
              <a:srgbClr val="3B4E8C"/>
            </a:solidFill>
            <a:prstDash val="solid"/>
          </a:ln>
        </p:spPr>
      </p:sp>
      <p:sp>
        <p:nvSpPr>
          <p:cNvPr id="41" name="Text 39"/>
          <p:cNvSpPr txBox="1"/>
          <p:nvPr/>
        </p:nvSpPr>
        <p:spPr>
          <a:xfrm>
            <a:off x="457200" y="3176626"/>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score_structure</a:t>
            </a:r>
            <a:endParaRPr lang="en-US" sz="700" dirty="0"/>
          </a:p>
        </p:txBody>
      </p:sp>
      <p:sp>
        <p:nvSpPr>
          <p:cNvPr id="42" name="Text 40"/>
          <p:cNvSpPr txBox="1"/>
          <p:nvPr/>
        </p:nvSpPr>
        <p:spPr>
          <a:xfrm>
            <a:off x="4895580" y="3176626"/>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0.4s</a:t>
            </a:r>
            <a:endParaRPr lang="en-US" sz="650" dirty="0"/>
          </a:p>
        </p:txBody>
      </p:sp>
      <p:sp>
        <p:nvSpPr>
          <p:cNvPr id="43" name="Shape 41"/>
          <p:cNvSpPr/>
          <p:nvPr/>
        </p:nvSpPr>
        <p:spPr>
          <a:xfrm>
            <a:off x="4836761" y="3306470"/>
            <a:ext cx="32004" cy="84125"/>
          </a:xfrm>
          <a:prstGeom prst="rect">
            <a:avLst/>
          </a:prstGeom>
          <a:solidFill>
            <a:srgbClr val="3B4E8C"/>
          </a:solidFill>
          <a:ln w="12700">
            <a:solidFill>
              <a:srgbClr val="3B4E8C"/>
            </a:solidFill>
            <a:prstDash val="solid"/>
          </a:ln>
        </p:spPr>
      </p:sp>
      <p:sp>
        <p:nvSpPr>
          <p:cNvPr id="44" name="Text 42"/>
          <p:cNvSpPr txBox="1"/>
          <p:nvPr/>
        </p:nvSpPr>
        <p:spPr>
          <a:xfrm>
            <a:off x="457200" y="3292754"/>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score_structure</a:t>
            </a:r>
            <a:endParaRPr lang="en-US" sz="700" dirty="0"/>
          </a:p>
        </p:txBody>
      </p:sp>
      <p:sp>
        <p:nvSpPr>
          <p:cNvPr id="45" name="Text 43"/>
          <p:cNvSpPr txBox="1"/>
          <p:nvPr/>
        </p:nvSpPr>
        <p:spPr>
          <a:xfrm>
            <a:off x="4896197" y="3292754"/>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0.4s</a:t>
            </a:r>
            <a:endParaRPr lang="en-US" sz="650" dirty="0"/>
          </a:p>
        </p:txBody>
      </p:sp>
      <p:sp>
        <p:nvSpPr>
          <p:cNvPr id="46" name="Shape 44"/>
          <p:cNvSpPr/>
          <p:nvPr/>
        </p:nvSpPr>
        <p:spPr>
          <a:xfrm>
            <a:off x="4837240" y="3422599"/>
            <a:ext cx="32004" cy="84125"/>
          </a:xfrm>
          <a:prstGeom prst="rect">
            <a:avLst/>
          </a:prstGeom>
          <a:solidFill>
            <a:srgbClr val="3B4E8C"/>
          </a:solidFill>
          <a:ln w="12700">
            <a:solidFill>
              <a:srgbClr val="3B4E8C"/>
            </a:solidFill>
            <a:prstDash val="solid"/>
          </a:ln>
        </p:spPr>
      </p:sp>
      <p:sp>
        <p:nvSpPr>
          <p:cNvPr id="47" name="Text 45"/>
          <p:cNvSpPr txBox="1"/>
          <p:nvPr/>
        </p:nvSpPr>
        <p:spPr>
          <a:xfrm>
            <a:off x="457200" y="3408883"/>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score_structure</a:t>
            </a:r>
            <a:endParaRPr lang="en-US" sz="700" dirty="0"/>
          </a:p>
        </p:txBody>
      </p:sp>
      <p:sp>
        <p:nvSpPr>
          <p:cNvPr id="48" name="Text 46"/>
          <p:cNvSpPr txBox="1"/>
          <p:nvPr/>
        </p:nvSpPr>
        <p:spPr>
          <a:xfrm>
            <a:off x="4896676" y="3408883"/>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0.3s</a:t>
            </a:r>
            <a:endParaRPr lang="en-US" sz="650" dirty="0"/>
          </a:p>
        </p:txBody>
      </p:sp>
      <p:sp>
        <p:nvSpPr>
          <p:cNvPr id="49" name="Shape 47"/>
          <p:cNvSpPr/>
          <p:nvPr/>
        </p:nvSpPr>
        <p:spPr>
          <a:xfrm>
            <a:off x="4837788" y="3538728"/>
            <a:ext cx="32004" cy="84125"/>
          </a:xfrm>
          <a:prstGeom prst="rect">
            <a:avLst/>
          </a:prstGeom>
          <a:solidFill>
            <a:srgbClr val="3B4E8C"/>
          </a:solidFill>
          <a:ln w="12700">
            <a:solidFill>
              <a:srgbClr val="3B4E8C"/>
            </a:solidFill>
            <a:prstDash val="solid"/>
          </a:ln>
        </p:spPr>
      </p:sp>
      <p:sp>
        <p:nvSpPr>
          <p:cNvPr id="50" name="Text 48"/>
          <p:cNvSpPr txBox="1"/>
          <p:nvPr/>
        </p:nvSpPr>
        <p:spPr>
          <a:xfrm>
            <a:off x="457200" y="3525012"/>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score_structure</a:t>
            </a:r>
            <a:endParaRPr lang="en-US" sz="700" dirty="0"/>
          </a:p>
        </p:txBody>
      </p:sp>
      <p:sp>
        <p:nvSpPr>
          <p:cNvPr id="51" name="Text 49"/>
          <p:cNvSpPr txBox="1"/>
          <p:nvPr/>
        </p:nvSpPr>
        <p:spPr>
          <a:xfrm>
            <a:off x="4897224" y="3525012"/>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0.4s</a:t>
            </a:r>
            <a:endParaRPr lang="en-US" sz="650" dirty="0"/>
          </a:p>
        </p:txBody>
      </p:sp>
      <p:sp>
        <p:nvSpPr>
          <p:cNvPr id="52" name="Shape 50"/>
          <p:cNvSpPr/>
          <p:nvPr/>
        </p:nvSpPr>
        <p:spPr>
          <a:xfrm>
            <a:off x="4838198" y="3654857"/>
            <a:ext cx="32004" cy="84125"/>
          </a:xfrm>
          <a:prstGeom prst="rect">
            <a:avLst/>
          </a:prstGeom>
          <a:solidFill>
            <a:srgbClr val="3B4E8C"/>
          </a:solidFill>
          <a:ln w="12700">
            <a:solidFill>
              <a:srgbClr val="3B4E8C"/>
            </a:solidFill>
            <a:prstDash val="solid"/>
          </a:ln>
        </p:spPr>
      </p:sp>
      <p:sp>
        <p:nvSpPr>
          <p:cNvPr id="53" name="Text 51"/>
          <p:cNvSpPr txBox="1"/>
          <p:nvPr/>
        </p:nvSpPr>
        <p:spPr>
          <a:xfrm>
            <a:off x="457200" y="3641141"/>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score_structure</a:t>
            </a:r>
            <a:endParaRPr lang="en-US" sz="700" dirty="0"/>
          </a:p>
        </p:txBody>
      </p:sp>
      <p:sp>
        <p:nvSpPr>
          <p:cNvPr id="54" name="Text 52"/>
          <p:cNvSpPr txBox="1"/>
          <p:nvPr/>
        </p:nvSpPr>
        <p:spPr>
          <a:xfrm>
            <a:off x="4897634" y="3641141"/>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0.4s</a:t>
            </a:r>
            <a:endParaRPr lang="en-US" sz="650" dirty="0"/>
          </a:p>
        </p:txBody>
      </p:sp>
      <p:sp>
        <p:nvSpPr>
          <p:cNvPr id="55" name="Shape 53"/>
          <p:cNvSpPr/>
          <p:nvPr/>
        </p:nvSpPr>
        <p:spPr>
          <a:xfrm>
            <a:off x="4838678" y="3770986"/>
            <a:ext cx="32004" cy="84125"/>
          </a:xfrm>
          <a:prstGeom prst="rect">
            <a:avLst/>
          </a:prstGeom>
          <a:solidFill>
            <a:srgbClr val="3B4E8C"/>
          </a:solidFill>
          <a:ln w="12700">
            <a:solidFill>
              <a:srgbClr val="3B4E8C"/>
            </a:solidFill>
            <a:prstDash val="solid"/>
          </a:ln>
        </p:spPr>
      </p:sp>
      <p:sp>
        <p:nvSpPr>
          <p:cNvPr id="56" name="Text 54"/>
          <p:cNvSpPr txBox="1"/>
          <p:nvPr/>
        </p:nvSpPr>
        <p:spPr>
          <a:xfrm>
            <a:off x="457200" y="3757270"/>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score_structure</a:t>
            </a:r>
            <a:endParaRPr lang="en-US" sz="700" dirty="0"/>
          </a:p>
        </p:txBody>
      </p:sp>
      <p:sp>
        <p:nvSpPr>
          <p:cNvPr id="57" name="Text 55"/>
          <p:cNvSpPr txBox="1"/>
          <p:nvPr/>
        </p:nvSpPr>
        <p:spPr>
          <a:xfrm>
            <a:off x="4898114" y="3757270"/>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0.4s</a:t>
            </a:r>
            <a:endParaRPr lang="en-US" sz="650" dirty="0"/>
          </a:p>
        </p:txBody>
      </p:sp>
      <p:sp>
        <p:nvSpPr>
          <p:cNvPr id="58" name="Shape 56"/>
          <p:cNvSpPr/>
          <p:nvPr/>
        </p:nvSpPr>
        <p:spPr>
          <a:xfrm>
            <a:off x="4874418" y="3887114"/>
            <a:ext cx="32004" cy="84125"/>
          </a:xfrm>
          <a:prstGeom prst="rect">
            <a:avLst/>
          </a:prstGeom>
          <a:solidFill>
            <a:srgbClr val="7A4A8C"/>
          </a:solidFill>
          <a:ln w="12700">
            <a:solidFill>
              <a:srgbClr val="7A4A8C"/>
            </a:solidFill>
            <a:prstDash val="solid"/>
          </a:ln>
        </p:spPr>
      </p:sp>
      <p:sp>
        <p:nvSpPr>
          <p:cNvPr id="59" name="Text 57"/>
          <p:cNvSpPr txBox="1"/>
          <p:nvPr/>
        </p:nvSpPr>
        <p:spPr>
          <a:xfrm>
            <a:off x="457200" y="3873398"/>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generate_visualization</a:t>
            </a:r>
            <a:endParaRPr lang="en-US" sz="700" dirty="0"/>
          </a:p>
        </p:txBody>
      </p:sp>
      <p:sp>
        <p:nvSpPr>
          <p:cNvPr id="60" name="Text 58"/>
          <p:cNvSpPr txBox="1"/>
          <p:nvPr/>
        </p:nvSpPr>
        <p:spPr>
          <a:xfrm>
            <a:off x="4933854" y="3873398"/>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0.0s</a:t>
            </a:r>
            <a:endParaRPr lang="en-US" sz="650" dirty="0"/>
          </a:p>
        </p:txBody>
      </p:sp>
      <p:sp>
        <p:nvSpPr>
          <p:cNvPr id="61" name="Shape 59"/>
          <p:cNvSpPr/>
          <p:nvPr/>
        </p:nvSpPr>
        <p:spPr>
          <a:xfrm>
            <a:off x="4875993" y="4003243"/>
            <a:ext cx="32004" cy="84125"/>
          </a:xfrm>
          <a:prstGeom prst="rect">
            <a:avLst/>
          </a:prstGeom>
          <a:solidFill>
            <a:srgbClr val="2E7D5B"/>
          </a:solidFill>
          <a:ln w="12700">
            <a:solidFill>
              <a:srgbClr val="2E7D5B"/>
            </a:solidFill>
            <a:prstDash val="solid"/>
          </a:ln>
        </p:spPr>
      </p:sp>
      <p:sp>
        <p:nvSpPr>
          <p:cNvPr id="62" name="Text 60"/>
          <p:cNvSpPr txBox="1"/>
          <p:nvPr/>
        </p:nvSpPr>
        <p:spPr>
          <a:xfrm>
            <a:off x="457200" y="3989527"/>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propose_variants</a:t>
            </a:r>
            <a:endParaRPr lang="en-US" sz="700" dirty="0"/>
          </a:p>
        </p:txBody>
      </p:sp>
      <p:sp>
        <p:nvSpPr>
          <p:cNvPr id="63" name="Text 61"/>
          <p:cNvSpPr txBox="1"/>
          <p:nvPr/>
        </p:nvSpPr>
        <p:spPr>
          <a:xfrm>
            <a:off x="4935429" y="3989527"/>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0.0s</a:t>
            </a:r>
            <a:endParaRPr lang="en-US" sz="650" dirty="0"/>
          </a:p>
        </p:txBody>
      </p:sp>
      <p:sp>
        <p:nvSpPr>
          <p:cNvPr id="64" name="Shape 62"/>
          <p:cNvSpPr/>
          <p:nvPr/>
        </p:nvSpPr>
        <p:spPr>
          <a:xfrm>
            <a:off x="4877499" y="4119372"/>
            <a:ext cx="1772835" cy="84125"/>
          </a:xfrm>
          <a:prstGeom prst="rect">
            <a:avLst/>
          </a:prstGeom>
          <a:solidFill>
            <a:srgbClr val="D9731A"/>
          </a:solidFill>
          <a:ln w="12700">
            <a:solidFill>
              <a:srgbClr val="D9731A"/>
            </a:solidFill>
            <a:prstDash val="solid"/>
          </a:ln>
        </p:spPr>
      </p:sp>
      <p:sp>
        <p:nvSpPr>
          <p:cNvPr id="65" name="Text 63"/>
          <p:cNvSpPr txBox="1"/>
          <p:nvPr/>
        </p:nvSpPr>
        <p:spPr>
          <a:xfrm>
            <a:off x="457200" y="4105656"/>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fold_sequence</a:t>
            </a:r>
            <a:endParaRPr lang="en-US" sz="700" dirty="0"/>
          </a:p>
        </p:txBody>
      </p:sp>
      <p:sp>
        <p:nvSpPr>
          <p:cNvPr id="66" name="Text 64"/>
          <p:cNvSpPr txBox="1"/>
          <p:nvPr/>
        </p:nvSpPr>
        <p:spPr>
          <a:xfrm>
            <a:off x="6677766" y="4105656"/>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25.9s</a:t>
            </a:r>
            <a:endParaRPr lang="en-US" sz="650" dirty="0"/>
          </a:p>
        </p:txBody>
      </p:sp>
      <p:sp>
        <p:nvSpPr>
          <p:cNvPr id="67" name="Shape 65"/>
          <p:cNvSpPr/>
          <p:nvPr/>
        </p:nvSpPr>
        <p:spPr>
          <a:xfrm>
            <a:off x="4877978" y="4235501"/>
            <a:ext cx="1765646" cy="84125"/>
          </a:xfrm>
          <a:prstGeom prst="rect">
            <a:avLst/>
          </a:prstGeom>
          <a:solidFill>
            <a:srgbClr val="D9731A"/>
          </a:solidFill>
          <a:ln w="12700">
            <a:solidFill>
              <a:srgbClr val="D9731A"/>
            </a:solidFill>
            <a:prstDash val="solid"/>
          </a:ln>
        </p:spPr>
      </p:sp>
      <p:sp>
        <p:nvSpPr>
          <p:cNvPr id="68" name="Text 66"/>
          <p:cNvSpPr txBox="1"/>
          <p:nvPr/>
        </p:nvSpPr>
        <p:spPr>
          <a:xfrm>
            <a:off x="457200" y="4221785"/>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fold_sequence</a:t>
            </a:r>
            <a:endParaRPr lang="en-US" sz="700" dirty="0"/>
          </a:p>
        </p:txBody>
      </p:sp>
      <p:sp>
        <p:nvSpPr>
          <p:cNvPr id="69" name="Text 67"/>
          <p:cNvSpPr txBox="1"/>
          <p:nvPr/>
        </p:nvSpPr>
        <p:spPr>
          <a:xfrm>
            <a:off x="6671056" y="4221785"/>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25.8s</a:t>
            </a:r>
            <a:endParaRPr lang="en-US" sz="650" dirty="0"/>
          </a:p>
        </p:txBody>
      </p:sp>
      <p:sp>
        <p:nvSpPr>
          <p:cNvPr id="70" name="Shape 68"/>
          <p:cNvSpPr/>
          <p:nvPr/>
        </p:nvSpPr>
        <p:spPr>
          <a:xfrm>
            <a:off x="4878389" y="4351630"/>
            <a:ext cx="902679" cy="84125"/>
          </a:xfrm>
          <a:prstGeom prst="rect">
            <a:avLst/>
          </a:prstGeom>
          <a:solidFill>
            <a:srgbClr val="D9731A"/>
          </a:solidFill>
          <a:ln w="12700">
            <a:solidFill>
              <a:srgbClr val="D9731A"/>
            </a:solidFill>
            <a:prstDash val="solid"/>
          </a:ln>
        </p:spPr>
      </p:sp>
      <p:sp>
        <p:nvSpPr>
          <p:cNvPr id="71" name="Text 69"/>
          <p:cNvSpPr txBox="1"/>
          <p:nvPr/>
        </p:nvSpPr>
        <p:spPr>
          <a:xfrm>
            <a:off x="457200" y="4337914"/>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fold_sequence</a:t>
            </a:r>
            <a:endParaRPr lang="en-US" sz="700" dirty="0"/>
          </a:p>
        </p:txBody>
      </p:sp>
      <p:sp>
        <p:nvSpPr>
          <p:cNvPr id="72" name="Text 70"/>
          <p:cNvSpPr txBox="1"/>
          <p:nvPr/>
        </p:nvSpPr>
        <p:spPr>
          <a:xfrm>
            <a:off x="5808500" y="4337914"/>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13.2s</a:t>
            </a:r>
            <a:endParaRPr lang="en-US" sz="650" dirty="0"/>
          </a:p>
        </p:txBody>
      </p:sp>
      <p:sp>
        <p:nvSpPr>
          <p:cNvPr id="73" name="Shape 71"/>
          <p:cNvSpPr/>
          <p:nvPr/>
        </p:nvSpPr>
        <p:spPr>
          <a:xfrm>
            <a:off x="4878800" y="4467758"/>
            <a:ext cx="906581" cy="84125"/>
          </a:xfrm>
          <a:prstGeom prst="rect">
            <a:avLst/>
          </a:prstGeom>
          <a:solidFill>
            <a:srgbClr val="D9731A"/>
          </a:solidFill>
          <a:ln w="12700">
            <a:solidFill>
              <a:srgbClr val="D9731A"/>
            </a:solidFill>
            <a:prstDash val="solid"/>
          </a:ln>
        </p:spPr>
      </p:sp>
      <p:sp>
        <p:nvSpPr>
          <p:cNvPr id="74" name="Text 72"/>
          <p:cNvSpPr txBox="1"/>
          <p:nvPr/>
        </p:nvSpPr>
        <p:spPr>
          <a:xfrm>
            <a:off x="457200" y="4454042"/>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fold_sequence</a:t>
            </a:r>
            <a:endParaRPr lang="en-US" sz="700" dirty="0"/>
          </a:p>
        </p:txBody>
      </p:sp>
      <p:sp>
        <p:nvSpPr>
          <p:cNvPr id="75" name="Text 73"/>
          <p:cNvSpPr txBox="1"/>
          <p:nvPr/>
        </p:nvSpPr>
        <p:spPr>
          <a:xfrm>
            <a:off x="5812813" y="4454042"/>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13.2s</a:t>
            </a:r>
            <a:endParaRPr lang="en-US" sz="650" dirty="0"/>
          </a:p>
        </p:txBody>
      </p:sp>
      <p:sp>
        <p:nvSpPr>
          <p:cNvPr id="76" name="Shape 74"/>
          <p:cNvSpPr/>
          <p:nvPr/>
        </p:nvSpPr>
        <p:spPr>
          <a:xfrm>
            <a:off x="4879211" y="4583887"/>
            <a:ext cx="2904128" cy="84125"/>
          </a:xfrm>
          <a:prstGeom prst="rect">
            <a:avLst/>
          </a:prstGeom>
          <a:solidFill>
            <a:srgbClr val="D9731A"/>
          </a:solidFill>
          <a:ln w="12700">
            <a:solidFill>
              <a:srgbClr val="D9731A"/>
            </a:solidFill>
            <a:prstDash val="solid"/>
          </a:ln>
        </p:spPr>
      </p:sp>
      <p:sp>
        <p:nvSpPr>
          <p:cNvPr id="77" name="Text 75"/>
          <p:cNvSpPr txBox="1"/>
          <p:nvPr/>
        </p:nvSpPr>
        <p:spPr>
          <a:xfrm>
            <a:off x="457200" y="4570171"/>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fold_sequence</a:t>
            </a:r>
            <a:endParaRPr lang="en-US" sz="700" dirty="0"/>
          </a:p>
        </p:txBody>
      </p:sp>
      <p:sp>
        <p:nvSpPr>
          <p:cNvPr id="78" name="Text 76"/>
          <p:cNvSpPr txBox="1"/>
          <p:nvPr/>
        </p:nvSpPr>
        <p:spPr>
          <a:xfrm>
            <a:off x="7810770" y="4570171"/>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42.4s</a:t>
            </a:r>
            <a:endParaRPr lang="en-US" sz="650" dirty="0"/>
          </a:p>
        </p:txBody>
      </p:sp>
      <p:sp>
        <p:nvSpPr>
          <p:cNvPr id="79" name="Shape 77"/>
          <p:cNvSpPr/>
          <p:nvPr/>
        </p:nvSpPr>
        <p:spPr>
          <a:xfrm>
            <a:off x="4879621" y="4700016"/>
            <a:ext cx="2243962" cy="84125"/>
          </a:xfrm>
          <a:prstGeom prst="rect">
            <a:avLst/>
          </a:prstGeom>
          <a:solidFill>
            <a:srgbClr val="D9731A"/>
          </a:solidFill>
          <a:ln w="12700">
            <a:solidFill>
              <a:srgbClr val="D9731A"/>
            </a:solidFill>
            <a:prstDash val="solid"/>
          </a:ln>
        </p:spPr>
      </p:sp>
      <p:sp>
        <p:nvSpPr>
          <p:cNvPr id="80" name="Text 78"/>
          <p:cNvSpPr txBox="1"/>
          <p:nvPr/>
        </p:nvSpPr>
        <p:spPr>
          <a:xfrm>
            <a:off x="457200" y="4686300"/>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fold_sequence</a:t>
            </a:r>
            <a:endParaRPr lang="en-US" sz="700" dirty="0"/>
          </a:p>
        </p:txBody>
      </p:sp>
      <p:sp>
        <p:nvSpPr>
          <p:cNvPr id="81" name="Text 79"/>
          <p:cNvSpPr txBox="1"/>
          <p:nvPr/>
        </p:nvSpPr>
        <p:spPr>
          <a:xfrm>
            <a:off x="7151015" y="4686300"/>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32.8s</a:t>
            </a:r>
            <a:endParaRPr lang="en-US" sz="650" dirty="0"/>
          </a:p>
        </p:txBody>
      </p:sp>
      <p:sp>
        <p:nvSpPr>
          <p:cNvPr id="82" name="Shape 80"/>
          <p:cNvSpPr/>
          <p:nvPr/>
        </p:nvSpPr>
        <p:spPr>
          <a:xfrm>
            <a:off x="7785529" y="4816145"/>
            <a:ext cx="32004" cy="84125"/>
          </a:xfrm>
          <a:prstGeom prst="rect">
            <a:avLst/>
          </a:prstGeom>
          <a:solidFill>
            <a:srgbClr val="3B4E8C"/>
          </a:solidFill>
          <a:ln w="12700">
            <a:solidFill>
              <a:srgbClr val="3B4E8C"/>
            </a:solidFill>
            <a:prstDash val="solid"/>
          </a:ln>
        </p:spPr>
      </p:sp>
      <p:sp>
        <p:nvSpPr>
          <p:cNvPr id="83" name="Text 81"/>
          <p:cNvSpPr txBox="1"/>
          <p:nvPr/>
        </p:nvSpPr>
        <p:spPr>
          <a:xfrm>
            <a:off x="457200" y="4802429"/>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score_structure</a:t>
            </a:r>
            <a:endParaRPr lang="en-US" sz="700" dirty="0"/>
          </a:p>
        </p:txBody>
      </p:sp>
      <p:sp>
        <p:nvSpPr>
          <p:cNvPr id="84" name="Text 82"/>
          <p:cNvSpPr txBox="1"/>
          <p:nvPr/>
        </p:nvSpPr>
        <p:spPr>
          <a:xfrm>
            <a:off x="7844965" y="4802429"/>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0.1s</a:t>
            </a:r>
            <a:endParaRPr lang="en-US" sz="650" dirty="0"/>
          </a:p>
        </p:txBody>
      </p:sp>
      <p:sp>
        <p:nvSpPr>
          <p:cNvPr id="85" name="Shape 83"/>
          <p:cNvSpPr/>
          <p:nvPr/>
        </p:nvSpPr>
        <p:spPr>
          <a:xfrm>
            <a:off x="7786077" y="4932274"/>
            <a:ext cx="32004" cy="84125"/>
          </a:xfrm>
          <a:prstGeom prst="rect">
            <a:avLst/>
          </a:prstGeom>
          <a:solidFill>
            <a:srgbClr val="3B4E8C"/>
          </a:solidFill>
          <a:ln w="12700">
            <a:solidFill>
              <a:srgbClr val="3B4E8C"/>
            </a:solidFill>
            <a:prstDash val="solid"/>
          </a:ln>
        </p:spPr>
      </p:sp>
      <p:sp>
        <p:nvSpPr>
          <p:cNvPr id="86" name="Text 84"/>
          <p:cNvSpPr txBox="1"/>
          <p:nvPr/>
        </p:nvSpPr>
        <p:spPr>
          <a:xfrm>
            <a:off x="457200" y="4918558"/>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score_structure</a:t>
            </a:r>
            <a:endParaRPr lang="en-US" sz="700" dirty="0"/>
          </a:p>
        </p:txBody>
      </p:sp>
      <p:sp>
        <p:nvSpPr>
          <p:cNvPr id="87" name="Text 85"/>
          <p:cNvSpPr txBox="1"/>
          <p:nvPr/>
        </p:nvSpPr>
        <p:spPr>
          <a:xfrm>
            <a:off x="7845513" y="4918558"/>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0.1s</a:t>
            </a:r>
            <a:endParaRPr lang="en-US" sz="650" dirty="0"/>
          </a:p>
        </p:txBody>
      </p:sp>
      <p:sp>
        <p:nvSpPr>
          <p:cNvPr id="88" name="Shape 86"/>
          <p:cNvSpPr/>
          <p:nvPr/>
        </p:nvSpPr>
        <p:spPr>
          <a:xfrm>
            <a:off x="7786556" y="5048402"/>
            <a:ext cx="32004" cy="84125"/>
          </a:xfrm>
          <a:prstGeom prst="rect">
            <a:avLst/>
          </a:prstGeom>
          <a:solidFill>
            <a:srgbClr val="3B4E8C"/>
          </a:solidFill>
          <a:ln w="12700">
            <a:solidFill>
              <a:srgbClr val="3B4E8C"/>
            </a:solidFill>
            <a:prstDash val="solid"/>
          </a:ln>
        </p:spPr>
      </p:sp>
      <p:sp>
        <p:nvSpPr>
          <p:cNvPr id="89" name="Text 87"/>
          <p:cNvSpPr txBox="1"/>
          <p:nvPr/>
        </p:nvSpPr>
        <p:spPr>
          <a:xfrm>
            <a:off x="457200" y="5034686"/>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score_structure</a:t>
            </a:r>
            <a:endParaRPr lang="en-US" sz="700" dirty="0"/>
          </a:p>
        </p:txBody>
      </p:sp>
      <p:sp>
        <p:nvSpPr>
          <p:cNvPr id="90" name="Text 88"/>
          <p:cNvSpPr txBox="1"/>
          <p:nvPr/>
        </p:nvSpPr>
        <p:spPr>
          <a:xfrm>
            <a:off x="7845992" y="5034686"/>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0.1s</a:t>
            </a:r>
            <a:endParaRPr lang="en-US" sz="650" dirty="0"/>
          </a:p>
        </p:txBody>
      </p:sp>
      <p:sp>
        <p:nvSpPr>
          <p:cNvPr id="91" name="Shape 89"/>
          <p:cNvSpPr/>
          <p:nvPr/>
        </p:nvSpPr>
        <p:spPr>
          <a:xfrm>
            <a:off x="7787104" y="5164531"/>
            <a:ext cx="32004" cy="84125"/>
          </a:xfrm>
          <a:prstGeom prst="rect">
            <a:avLst/>
          </a:prstGeom>
          <a:solidFill>
            <a:srgbClr val="3B4E8C"/>
          </a:solidFill>
          <a:ln w="12700">
            <a:solidFill>
              <a:srgbClr val="3B4E8C"/>
            </a:solidFill>
            <a:prstDash val="solid"/>
          </a:ln>
        </p:spPr>
      </p:sp>
      <p:sp>
        <p:nvSpPr>
          <p:cNvPr id="92" name="Text 90"/>
          <p:cNvSpPr txBox="1"/>
          <p:nvPr/>
        </p:nvSpPr>
        <p:spPr>
          <a:xfrm>
            <a:off x="457200" y="5150815"/>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score_structure</a:t>
            </a:r>
            <a:endParaRPr lang="en-US" sz="700" dirty="0"/>
          </a:p>
        </p:txBody>
      </p:sp>
      <p:sp>
        <p:nvSpPr>
          <p:cNvPr id="93" name="Text 91"/>
          <p:cNvSpPr txBox="1"/>
          <p:nvPr/>
        </p:nvSpPr>
        <p:spPr>
          <a:xfrm>
            <a:off x="7846540" y="5150815"/>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0.1s</a:t>
            </a:r>
            <a:endParaRPr lang="en-US" sz="650" dirty="0"/>
          </a:p>
        </p:txBody>
      </p:sp>
      <p:sp>
        <p:nvSpPr>
          <p:cNvPr id="94" name="Shape 92"/>
          <p:cNvSpPr/>
          <p:nvPr/>
        </p:nvSpPr>
        <p:spPr>
          <a:xfrm>
            <a:off x="7787652" y="5280660"/>
            <a:ext cx="32004" cy="84125"/>
          </a:xfrm>
          <a:prstGeom prst="rect">
            <a:avLst/>
          </a:prstGeom>
          <a:solidFill>
            <a:srgbClr val="3B4E8C"/>
          </a:solidFill>
          <a:ln w="12700">
            <a:solidFill>
              <a:srgbClr val="3B4E8C"/>
            </a:solidFill>
            <a:prstDash val="solid"/>
          </a:ln>
        </p:spPr>
      </p:sp>
      <p:sp>
        <p:nvSpPr>
          <p:cNvPr id="95" name="Text 93"/>
          <p:cNvSpPr txBox="1"/>
          <p:nvPr/>
        </p:nvSpPr>
        <p:spPr>
          <a:xfrm>
            <a:off x="457200" y="5266944"/>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score_structure</a:t>
            </a:r>
            <a:endParaRPr lang="en-US" sz="700" dirty="0"/>
          </a:p>
        </p:txBody>
      </p:sp>
      <p:sp>
        <p:nvSpPr>
          <p:cNvPr id="96" name="Text 94"/>
          <p:cNvSpPr txBox="1"/>
          <p:nvPr/>
        </p:nvSpPr>
        <p:spPr>
          <a:xfrm>
            <a:off x="7847088" y="5266944"/>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0.2s</a:t>
            </a:r>
            <a:endParaRPr lang="en-US" sz="650" dirty="0"/>
          </a:p>
        </p:txBody>
      </p:sp>
      <p:sp>
        <p:nvSpPr>
          <p:cNvPr id="97" name="Shape 95"/>
          <p:cNvSpPr/>
          <p:nvPr/>
        </p:nvSpPr>
        <p:spPr>
          <a:xfrm>
            <a:off x="7804700" y="5396789"/>
            <a:ext cx="32004" cy="84125"/>
          </a:xfrm>
          <a:prstGeom prst="rect">
            <a:avLst/>
          </a:prstGeom>
          <a:solidFill>
            <a:srgbClr val="3B4E8C"/>
          </a:solidFill>
          <a:ln w="12700">
            <a:solidFill>
              <a:srgbClr val="3B4E8C"/>
            </a:solidFill>
            <a:prstDash val="solid"/>
          </a:ln>
        </p:spPr>
      </p:sp>
      <p:sp>
        <p:nvSpPr>
          <p:cNvPr id="98" name="Text 96"/>
          <p:cNvSpPr txBox="1"/>
          <p:nvPr/>
        </p:nvSpPr>
        <p:spPr>
          <a:xfrm>
            <a:off x="457200" y="5383073"/>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score_sequences</a:t>
            </a:r>
            <a:endParaRPr lang="en-US" sz="700" dirty="0"/>
          </a:p>
        </p:txBody>
      </p:sp>
      <p:sp>
        <p:nvSpPr>
          <p:cNvPr id="99" name="Text 97"/>
          <p:cNvSpPr txBox="1"/>
          <p:nvPr/>
        </p:nvSpPr>
        <p:spPr>
          <a:xfrm>
            <a:off x="7864136" y="5383073"/>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0.0s</a:t>
            </a:r>
            <a:endParaRPr lang="en-US" sz="650" dirty="0"/>
          </a:p>
        </p:txBody>
      </p:sp>
      <p:sp>
        <p:nvSpPr>
          <p:cNvPr id="100" name="Shape 98"/>
          <p:cNvSpPr/>
          <p:nvPr/>
        </p:nvSpPr>
        <p:spPr>
          <a:xfrm>
            <a:off x="7817435" y="5512918"/>
            <a:ext cx="32004" cy="84125"/>
          </a:xfrm>
          <a:prstGeom prst="rect">
            <a:avLst/>
          </a:prstGeom>
          <a:solidFill>
            <a:srgbClr val="7A4A8C"/>
          </a:solidFill>
          <a:ln w="12700">
            <a:solidFill>
              <a:srgbClr val="7A4A8C"/>
            </a:solidFill>
            <a:prstDash val="solid"/>
          </a:ln>
        </p:spPr>
      </p:sp>
      <p:sp>
        <p:nvSpPr>
          <p:cNvPr id="101" name="Text 99"/>
          <p:cNvSpPr txBox="1"/>
          <p:nvPr/>
        </p:nvSpPr>
        <p:spPr>
          <a:xfrm>
            <a:off x="457200" y="5499202"/>
            <a:ext cx="1389888" cy="116129"/>
          </a:xfrm>
          <a:prstGeom prst="rect">
            <a:avLst/>
          </a:prstGeom>
          <a:noFill/>
          <a:ln/>
        </p:spPr>
        <p:txBody>
          <a:bodyPr wrap="square" lIns="0" tIns="0" rIns="0" bIns="0" rtlCol="0" anchor="ctr"/>
          <a:lstStyle/>
          <a:p>
            <a:pPr algn="r" indent="0" marL="0">
              <a:buNone/>
            </a:pPr>
            <a:r>
              <a:rPr lang="en-US" sz="700" dirty="0">
                <a:solidFill>
                  <a:srgbClr val="5E6B75"/>
                </a:solidFill>
                <a:latin typeface="Consolas" pitchFamily="34" charset="0"/>
                <a:ea typeface="Consolas" pitchFamily="34" charset="-122"/>
                <a:cs typeface="Consolas" pitchFamily="34" charset="-120"/>
              </a:rPr>
              <a:t>generate_visualization</a:t>
            </a:r>
            <a:endParaRPr lang="en-US" sz="700" dirty="0"/>
          </a:p>
        </p:txBody>
      </p:sp>
      <p:sp>
        <p:nvSpPr>
          <p:cNvPr id="102" name="Text 100"/>
          <p:cNvSpPr txBox="1"/>
          <p:nvPr/>
        </p:nvSpPr>
        <p:spPr>
          <a:xfrm>
            <a:off x="7876871" y="5499202"/>
            <a:ext cx="411480" cy="116129"/>
          </a:xfrm>
          <a:prstGeom prst="rect">
            <a:avLst/>
          </a:prstGeom>
          <a:noFill/>
          <a:ln/>
        </p:spPr>
        <p:txBody>
          <a:bodyPr wrap="square" lIns="0" tIns="0" rIns="0" bIns="0" rtlCol="0" anchor="ctr"/>
          <a:lstStyle/>
          <a:p>
            <a:pPr indent="0" marL="0">
              <a:buNone/>
            </a:pPr>
            <a:r>
              <a:rPr lang="en-US" sz="650" dirty="0">
                <a:solidFill>
                  <a:srgbClr val="5E6B75"/>
                </a:solidFill>
                <a:latin typeface="Calibri" pitchFamily="34" charset="0"/>
                <a:ea typeface="Calibri" pitchFamily="34" charset="-122"/>
                <a:cs typeface="Calibri" pitchFamily="34" charset="-120"/>
              </a:rPr>
              <a:t>0.0s</a:t>
            </a:r>
            <a:endParaRPr lang="en-US" sz="650" dirty="0"/>
          </a:p>
        </p:txBody>
      </p:sp>
      <p:sp>
        <p:nvSpPr>
          <p:cNvPr id="103" name="Shape 101"/>
          <p:cNvSpPr/>
          <p:nvPr/>
        </p:nvSpPr>
        <p:spPr>
          <a:xfrm>
            <a:off x="1920240" y="5670194"/>
            <a:ext cx="5897880" cy="91"/>
          </a:xfrm>
          <a:prstGeom prst="line">
            <a:avLst/>
          </a:prstGeom>
          <a:noFill/>
          <a:ln w="12700">
            <a:solidFill>
              <a:srgbClr val="C9D1D8"/>
            </a:solidFill>
            <a:prstDash val="solid"/>
          </a:ln>
        </p:spPr>
      </p:sp>
      <p:sp>
        <p:nvSpPr>
          <p:cNvPr id="104" name="Shape 102"/>
          <p:cNvSpPr/>
          <p:nvPr/>
        </p:nvSpPr>
        <p:spPr>
          <a:xfrm>
            <a:off x="1920240" y="5670194"/>
            <a:ext cx="91" cy="64008"/>
          </a:xfrm>
          <a:prstGeom prst="line">
            <a:avLst/>
          </a:prstGeom>
          <a:noFill/>
          <a:ln w="12700">
            <a:solidFill>
              <a:srgbClr val="C9D1D8"/>
            </a:solidFill>
            <a:prstDash val="solid"/>
          </a:ln>
        </p:spPr>
      </p:sp>
      <p:sp>
        <p:nvSpPr>
          <p:cNvPr id="105" name="Text 103"/>
          <p:cNvSpPr txBox="1"/>
          <p:nvPr/>
        </p:nvSpPr>
        <p:spPr>
          <a:xfrm>
            <a:off x="1691640" y="5743346"/>
            <a:ext cx="45720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alibri" pitchFamily="34" charset="0"/>
                <a:ea typeface="Calibri" pitchFamily="34" charset="-122"/>
                <a:cs typeface="Calibri" pitchFamily="34" charset="-120"/>
              </a:rPr>
              <a:t>0s</a:t>
            </a:r>
            <a:endParaRPr lang="en-US" sz="1050" dirty="0"/>
          </a:p>
        </p:txBody>
      </p:sp>
      <p:sp>
        <p:nvSpPr>
          <p:cNvPr id="106" name="Shape 104"/>
          <p:cNvSpPr/>
          <p:nvPr/>
        </p:nvSpPr>
        <p:spPr>
          <a:xfrm>
            <a:off x="3289595" y="5670194"/>
            <a:ext cx="91" cy="64008"/>
          </a:xfrm>
          <a:prstGeom prst="line">
            <a:avLst/>
          </a:prstGeom>
          <a:noFill/>
          <a:ln w="12700">
            <a:solidFill>
              <a:srgbClr val="C9D1D8"/>
            </a:solidFill>
            <a:prstDash val="solid"/>
          </a:ln>
        </p:spPr>
      </p:sp>
      <p:sp>
        <p:nvSpPr>
          <p:cNvPr id="107" name="Text 105"/>
          <p:cNvSpPr txBox="1"/>
          <p:nvPr/>
        </p:nvSpPr>
        <p:spPr>
          <a:xfrm>
            <a:off x="3060995" y="5743346"/>
            <a:ext cx="45720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alibri" pitchFamily="34" charset="0"/>
                <a:ea typeface="Calibri" pitchFamily="34" charset="-122"/>
                <a:cs typeface="Calibri" pitchFamily="34" charset="-120"/>
              </a:rPr>
              <a:t>20s</a:t>
            </a:r>
            <a:endParaRPr lang="en-US" sz="1050" dirty="0"/>
          </a:p>
        </p:txBody>
      </p:sp>
      <p:sp>
        <p:nvSpPr>
          <p:cNvPr id="108" name="Shape 106"/>
          <p:cNvSpPr/>
          <p:nvPr/>
        </p:nvSpPr>
        <p:spPr>
          <a:xfrm>
            <a:off x="4658950" y="5670194"/>
            <a:ext cx="91" cy="64008"/>
          </a:xfrm>
          <a:prstGeom prst="line">
            <a:avLst/>
          </a:prstGeom>
          <a:noFill/>
          <a:ln w="12700">
            <a:solidFill>
              <a:srgbClr val="C9D1D8"/>
            </a:solidFill>
            <a:prstDash val="solid"/>
          </a:ln>
        </p:spPr>
      </p:sp>
      <p:sp>
        <p:nvSpPr>
          <p:cNvPr id="109" name="Text 107"/>
          <p:cNvSpPr txBox="1"/>
          <p:nvPr/>
        </p:nvSpPr>
        <p:spPr>
          <a:xfrm>
            <a:off x="4430350" y="5743346"/>
            <a:ext cx="45720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alibri" pitchFamily="34" charset="0"/>
                <a:ea typeface="Calibri" pitchFamily="34" charset="-122"/>
                <a:cs typeface="Calibri" pitchFamily="34" charset="-120"/>
              </a:rPr>
              <a:t>40s</a:t>
            </a:r>
            <a:endParaRPr lang="en-US" sz="1050" dirty="0"/>
          </a:p>
        </p:txBody>
      </p:sp>
      <p:sp>
        <p:nvSpPr>
          <p:cNvPr id="110" name="Shape 108"/>
          <p:cNvSpPr/>
          <p:nvPr/>
        </p:nvSpPr>
        <p:spPr>
          <a:xfrm>
            <a:off x="6028305" y="5670194"/>
            <a:ext cx="91" cy="64008"/>
          </a:xfrm>
          <a:prstGeom prst="line">
            <a:avLst/>
          </a:prstGeom>
          <a:noFill/>
          <a:ln w="12700">
            <a:solidFill>
              <a:srgbClr val="C9D1D8"/>
            </a:solidFill>
            <a:prstDash val="solid"/>
          </a:ln>
        </p:spPr>
      </p:sp>
      <p:sp>
        <p:nvSpPr>
          <p:cNvPr id="111" name="Text 109"/>
          <p:cNvSpPr txBox="1"/>
          <p:nvPr/>
        </p:nvSpPr>
        <p:spPr>
          <a:xfrm>
            <a:off x="5799705" y="5743346"/>
            <a:ext cx="45720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alibri" pitchFamily="34" charset="0"/>
                <a:ea typeface="Calibri" pitchFamily="34" charset="-122"/>
                <a:cs typeface="Calibri" pitchFamily="34" charset="-120"/>
              </a:rPr>
              <a:t>60s</a:t>
            </a:r>
            <a:endParaRPr lang="en-US" sz="1050" dirty="0"/>
          </a:p>
        </p:txBody>
      </p:sp>
      <p:sp>
        <p:nvSpPr>
          <p:cNvPr id="112" name="Shape 110"/>
          <p:cNvSpPr/>
          <p:nvPr/>
        </p:nvSpPr>
        <p:spPr>
          <a:xfrm>
            <a:off x="7397660" y="5670194"/>
            <a:ext cx="91" cy="64008"/>
          </a:xfrm>
          <a:prstGeom prst="line">
            <a:avLst/>
          </a:prstGeom>
          <a:noFill/>
          <a:ln w="12700">
            <a:solidFill>
              <a:srgbClr val="C9D1D8"/>
            </a:solidFill>
            <a:prstDash val="solid"/>
          </a:ln>
        </p:spPr>
      </p:sp>
      <p:sp>
        <p:nvSpPr>
          <p:cNvPr id="113" name="Text 111"/>
          <p:cNvSpPr txBox="1"/>
          <p:nvPr/>
        </p:nvSpPr>
        <p:spPr>
          <a:xfrm>
            <a:off x="7169060" y="5743346"/>
            <a:ext cx="457200" cy="237744"/>
          </a:xfrm>
          <a:prstGeom prst="rect">
            <a:avLst/>
          </a:prstGeom>
          <a:noFill/>
          <a:ln/>
        </p:spPr>
        <p:txBody>
          <a:bodyPr wrap="square" lIns="0" tIns="0" rIns="0" bIns="0" rtlCol="0" anchor="ctr"/>
          <a:lstStyle/>
          <a:p>
            <a:pPr algn="ctr" indent="0" marL="0">
              <a:buNone/>
            </a:pPr>
            <a:r>
              <a:rPr lang="en-US" sz="1050" dirty="0">
                <a:solidFill>
                  <a:srgbClr val="5E6B75"/>
                </a:solidFill>
                <a:latin typeface="Calibri" pitchFamily="34" charset="0"/>
                <a:ea typeface="Calibri" pitchFamily="34" charset="-122"/>
                <a:cs typeface="Calibri" pitchFamily="34" charset="-120"/>
              </a:rPr>
              <a:t>80s</a:t>
            </a:r>
            <a:endParaRPr lang="en-US" sz="1050" dirty="0"/>
          </a:p>
        </p:txBody>
      </p:sp>
      <p:sp>
        <p:nvSpPr>
          <p:cNvPr id="114" name="Shape 112"/>
          <p:cNvSpPr/>
          <p:nvPr/>
        </p:nvSpPr>
        <p:spPr>
          <a:xfrm>
            <a:off x="2652845" y="1581912"/>
            <a:ext cx="2184121" cy="164592"/>
          </a:xfrm>
          <a:prstGeom prst="rect">
            <a:avLst/>
          </a:prstGeom>
          <a:solidFill>
            <a:srgbClr val="EEF2F5"/>
          </a:solidFill>
          <a:ln w="12700">
            <a:solidFill>
              <a:srgbClr val="C9D1D8"/>
            </a:solidFill>
            <a:prstDash val="solid"/>
          </a:ln>
        </p:spPr>
      </p:sp>
      <p:sp>
        <p:nvSpPr>
          <p:cNvPr id="115" name="Text 113"/>
          <p:cNvSpPr txBox="1"/>
          <p:nvPr/>
        </p:nvSpPr>
        <p:spPr>
          <a:xfrm>
            <a:off x="2652845" y="1581912"/>
            <a:ext cx="2184121" cy="164592"/>
          </a:xfrm>
          <a:prstGeom prst="rect">
            <a:avLst/>
          </a:prstGeom>
          <a:noFill/>
          <a:ln/>
        </p:spPr>
        <p:txBody>
          <a:bodyPr wrap="square" lIns="0" tIns="0" rIns="0" bIns="0" rtlCol="0" anchor="ctr"/>
          <a:lstStyle/>
          <a:p>
            <a:pPr algn="ctr" indent="0" marL="0">
              <a:buNone/>
            </a:pPr>
            <a:r>
              <a:rPr lang="en-US" sz="850" b="1" dirty="0">
                <a:solidFill>
                  <a:srgbClr val="22303C"/>
                </a:solidFill>
                <a:latin typeface="Calibri" pitchFamily="34" charset="0"/>
                <a:ea typeface="Calibri" pitchFamily="34" charset="-122"/>
                <a:cs typeface="Calibri" pitchFamily="34" charset="-120"/>
              </a:rPr>
              <a:t>round 1</a:t>
            </a:r>
            <a:endParaRPr lang="en-US" sz="850" dirty="0"/>
          </a:p>
        </p:txBody>
      </p:sp>
      <p:sp>
        <p:nvSpPr>
          <p:cNvPr id="116" name="Shape 114"/>
          <p:cNvSpPr/>
          <p:nvPr/>
        </p:nvSpPr>
        <p:spPr>
          <a:xfrm>
            <a:off x="4878047" y="1581912"/>
            <a:ext cx="2930419" cy="164592"/>
          </a:xfrm>
          <a:prstGeom prst="rect">
            <a:avLst/>
          </a:prstGeom>
          <a:solidFill>
            <a:srgbClr val="EEF2F5"/>
          </a:solidFill>
          <a:ln w="12700">
            <a:solidFill>
              <a:srgbClr val="C9D1D8"/>
            </a:solidFill>
            <a:prstDash val="solid"/>
          </a:ln>
        </p:spPr>
      </p:sp>
      <p:sp>
        <p:nvSpPr>
          <p:cNvPr id="117" name="Text 115"/>
          <p:cNvSpPr txBox="1"/>
          <p:nvPr/>
        </p:nvSpPr>
        <p:spPr>
          <a:xfrm>
            <a:off x="4878047" y="1581912"/>
            <a:ext cx="2930419" cy="164592"/>
          </a:xfrm>
          <a:prstGeom prst="rect">
            <a:avLst/>
          </a:prstGeom>
          <a:noFill/>
          <a:ln/>
        </p:spPr>
        <p:txBody>
          <a:bodyPr wrap="square" lIns="0" tIns="0" rIns="0" bIns="0" rtlCol="0" anchor="ctr"/>
          <a:lstStyle/>
          <a:p>
            <a:pPr algn="ctr" indent="0" marL="0">
              <a:buNone/>
            </a:pPr>
            <a:r>
              <a:rPr lang="en-US" sz="850" b="1" dirty="0">
                <a:solidFill>
                  <a:srgbClr val="22303C"/>
                </a:solidFill>
                <a:latin typeface="Calibri" pitchFamily="34" charset="0"/>
                <a:ea typeface="Calibri" pitchFamily="34" charset="-122"/>
                <a:cs typeface="Calibri" pitchFamily="34" charset="-120"/>
              </a:rPr>
              <a:t>round 2</a:t>
            </a:r>
            <a:endParaRPr lang="en-US" sz="850" dirty="0"/>
          </a:p>
        </p:txBody>
      </p:sp>
      <p:sp>
        <p:nvSpPr>
          <p:cNvPr id="118" name="Shape 116"/>
          <p:cNvSpPr/>
          <p:nvPr/>
        </p:nvSpPr>
        <p:spPr>
          <a:xfrm>
            <a:off x="8321040" y="1572768"/>
            <a:ext cx="3413455" cy="1417320"/>
          </a:xfrm>
          <a:prstGeom prst="rect">
            <a:avLst/>
          </a:prstGeom>
          <a:solidFill>
            <a:srgbClr val="FCEBDD"/>
          </a:solidFill>
          <a:ln w="12700">
            <a:solidFill>
              <a:srgbClr val="FCEBDD"/>
            </a:solidFill>
            <a:prstDash val="solid"/>
          </a:ln>
        </p:spPr>
      </p:sp>
      <p:sp>
        <p:nvSpPr>
          <p:cNvPr id="119" name="Text 117"/>
          <p:cNvSpPr txBox="1"/>
          <p:nvPr/>
        </p:nvSpPr>
        <p:spPr>
          <a:xfrm>
            <a:off x="8458200" y="1664208"/>
            <a:ext cx="3139135" cy="274320"/>
          </a:xfrm>
          <a:prstGeom prst="rect">
            <a:avLst/>
          </a:prstGeom>
          <a:noFill/>
          <a:ln/>
        </p:spPr>
        <p:txBody>
          <a:bodyPr wrap="square" lIns="0" tIns="0" rIns="0" bIns="0" rtlCol="0" anchor="t"/>
          <a:lstStyle/>
          <a:p>
            <a:pPr indent="0" marL="0">
              <a:buNone/>
            </a:pPr>
            <a:r>
              <a:rPr lang="en-US" sz="1300" b="1" dirty="0">
                <a:solidFill>
                  <a:srgbClr val="D9731A"/>
                </a:solidFill>
                <a:latin typeface="Calibri" pitchFamily="34" charset="0"/>
                <a:ea typeface="Calibri" pitchFamily="34" charset="-122"/>
                <a:cs typeface="Calibri" pitchFamily="34" charset="-120"/>
              </a:rPr>
              <a:t>Read the fold rows</a:t>
            </a:r>
            <a:endParaRPr lang="en-US" sz="1300" dirty="0"/>
          </a:p>
        </p:txBody>
      </p:sp>
      <p:sp>
        <p:nvSpPr>
          <p:cNvPr id="120" name="Text 118"/>
          <p:cNvSpPr txBox="1"/>
          <p:nvPr/>
        </p:nvSpPr>
        <p:spPr>
          <a:xfrm>
            <a:off x="8458200" y="1984248"/>
            <a:ext cx="3139135" cy="9144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Six submitted in the same instant, finishing 13.3 s to 31.7 s later — out of order, as they land.</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Round 2 ran 13.2 s to 42.4 s. flowgentic's 30 s default timeout would have killed half of them.</a:t>
            </a:r>
            <a:endParaRPr lang="en-US" sz="1050" dirty="0"/>
          </a:p>
        </p:txBody>
      </p:sp>
      <p:sp>
        <p:nvSpPr>
          <p:cNvPr id="121" name="Shape 119"/>
          <p:cNvSpPr/>
          <p:nvPr/>
        </p:nvSpPr>
        <p:spPr>
          <a:xfrm>
            <a:off x="8321040" y="3127248"/>
            <a:ext cx="3413455" cy="1234440"/>
          </a:xfrm>
          <a:prstGeom prst="rect">
            <a:avLst/>
          </a:prstGeom>
          <a:solidFill>
            <a:srgbClr val="E3F0F1"/>
          </a:solidFill>
          <a:ln w="12700">
            <a:solidFill>
              <a:srgbClr val="E3F0F1"/>
            </a:solidFill>
            <a:prstDash val="solid"/>
          </a:ln>
        </p:spPr>
      </p:sp>
      <p:sp>
        <p:nvSpPr>
          <p:cNvPr id="122" name="Text 120"/>
          <p:cNvSpPr txBox="1"/>
          <p:nvPr/>
        </p:nvSpPr>
        <p:spPr>
          <a:xfrm>
            <a:off x="8458200" y="3218688"/>
            <a:ext cx="3139135" cy="274320"/>
          </a:xfrm>
          <a:prstGeom prst="rect">
            <a:avLst/>
          </a:prstGeom>
          <a:noFill/>
          <a:ln/>
        </p:spPr>
        <p:txBody>
          <a:bodyPr wrap="square" lIns="0" tIns="0" rIns="0" bIns="0" rtlCol="0" anchor="t"/>
          <a:lstStyle/>
          <a:p>
            <a:pPr indent="0" marL="0">
              <a:buNone/>
            </a:pPr>
            <a:r>
              <a:rPr lang="en-US" sz="1300" b="1" dirty="0">
                <a:solidFill>
                  <a:srgbClr val="1E6470"/>
                </a:solidFill>
                <a:latin typeface="Calibri" pitchFamily="34" charset="0"/>
                <a:ea typeface="Calibri" pitchFamily="34" charset="-122"/>
                <a:cs typeface="Calibri" pitchFamily="34" charset="-120"/>
              </a:rPr>
              <a:t>Read the lookup rows</a:t>
            </a:r>
            <a:endParaRPr lang="en-US" sz="1300" dirty="0"/>
          </a:p>
        </p:txBody>
      </p:sp>
      <p:sp>
        <p:nvSpPr>
          <p:cNvPr id="123" name="Text 121"/>
          <p:cNvSpPr txBox="1"/>
          <p:nvPr/>
        </p:nvSpPr>
        <p:spPr>
          <a:xfrm>
            <a:off x="8458200" y="3538728"/>
            <a:ext cx="3139135" cy="7315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pdb_lookup and uniprot_lookup go out together; a cross-reference follow-up resolves second.</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Then structure download and literature, also concurrent.</a:t>
            </a:r>
            <a:endParaRPr lang="en-US" sz="1050" dirty="0"/>
          </a:p>
        </p:txBody>
      </p:sp>
      <p:sp>
        <p:nvSpPr>
          <p:cNvPr id="124" name="Shape 122"/>
          <p:cNvSpPr/>
          <p:nvPr/>
        </p:nvSpPr>
        <p:spPr>
          <a:xfrm>
            <a:off x="8321040" y="4498848"/>
            <a:ext cx="3413455" cy="1600200"/>
          </a:xfrm>
          <a:prstGeom prst="rect">
            <a:avLst/>
          </a:prstGeom>
          <a:solidFill>
            <a:srgbClr val="F9E0DD"/>
          </a:solidFill>
          <a:ln w="12700">
            <a:solidFill>
              <a:srgbClr val="F9E0DD"/>
            </a:solidFill>
            <a:prstDash val="solid"/>
          </a:ln>
        </p:spPr>
      </p:sp>
      <p:sp>
        <p:nvSpPr>
          <p:cNvPr id="125" name="Text 123"/>
          <p:cNvSpPr txBox="1"/>
          <p:nvPr/>
        </p:nvSpPr>
        <p:spPr>
          <a:xfrm>
            <a:off x="8458200" y="4590288"/>
            <a:ext cx="3139135"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And one real failure</a:t>
            </a:r>
            <a:endParaRPr lang="en-US" sz="1300" dirty="0"/>
          </a:p>
        </p:txBody>
      </p:sp>
      <p:sp>
        <p:nvSpPr>
          <p:cNvPr id="126" name="Text 124"/>
          <p:cNvSpPr txBox="1"/>
          <p:nvPr/>
        </p:nvSpPr>
        <p:spPr>
          <a:xfrm>
            <a:off x="8458200" y="4910328"/>
            <a:ext cx="3139135" cy="10972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ESM Atlas dropped one of round 2's six folds: "s-tutp87hw-r2-5: ESM Atlas returned no structure".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That design survived as a sequence-only entry with 4 metrics; the round scored the other 5 and the user got a warning.</a:t>
            </a:r>
            <a:endParaRPr lang="en-US" sz="1050" dirty="0"/>
          </a:p>
        </p:txBody>
      </p:sp>
      <p:sp>
        <p:nvSpPr>
          <p:cNvPr id="127" name="Text 125"/>
          <p:cNvSpPr txBox="1"/>
          <p:nvPr/>
        </p:nvSpPr>
        <p:spPr>
          <a:xfrm>
            <a:off x="457200" y="6473952"/>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Drawn from run.json — the Task nodes of tier 1, with their recorded submit and finish times. Nothing here is illustrative.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THE SEAM · 1 OF 3</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 The Task Interface contract</a:t>
            </a:r>
            <a:endParaRPr lang="en-US" sz="2800" dirty="0"/>
          </a:p>
        </p:txBody>
      </p:sp>
      <p:sp>
        <p:nvSpPr>
          <p:cNvPr id="4" name="Shape 2"/>
          <p:cNvSpPr/>
          <p:nvPr/>
        </p:nvSpPr>
        <p:spPr>
          <a:xfrm>
            <a:off x="457200" y="1417320"/>
            <a:ext cx="5029200" cy="1920240"/>
          </a:xfrm>
          <a:prstGeom prst="rect">
            <a:avLst/>
          </a:prstGeom>
          <a:solidFill>
            <a:srgbClr val="16222B"/>
          </a:solidFill>
          <a:ln w="12700">
            <a:solidFill>
              <a:srgbClr val="16222B"/>
            </a:solidFill>
            <a:prstDash val="solid"/>
          </a:ln>
        </p:spPr>
      </p:sp>
      <p:sp>
        <p:nvSpPr>
          <p:cNvPr id="5" name="Text 3"/>
          <p:cNvSpPr txBox="1"/>
          <p:nvPr/>
        </p:nvSpPr>
        <p:spPr>
          <a:xfrm>
            <a:off x="566928" y="1517904"/>
            <a:ext cx="4809744" cy="1719072"/>
          </a:xfrm>
          <a:prstGeom prst="rect">
            <a:avLst/>
          </a:prstGeom>
          <a:noFill/>
          <a:ln/>
        </p:spPr>
        <p:txBody>
          <a:bodyPr wrap="square" lIns="0" tIns="0" rIns="0" bIns="0" rtlCol="0" anchor="t"/>
          <a:lstStyle/>
          <a:p>
            <a:pPr indent="0" marL="0">
              <a:lnSpc>
                <a:spcPts val="1041"/>
              </a:lnSpc>
              <a:buNone/>
            </a:pPr>
            <a:r>
              <a:rPr lang="en-US" sz="833" dirty="0">
                <a:solidFill>
                  <a:srgbClr val="DCE5EC"/>
                </a:solidFill>
                <a:latin typeface="Consolas" pitchFamily="34" charset="0"/>
                <a:ea typeface="Consolas" pitchFamily="34" charset="-122"/>
                <a:cs typeface="Consolas" pitchFamily="34" charset="-120"/>
              </a:rPr>
              <a:t>class TaskInterface(ABC):</a:t>
            </a:r>
            <a:endParaRPr lang="en-US" sz="833" dirty="0"/>
          </a:p>
          <a:p>
            <a:pPr indent="0" marL="0">
              <a:lnSpc>
                <a:spcPts val="1041"/>
              </a:lnSpc>
              <a:buNone/>
            </a:pPr>
            <a:r>
              <a:rPr lang="en-US" sz="833" dirty="0">
                <a:solidFill>
                  <a:srgbClr val="DCE5EC"/>
                </a:solidFill>
                <a:latin typeface="Consolas" pitchFamily="34" charset="0"/>
                <a:ea typeface="Consolas" pitchFamily="34" charset="-122"/>
                <a:cs typeface="Consolas" pitchFamily="34" charset="-120"/>
              </a:rPr>
              <a:t>    name: str = "base"</a:t>
            </a:r>
            <a:endParaRPr lang="en-US" sz="833" dirty="0"/>
          </a:p>
          <a:p>
            <a:pPr indent="0" marL="0">
              <a:lnSpc>
                <a:spcPts val="1041"/>
              </a:lnSpc>
              <a:buNone/>
            </a:pPr>
            <a:r>
              <a:rPr lang="en-US" sz="833" dirty="0">
                <a:solidFill>
                  <a:srgbClr val="DCE5EC"/>
                </a:solidFill>
                <a:latin typeface="Consolas" pitchFamily="34" charset="0"/>
                <a:ea typeface="Consolas" pitchFamily="34" charset="-122"/>
                <a:cs typeface="Consolas" pitchFamily="34" charset="-120"/>
              </a:rPr>
              <a:t>    capabilities: Capabilities = Capabilities()</a:t>
            </a:r>
            <a:endParaRPr lang="en-US" sz="833" dirty="0"/>
          </a:p>
          <a:p>
            <a:pPr indent="0" marL="0">
              <a:lnSpc>
                <a:spcPts val="1041"/>
              </a:lnSpc>
              <a:buNone/>
            </a:pPr>
            <a:endParaRPr lang="en-US" sz="833" dirty="0"/>
          </a:p>
          <a:p>
            <a:pPr indent="0" marL="0">
              <a:lnSpc>
                <a:spcPts val="1041"/>
              </a:lnSpc>
              <a:buNone/>
            </a:pPr>
            <a:r>
              <a:rPr lang="en-US" sz="833" dirty="0">
                <a:solidFill>
                  <a:srgbClr val="DCE5EC"/>
                </a:solidFill>
                <a:latin typeface="Consolas" pitchFamily="34" charset="0"/>
                <a:ea typeface="Consolas" pitchFamily="34" charset="-122"/>
                <a:cs typeface="Consolas" pitchFamily="34" charset="-120"/>
              </a:rPr>
              <a:t>    @abstractmethod</a:t>
            </a:r>
            <a:endParaRPr lang="en-US" sz="833" dirty="0"/>
          </a:p>
          <a:p>
            <a:pPr indent="0" marL="0">
              <a:lnSpc>
                <a:spcPts val="1041"/>
              </a:lnSpc>
              <a:buNone/>
            </a:pPr>
            <a:r>
              <a:rPr lang="en-US" sz="833" dirty="0">
                <a:solidFill>
                  <a:srgbClr val="DCE5EC"/>
                </a:solidFill>
                <a:latin typeface="Consolas" pitchFamily="34" charset="0"/>
                <a:ea typeface="Consolas" pitchFamily="34" charset="-122"/>
                <a:cs typeface="Consolas" pitchFamily="34" charset="-120"/>
              </a:rPr>
              <a:t>    async def submit(self, spec: TaskSpec) -&gt; TaskHandle:</a:t>
            </a:r>
            <a:endParaRPr lang="en-US" sz="833" dirty="0"/>
          </a:p>
          <a:p>
            <a:pPr indent="0" marL="0">
              <a:lnSpc>
                <a:spcPts val="1041"/>
              </a:lnSpc>
              <a:buNone/>
            </a:pPr>
            <a:r>
              <a:rPr lang="en-US" sz="833" dirty="0">
                <a:solidFill>
                  <a:srgbClr val="DCE5EC"/>
                </a:solidFill>
                <a:latin typeface="Consolas" pitchFamily="34" charset="0"/>
                <a:ea typeface="Consolas" pitchFamily="34" charset="-122"/>
                <a:cs typeface="Consolas" pitchFamily="34" charset="-120"/>
              </a:rPr>
              <a:t>        """Place the task and return immediately."""</a:t>
            </a:r>
            <a:endParaRPr lang="en-US" sz="833" dirty="0"/>
          </a:p>
          <a:p>
            <a:pPr indent="0" marL="0">
              <a:lnSpc>
                <a:spcPts val="1041"/>
              </a:lnSpc>
              <a:buNone/>
            </a:pPr>
            <a:endParaRPr lang="en-US" sz="833" dirty="0"/>
          </a:p>
          <a:p>
            <a:pPr indent="0" marL="0">
              <a:lnSpc>
                <a:spcPts val="1041"/>
              </a:lnSpc>
              <a:buNone/>
            </a:pPr>
            <a:r>
              <a:rPr lang="en-US" sz="833" dirty="0">
                <a:solidFill>
                  <a:srgbClr val="DCE5EC"/>
                </a:solidFill>
                <a:latin typeface="Consolas" pitchFamily="34" charset="0"/>
                <a:ea typeface="Consolas" pitchFamily="34" charset="-122"/>
                <a:cs typeface="Consolas" pitchFamily="34" charset="-120"/>
              </a:rPr>
              <a:t>    async def status(self, handle)  -&gt; TaskState</a:t>
            </a:r>
            <a:endParaRPr lang="en-US" sz="833" dirty="0"/>
          </a:p>
          <a:p>
            <a:pPr indent="0" marL="0">
              <a:lnSpc>
                <a:spcPts val="1041"/>
              </a:lnSpc>
              <a:buNone/>
            </a:pPr>
            <a:r>
              <a:rPr lang="en-US" sz="833" dirty="0">
                <a:solidFill>
                  <a:srgbClr val="DCE5EC"/>
                </a:solidFill>
                <a:latin typeface="Consolas" pitchFamily="34" charset="0"/>
                <a:ea typeface="Consolas" pitchFamily="34" charset="-122"/>
                <a:cs typeface="Consolas" pitchFamily="34" charset="-120"/>
              </a:rPr>
              <a:t>    async def logs(self, handle, offset=0) -&gt; LogChunk</a:t>
            </a:r>
            <a:endParaRPr lang="en-US" sz="833" dirty="0"/>
          </a:p>
          <a:p>
            <a:pPr indent="0" marL="0">
              <a:lnSpc>
                <a:spcPts val="1041"/>
              </a:lnSpc>
              <a:buNone/>
            </a:pPr>
            <a:r>
              <a:rPr lang="en-US" sz="833" dirty="0">
                <a:solidFill>
                  <a:srgbClr val="DCE5EC"/>
                </a:solidFill>
                <a:latin typeface="Consolas" pitchFamily="34" charset="0"/>
                <a:ea typeface="Consolas" pitchFamily="34" charset="-122"/>
                <a:cs typeface="Consolas" pitchFamily="34" charset="-120"/>
              </a:rPr>
              <a:t>    async def result(self, handle)  -&gt; Any</a:t>
            </a:r>
            <a:endParaRPr lang="en-US" sz="833" dirty="0"/>
          </a:p>
          <a:p>
            <a:pPr indent="0" marL="0">
              <a:lnSpc>
                <a:spcPts val="1041"/>
              </a:lnSpc>
              <a:buNone/>
            </a:pPr>
            <a:r>
              <a:rPr lang="en-US" sz="833" dirty="0">
                <a:solidFill>
                  <a:srgbClr val="DCE5EC"/>
                </a:solidFill>
                <a:latin typeface="Consolas" pitchFamily="34" charset="0"/>
                <a:ea typeface="Consolas" pitchFamily="34" charset="-122"/>
                <a:cs typeface="Consolas" pitchFamily="34" charset="-120"/>
              </a:rPr>
              <a:t>    async def cancel(self, handle)  -&gt; bool</a:t>
            </a:r>
            <a:endParaRPr lang="en-US" sz="833" dirty="0"/>
          </a:p>
          <a:p>
            <a:pPr indent="0" marL="0">
              <a:lnSpc>
                <a:spcPts val="1041"/>
              </a:lnSpc>
              <a:buNone/>
            </a:pPr>
            <a:r>
              <a:rPr lang="en-US" sz="833" dirty="0">
                <a:solidFill>
                  <a:srgbClr val="DCE5EC"/>
                </a:solidFill>
                <a:latin typeface="Consolas" pitchFamily="34" charset="0"/>
                <a:ea typeface="Consolas" pitchFamily="34" charset="-122"/>
                <a:cs typeface="Consolas" pitchFamily="34" charset="-120"/>
              </a:rPr>
              <a:t>    async def close(self)           -&gt; None</a:t>
            </a:r>
            <a:endParaRPr lang="en-US" sz="833" dirty="0"/>
          </a:p>
        </p:txBody>
      </p:sp>
      <p:sp>
        <p:nvSpPr>
          <p:cNvPr id="6" name="Text 4"/>
          <p:cNvSpPr txBox="1"/>
          <p:nvPr/>
        </p:nvSpPr>
        <p:spPr>
          <a:xfrm>
            <a:off x="457200" y="3364992"/>
            <a:ext cx="5029200"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tasks/base.py:135–173  ·  TRIMMED</a:t>
            </a:r>
            <a:endParaRPr lang="en-US" sz="850" dirty="0"/>
          </a:p>
        </p:txBody>
      </p:sp>
      <p:sp>
        <p:nvSpPr>
          <p:cNvPr id="7" name="Shape 5"/>
          <p:cNvSpPr/>
          <p:nvPr/>
        </p:nvSpPr>
        <p:spPr>
          <a:xfrm>
            <a:off x="457200" y="3520440"/>
            <a:ext cx="5029200" cy="1005840"/>
          </a:xfrm>
          <a:prstGeom prst="rect">
            <a:avLst/>
          </a:prstGeom>
          <a:solidFill>
            <a:srgbClr val="16222B"/>
          </a:solidFill>
          <a:ln w="12700">
            <a:solidFill>
              <a:srgbClr val="16222B"/>
            </a:solidFill>
            <a:prstDash val="solid"/>
          </a:ln>
        </p:spPr>
      </p:sp>
      <p:sp>
        <p:nvSpPr>
          <p:cNvPr id="8" name="Text 6"/>
          <p:cNvSpPr txBox="1"/>
          <p:nvPr/>
        </p:nvSpPr>
        <p:spPr>
          <a:xfrm>
            <a:off x="566928" y="3621024"/>
            <a:ext cx="4809744" cy="804672"/>
          </a:xfrm>
          <a:prstGeom prst="rect">
            <a:avLst/>
          </a:prstGeom>
          <a:noFill/>
          <a:ln/>
        </p:spPr>
        <p:txBody>
          <a:bodyPr wrap="square" lIns="0" tIns="0" rIns="0" bIns="0" rtlCol="0" anchor="t"/>
          <a:lstStyle/>
          <a:p>
            <a:pPr indent="0" marL="0">
              <a:lnSpc>
                <a:spcPts val="1056"/>
              </a:lnSpc>
              <a:buNone/>
            </a:pPr>
            <a:r>
              <a:rPr lang="en-US" sz="845" dirty="0">
                <a:solidFill>
                  <a:srgbClr val="DCE5EC"/>
                </a:solidFill>
                <a:latin typeface="Consolas" pitchFamily="34" charset="0"/>
                <a:ea typeface="Consolas" pitchFamily="34" charset="-122"/>
                <a:cs typeface="Consolas" pitchFamily="34" charset="-120"/>
              </a:rPr>
              <a:t>@dataclass(frozen=True)</a:t>
            </a:r>
            <a:endParaRPr lang="en-US" sz="845" dirty="0"/>
          </a:p>
          <a:p>
            <a:pPr indent="0" marL="0">
              <a:lnSpc>
                <a:spcPts val="1056"/>
              </a:lnSpc>
              <a:buNone/>
            </a:pPr>
            <a:r>
              <a:rPr lang="en-US" sz="845" dirty="0">
                <a:solidFill>
                  <a:srgbClr val="DCE5EC"/>
                </a:solidFill>
                <a:latin typeface="Consolas" pitchFamily="34" charset="0"/>
                <a:ea typeface="Consolas" pitchFamily="34" charset="-122"/>
                <a:cs typeface="Consolas" pitchFamily="34" charset="-120"/>
              </a:rPr>
              <a:t>class Capabilities:</a:t>
            </a:r>
            <a:endParaRPr lang="en-US" sz="845" dirty="0"/>
          </a:p>
          <a:p>
            <a:pPr indent="0" marL="0">
              <a:lnSpc>
                <a:spcPts val="1056"/>
              </a:lnSpc>
              <a:buNone/>
            </a:pPr>
            <a:r>
              <a:rPr lang="en-US" sz="845" dirty="0">
                <a:solidFill>
                  <a:srgbClr val="DCE5EC"/>
                </a:solidFill>
                <a:latin typeface="Consolas" pitchFamily="34" charset="0"/>
                <a:ea typeface="Consolas" pitchFamily="34" charset="-122"/>
                <a:cs typeface="Consolas" pitchFamily="34" charset="-120"/>
              </a:rPr>
              <a:t>    supports_cancel:      bool = False</a:t>
            </a:r>
            <a:endParaRPr lang="en-US" sz="845" dirty="0"/>
          </a:p>
          <a:p>
            <a:pPr indent="0" marL="0">
              <a:lnSpc>
                <a:spcPts val="1056"/>
              </a:lnSpc>
              <a:buNone/>
            </a:pPr>
            <a:r>
              <a:rPr lang="en-US" sz="845" dirty="0">
                <a:solidFill>
                  <a:srgbClr val="DCE5EC"/>
                </a:solidFill>
                <a:latin typeface="Consolas" pitchFamily="34" charset="0"/>
                <a:ea typeface="Consolas" pitchFamily="34" charset="-122"/>
                <a:cs typeface="Consolas" pitchFamily="34" charset="-120"/>
              </a:rPr>
              <a:t>    supports_log_stream:  bool = False</a:t>
            </a:r>
            <a:endParaRPr lang="en-US" sz="845" dirty="0"/>
          </a:p>
          <a:p>
            <a:pPr indent="0" marL="0">
              <a:lnSpc>
                <a:spcPts val="1056"/>
              </a:lnSpc>
              <a:buNone/>
            </a:pPr>
            <a:r>
              <a:rPr lang="en-US" sz="845" dirty="0">
                <a:solidFill>
                  <a:srgbClr val="DCE5EC"/>
                </a:solidFill>
                <a:latin typeface="Consolas" pitchFamily="34" charset="0"/>
                <a:ea typeface="Consolas" pitchFamily="34" charset="-122"/>
                <a:cs typeface="Consolas" pitchFamily="34" charset="-120"/>
              </a:rPr>
              <a:t>    supports_push_events: bool = False</a:t>
            </a:r>
            <a:endParaRPr lang="en-US" sz="845" dirty="0"/>
          </a:p>
          <a:p>
            <a:pPr indent="0" marL="0">
              <a:lnSpc>
                <a:spcPts val="1056"/>
              </a:lnSpc>
              <a:buNone/>
            </a:pPr>
            <a:r>
              <a:rPr lang="en-US" sz="845" dirty="0">
                <a:solidFill>
                  <a:srgbClr val="DCE5EC"/>
                </a:solidFill>
                <a:latin typeface="Consolas" pitchFamily="34" charset="0"/>
                <a:ea typeface="Consolas" pitchFamily="34" charset="-122"/>
                <a:cs typeface="Consolas" pitchFamily="34" charset="-120"/>
              </a:rPr>
              <a:t>    supports_staging:     bool = False</a:t>
            </a:r>
            <a:endParaRPr lang="en-US" sz="845" dirty="0"/>
          </a:p>
        </p:txBody>
      </p:sp>
      <p:sp>
        <p:nvSpPr>
          <p:cNvPr id="9" name="Text 7"/>
          <p:cNvSpPr txBox="1"/>
          <p:nvPr/>
        </p:nvSpPr>
        <p:spPr>
          <a:xfrm>
            <a:off x="457200" y="4553712"/>
            <a:ext cx="5029200"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tasks/base.py:62–67  ·  VERBATIM</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852160" y="1417320"/>
          <a:ext cx="5879592" cy="914400"/>
        </p:xfrm>
        <a:graphic>
          <a:graphicData uri="http://schemas.openxmlformats.org/drawingml/2006/table">
            <a:tbl>
              <a:tblPr/>
              <a:tblGrid>
                <a:gridCol w="914400"/>
                <a:gridCol w="2523744"/>
                <a:gridCol w="610362"/>
                <a:gridCol w="610362"/>
                <a:gridCol w="610362"/>
                <a:gridCol w="610362"/>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interface</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it is</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cancel</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logs</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push</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stage</a:t>
                      </a:r>
                      <a:endParaRPr lang="en-US" sz="9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274320">
                <a:tc>
                  <a:txBody>
                    <a:bodyPr/>
                    <a:lstStyle/>
                    <a:p>
                      <a:pPr algn="l" indent="0" marL="0">
                        <a:buNone/>
                      </a:pPr>
                      <a:r>
                        <a:rPr lang="en-US" sz="1050" b="1" dirty="0">
                          <a:solidFill>
                            <a:srgbClr val="22303C"/>
                          </a:solidFill>
                          <a:latin typeface="Consolas" pitchFamily="34" charset="0"/>
                          <a:ea typeface="Consolas" pitchFamily="34" charset="-122"/>
                          <a:cs typeface="Consolas" pitchFamily="34" charset="-120"/>
                        </a:rPr>
                        <a:t>local</a:t>
                      </a:r>
                      <a:endParaRPr lang="en-US" sz="105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app-local compute, rhapsody pool</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50" dirty="0">
                          <a:solidFill>
                            <a:srgbClr val="2E7D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1050" b="1" dirty="0">
                          <a:solidFill>
                            <a:srgbClr val="22303C"/>
                          </a:solidFill>
                          <a:latin typeface="Consolas" pitchFamily="34" charset="0"/>
                          <a:ea typeface="Consolas" pitchFamily="34" charset="-122"/>
                          <a:cs typeface="Consolas" pitchFamily="34" charset="-120"/>
                        </a:rPr>
                        <a:t>query</a:t>
                      </a:r>
                      <a:endParaRPr lang="en-US" sz="105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REST retrieval, on the loop</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E7D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22303C"/>
                          </a:solidFill>
                          <a:latin typeface="Consolas" pitchFamily="34" charset="0"/>
                          <a:ea typeface="Consolas" pitchFamily="34" charset="-122"/>
                          <a:cs typeface="Consolas" pitchFamily="34" charset="-120"/>
                        </a:rPr>
                        <a:t>orbit</a:t>
                      </a:r>
                      <a:endParaRPr lang="en-US" sz="105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Rhapsody tasks + PSI/J jobs</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50" dirty="0">
                          <a:solidFill>
                            <a:srgbClr val="2E7D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50" dirty="0">
                          <a:solidFill>
                            <a:srgbClr val="2E7D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50" dirty="0">
                          <a:solidFill>
                            <a:srgbClr val="2E7D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050" dirty="0">
                          <a:solidFill>
                            <a:srgbClr val="2E7D4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274320">
                <a:tc>
                  <a:txBody>
                    <a:bodyPr/>
                    <a:lstStyle/>
                    <a:p>
                      <a:pPr algn="l" indent="0" marL="0">
                        <a:buNone/>
                      </a:pPr>
                      <a:r>
                        <a:rPr lang="en-US" sz="1050" b="1" dirty="0">
                          <a:solidFill>
                            <a:srgbClr val="22303C"/>
                          </a:solidFill>
                          <a:latin typeface="Consolas" pitchFamily="34" charset="0"/>
                          <a:ea typeface="Consolas" pitchFamily="34" charset="-122"/>
                          <a:cs typeface="Consolas" pitchFamily="34" charset="-120"/>
                        </a:rPr>
                        <a:t>globus</a:t>
                      </a:r>
                      <a:endParaRPr lang="en-US" sz="1050" dirty="0">
                        <a:latin typeface="Consolas" charset="0"/>
                        <a:ea typeface="Consolas" charset="0"/>
                        <a:cs typeface="Consolas"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303C"/>
                          </a:solidFill>
                          <a:latin typeface="Calibri" pitchFamily="34" charset="0"/>
                          <a:ea typeface="Calibri" pitchFamily="34" charset="-122"/>
                          <a:cs typeface="Calibri" pitchFamily="34" charset="-120"/>
                        </a:rPr>
                        <a:t>Globus Compute (hpc-bridge)</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D9731A"/>
                          </a:solidFill>
                          <a:latin typeface="Calibri" pitchFamily="34" charset="0"/>
                          <a:ea typeface="Calibri" pitchFamily="34" charset="-122"/>
                          <a:cs typeface="Calibri" pitchFamily="34" charset="-120"/>
                        </a:rPr>
                        <a:t>part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230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5852160" y="2999232"/>
            <a:ext cx="6336792" cy="548640"/>
          </a:xfrm>
          <a:prstGeom prst="rect">
            <a:avLst/>
          </a:prstGeom>
          <a:noFill/>
          <a:ln/>
        </p:spPr>
        <p:txBody>
          <a:bodyPr wrap="square" lIns="0" tIns="0" rIns="0" bIns="0" rtlCol="0" anchor="t"/>
          <a:lstStyle/>
          <a:p>
            <a:pPr indent="0" marL="0">
              <a:buNone/>
            </a:pPr>
            <a:r>
              <a:rPr lang="en-US" sz="1150" dirty="0">
                <a:solidFill>
                  <a:srgbClr val="22303C"/>
                </a:solidFill>
                <a:latin typeface="Calibri" pitchFamily="34" charset="0"/>
                <a:ea typeface="Calibri" pitchFamily="34" charset="-122"/>
                <a:cs typeface="Calibri" pitchFamily="34" charset="-120"/>
              </a:rPr>
              <a:t>The flags are the honest part. An interface that cannot tail logs says so, and the manager simply does not start a drain for it — no caller has to know which backend it got.</a:t>
            </a:r>
            <a:endParaRPr lang="en-US" sz="1150" dirty="0"/>
          </a:p>
        </p:txBody>
      </p:sp>
      <p:sp>
        <p:nvSpPr>
          <p:cNvPr id="12" name="Shape 9"/>
          <p:cNvSpPr/>
          <p:nvPr/>
        </p:nvSpPr>
        <p:spPr>
          <a:xfrm>
            <a:off x="5852160" y="3703320"/>
            <a:ext cx="6336792" cy="1371600"/>
          </a:xfrm>
          <a:prstGeom prst="rect">
            <a:avLst/>
          </a:prstGeom>
          <a:solidFill>
            <a:srgbClr val="16222B"/>
          </a:solidFill>
          <a:ln w="12700">
            <a:solidFill>
              <a:srgbClr val="16222B"/>
            </a:solidFill>
            <a:prstDash val="solid"/>
          </a:ln>
        </p:spPr>
      </p:sp>
      <p:sp>
        <p:nvSpPr>
          <p:cNvPr id="13" name="Text 10"/>
          <p:cNvSpPr txBox="1"/>
          <p:nvPr/>
        </p:nvSpPr>
        <p:spPr>
          <a:xfrm>
            <a:off x="5961888" y="3803904"/>
            <a:ext cx="6117336" cy="1170432"/>
          </a:xfrm>
          <a:prstGeom prst="rect">
            <a:avLst/>
          </a:prstGeom>
          <a:noFill/>
          <a:ln/>
        </p:spPr>
        <p:txBody>
          <a:bodyPr wrap="square" lIns="0" tIns="0" rIns="0" bIns="0" rtlCol="0" anchor="t"/>
          <a:lstStyle/>
          <a:p>
            <a:pPr indent="0" marL="0">
              <a:lnSpc>
                <a:spcPts val="1024"/>
              </a:lnSpc>
              <a:buNone/>
            </a:pPr>
            <a:r>
              <a:rPr lang="en-US" sz="819" dirty="0">
                <a:solidFill>
                  <a:srgbClr val="DCE5EC"/>
                </a:solidFill>
                <a:latin typeface="Consolas" pitchFamily="34" charset="0"/>
                <a:ea typeface="Consolas" pitchFamily="34" charset="-122"/>
                <a:cs typeface="Consolas" pitchFamily="34" charset="-120"/>
              </a:rPr>
              <a:t>try:</a:t>
            </a:r>
            <a:endParaRPr lang="en-US" sz="819" dirty="0"/>
          </a:p>
          <a:p>
            <a:pPr indent="0" marL="0">
              <a:lnSpc>
                <a:spcPts val="1024"/>
              </a:lnSpc>
              <a:buNone/>
            </a:pPr>
            <a:r>
              <a:rPr lang="en-US" sz="819" dirty="0">
                <a:solidFill>
                  <a:srgbClr val="DCE5EC"/>
                </a:solidFill>
                <a:latin typeface="Consolas" pitchFamily="34" charset="0"/>
                <a:ea typeface="Consolas" pitchFamily="34" charset="-122"/>
                <a:cs typeface="Consolas" pitchFamily="34" charset="-120"/>
              </a:rPr>
              <a:t>    handle = await interface.submit(spec)</a:t>
            </a:r>
            <a:endParaRPr lang="en-US" sz="819" dirty="0"/>
          </a:p>
          <a:p>
            <a:pPr indent="0" marL="0">
              <a:lnSpc>
                <a:spcPts val="1024"/>
              </a:lnSpc>
              <a:buNone/>
            </a:pPr>
            <a:r>
              <a:rPr lang="en-US" sz="819" dirty="0">
                <a:solidFill>
                  <a:srgbClr val="DCE5EC"/>
                </a:solidFill>
                <a:latin typeface="Consolas" pitchFamily="34" charset="0"/>
                <a:ea typeface="Consolas" pitchFamily="34" charset="-122"/>
                <a:cs typeface="Consolas" pitchFamily="34" charset="-120"/>
              </a:rPr>
              <a:t>except Exception as exc:</a:t>
            </a:r>
            <a:endParaRPr lang="en-US" sz="819" dirty="0"/>
          </a:p>
          <a:p>
            <a:pPr indent="0" marL="0">
              <a:lnSpc>
                <a:spcPts val="1024"/>
              </a:lnSpc>
              <a:buNone/>
            </a:pPr>
            <a:r>
              <a:rPr lang="en-US" sz="819" dirty="0">
                <a:solidFill>
                  <a:srgbClr val="DCE5EC"/>
                </a:solidFill>
                <a:latin typeface="Consolas" pitchFamily="34" charset="0"/>
                <a:ea typeface="Consolas" pitchFamily="34" charset="-122"/>
                <a:cs typeface="Consolas" pitchFamily="34" charset="-120"/>
              </a:rPr>
              <a:t>    # Surface the failure as a settled handle so callers</a:t>
            </a:r>
            <a:endParaRPr lang="en-US" sz="819" dirty="0"/>
          </a:p>
          <a:p>
            <a:pPr indent="0" marL="0">
              <a:lnSpc>
                <a:spcPts val="1024"/>
              </a:lnSpc>
              <a:buNone/>
            </a:pPr>
            <a:r>
              <a:rPr lang="en-US" sz="819" dirty="0">
                <a:solidFill>
                  <a:srgbClr val="DCE5EC"/>
                </a:solidFill>
                <a:latin typeface="Consolas" pitchFamily="34" charset="0"/>
                <a:ea typeface="Consolas" pitchFamily="34" charset="-122"/>
                <a:cs typeface="Consolas" pitchFamily="34" charset="-120"/>
              </a:rPr>
              <a:t>    # need no separate error path.</a:t>
            </a:r>
            <a:endParaRPr lang="en-US" sz="819" dirty="0"/>
          </a:p>
          <a:p>
            <a:pPr indent="0" marL="0">
              <a:lnSpc>
                <a:spcPts val="1024"/>
              </a:lnSpc>
              <a:buNone/>
            </a:pPr>
            <a:r>
              <a:rPr lang="en-US" sz="819" dirty="0">
                <a:solidFill>
                  <a:srgbClr val="DCE5EC"/>
                </a:solidFill>
                <a:latin typeface="Consolas" pitchFamily="34" charset="0"/>
                <a:ea typeface="Consolas" pitchFamily="34" charset="-122"/>
                <a:cs typeface="Consolas" pitchFamily="34" charset="-120"/>
              </a:rPr>
              <a:t>    future = loop.create_future()</a:t>
            </a:r>
            <a:endParaRPr lang="en-US" sz="819" dirty="0"/>
          </a:p>
          <a:p>
            <a:pPr indent="0" marL="0">
              <a:lnSpc>
                <a:spcPts val="1024"/>
              </a:lnSpc>
              <a:buNone/>
            </a:pPr>
            <a:r>
              <a:rPr lang="en-US" sz="819" dirty="0">
                <a:solidFill>
                  <a:srgbClr val="DCE5EC"/>
                </a:solidFill>
                <a:latin typeface="Consolas" pitchFamily="34" charset="0"/>
                <a:ea typeface="Consolas" pitchFamily="34" charset="-122"/>
                <a:cs typeface="Consolas" pitchFamily="34" charset="-120"/>
              </a:rPr>
              <a:t>    future.set_exception(exc)</a:t>
            </a:r>
            <a:endParaRPr lang="en-US" sz="819" dirty="0"/>
          </a:p>
          <a:p>
            <a:pPr indent="0" marL="0">
              <a:lnSpc>
                <a:spcPts val="1024"/>
              </a:lnSpc>
              <a:buNone/>
            </a:pPr>
            <a:r>
              <a:rPr lang="en-US" sz="819" dirty="0">
                <a:solidFill>
                  <a:srgbClr val="DCE5EC"/>
                </a:solidFill>
                <a:latin typeface="Consolas" pitchFamily="34" charset="0"/>
                <a:ea typeface="Consolas" pitchFamily="34" charset="-122"/>
                <a:cs typeface="Consolas" pitchFamily="34" charset="-120"/>
              </a:rPr>
              <a:t>    handle = TaskHandle(..., state=TaskState.FAILED,</a:t>
            </a:r>
            <a:endParaRPr lang="en-US" sz="819" dirty="0"/>
          </a:p>
          <a:p>
            <a:pPr indent="0" marL="0">
              <a:lnSpc>
                <a:spcPts val="1024"/>
              </a:lnSpc>
              <a:buNone/>
            </a:pPr>
            <a:r>
              <a:rPr lang="en-US" sz="819" dirty="0">
                <a:solidFill>
                  <a:srgbClr val="DCE5EC"/>
                </a:solidFill>
                <a:latin typeface="Consolas" pitchFamily="34" charset="0"/>
                <a:ea typeface="Consolas" pitchFamily="34" charset="-122"/>
                <a:cs typeface="Consolas" pitchFamily="34" charset="-120"/>
              </a:rPr>
              <a:t>                        error=str(exc))</a:t>
            </a:r>
            <a:endParaRPr lang="en-US" sz="819" dirty="0"/>
          </a:p>
        </p:txBody>
      </p:sp>
      <p:sp>
        <p:nvSpPr>
          <p:cNvPr id="14" name="Text 11"/>
          <p:cNvSpPr txBox="1"/>
          <p:nvPr/>
        </p:nvSpPr>
        <p:spPr>
          <a:xfrm>
            <a:off x="5852160" y="5102352"/>
            <a:ext cx="6336792"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tasks/manager.py:99–115  ·  TRIMMED</a:t>
            </a:r>
            <a:endParaRPr lang="en-US" sz="850" dirty="0"/>
          </a:p>
        </p:txBody>
      </p:sp>
      <p:sp>
        <p:nvSpPr>
          <p:cNvPr id="15" name="Text 12"/>
          <p:cNvSpPr txBox="1"/>
          <p:nvPr/>
        </p:nvSpPr>
        <p:spPr>
          <a:xfrm>
            <a:off x="457200" y="5257800"/>
            <a:ext cx="11247120" cy="7315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The invariant: </a:t>
            </a:r>
            <a:pPr indent="0" marL="0">
              <a:buNone/>
            </a:pPr>
            <a:r>
              <a:rPr lang="en-US" sz="1300" dirty="0">
                <a:solidFill>
                  <a:srgbClr val="22303C"/>
                </a:solidFill>
                <a:latin typeface="Calibri" pitchFamily="34" charset="0"/>
                <a:ea typeface="Calibri" pitchFamily="34" charset="-122"/>
                <a:cs typeface="Calibri" pitchFamily="34" charset="-120"/>
              </a:rPr>
              <a:t>a caller holds a handle whose future resolves. Not sometimes a handle and sometimes an exception. A rejected submission is a handle that has already failed — which is why gather() never raises and the round survives a dead endpoint.</a:t>
            </a:r>
            <a:endParaRPr lang="en-US" sz="1300" dirty="0"/>
          </a:p>
        </p:txBody>
      </p:sp>
      <p:sp>
        <p:nvSpPr>
          <p:cNvPr id="16" name="Text 13"/>
          <p:cNvSpPr txBox="1"/>
          <p:nvPr/>
        </p:nvSpPr>
        <p:spPr>
          <a:xfrm>
            <a:off x="457200" y="6473952"/>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TaskState: PENDING · PROVISIONING · QUEUED · RUNNING · DONE · FAILED · CANCELED · UNKNOWN, with .terminal and an alias table for Orbit/PSI-J vocabularies.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THE SEAM · 2 OF 3</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 Through flowgentic to a rhapsody process pool</a:t>
            </a:r>
            <a:endParaRPr lang="en-US" sz="2800" dirty="0"/>
          </a:p>
        </p:txBody>
      </p:sp>
      <p:sp>
        <p:nvSpPr>
          <p:cNvPr id="4" name="Shape 2"/>
          <p:cNvSpPr/>
          <p:nvPr/>
        </p:nvSpPr>
        <p:spPr>
          <a:xfrm>
            <a:off x="457200" y="1371600"/>
            <a:ext cx="2148840" cy="731520"/>
          </a:xfrm>
          <a:prstGeom prst="roundRect">
            <a:avLst>
              <a:gd name="adj" fmla="val 10000"/>
            </a:avLst>
          </a:prstGeom>
          <a:solidFill>
            <a:srgbClr val="E3F0F1"/>
          </a:solidFill>
          <a:ln w="19050">
            <a:solidFill>
              <a:srgbClr val="1E6470"/>
            </a:solidFill>
            <a:prstDash val="solid"/>
          </a:ln>
        </p:spPr>
      </p:sp>
      <p:sp>
        <p:nvSpPr>
          <p:cNvPr id="5" name="Text 3"/>
          <p:cNvSpPr txBox="1"/>
          <p:nvPr/>
        </p:nvSpPr>
        <p:spPr>
          <a:xfrm>
            <a:off x="548640" y="1426464"/>
            <a:ext cx="1965960" cy="621792"/>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task body</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tools/*.py</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module level</a:t>
            </a:r>
            <a:endParaRPr lang="en-US" sz="1400" dirty="0"/>
          </a:p>
        </p:txBody>
      </p:sp>
      <p:sp>
        <p:nvSpPr>
          <p:cNvPr id="6" name="Shape 4"/>
          <p:cNvSpPr/>
          <p:nvPr/>
        </p:nvSpPr>
        <p:spPr>
          <a:xfrm>
            <a:off x="2615184" y="1737360"/>
            <a:ext cx="137160" cy="91"/>
          </a:xfrm>
          <a:prstGeom prst="line">
            <a:avLst/>
          </a:prstGeom>
          <a:noFill/>
          <a:ln w="19050">
            <a:solidFill>
              <a:srgbClr val="5E6B75"/>
            </a:solidFill>
            <a:prstDash val="solid"/>
            <a:tailEnd type="triangle"/>
          </a:ln>
        </p:spPr>
      </p:sp>
      <p:sp>
        <p:nvSpPr>
          <p:cNvPr id="7" name="Shape 5"/>
          <p:cNvSpPr/>
          <p:nvPr/>
        </p:nvSpPr>
        <p:spPr>
          <a:xfrm>
            <a:off x="2761488" y="1371600"/>
            <a:ext cx="2148840" cy="731520"/>
          </a:xfrm>
          <a:prstGeom prst="roundRect">
            <a:avLst>
              <a:gd name="adj" fmla="val 10000"/>
            </a:avLst>
          </a:prstGeom>
          <a:solidFill>
            <a:srgbClr val="FCEBDD"/>
          </a:solidFill>
          <a:ln w="19050">
            <a:solidFill>
              <a:srgbClr val="D9731A"/>
            </a:solidFill>
            <a:prstDash val="solid"/>
          </a:ln>
        </p:spPr>
      </p:sp>
      <p:sp>
        <p:nvSpPr>
          <p:cNvPr id="8" name="Text 6"/>
          <p:cNvSpPr txBox="1"/>
          <p:nvPr/>
        </p:nvSpPr>
        <p:spPr>
          <a:xfrm>
            <a:off x="2852928" y="1426464"/>
            <a:ext cx="1965960" cy="621792"/>
          </a:xfrm>
          <a:prstGeom prst="rect">
            <a:avLst/>
          </a:prstGeom>
          <a:noFill/>
          <a:ln/>
        </p:spPr>
        <p:txBody>
          <a:bodyPr wrap="square" lIns="0" tIns="0" rIns="0" bIns="0" rtlCol="0" anchor="ctr"/>
          <a:lstStyle/>
          <a:p>
            <a:pPr algn="ctr" indent="0" marL="0">
              <a:buNone/>
            </a:pPr>
            <a:r>
              <a:rPr lang="en-US" sz="1200" b="1" dirty="0">
                <a:solidFill>
                  <a:srgbClr val="D9731A"/>
                </a:solidFill>
                <a:latin typeface="Calibri" pitchFamily="34" charset="0"/>
                <a:ea typeface="Calibri" pitchFamily="34" charset="-122"/>
                <a:cs typeface="Calibri" pitchFamily="34" charset="-120"/>
              </a:rPr>
              <a:t>flowgentic</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FUNCTION_TASK</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 RetryConfig</a:t>
            </a:r>
            <a:endParaRPr lang="en-US" sz="1400" dirty="0"/>
          </a:p>
        </p:txBody>
      </p:sp>
      <p:sp>
        <p:nvSpPr>
          <p:cNvPr id="9" name="Shape 7"/>
          <p:cNvSpPr/>
          <p:nvPr/>
        </p:nvSpPr>
        <p:spPr>
          <a:xfrm>
            <a:off x="4919472" y="1737360"/>
            <a:ext cx="137160" cy="91"/>
          </a:xfrm>
          <a:prstGeom prst="line">
            <a:avLst/>
          </a:prstGeom>
          <a:noFill/>
          <a:ln w="19050">
            <a:solidFill>
              <a:srgbClr val="5E6B75"/>
            </a:solidFill>
            <a:prstDash val="solid"/>
            <a:tailEnd type="triangle"/>
          </a:ln>
        </p:spPr>
      </p:sp>
      <p:sp>
        <p:nvSpPr>
          <p:cNvPr id="10" name="Shape 8"/>
          <p:cNvSpPr/>
          <p:nvPr/>
        </p:nvSpPr>
        <p:spPr>
          <a:xfrm>
            <a:off x="5065776" y="1371600"/>
            <a:ext cx="2148840" cy="731520"/>
          </a:xfrm>
          <a:prstGeom prst="roundRect">
            <a:avLst>
              <a:gd name="adj" fmla="val 10000"/>
            </a:avLst>
          </a:prstGeom>
          <a:solidFill>
            <a:srgbClr val="FCEBDD"/>
          </a:solidFill>
          <a:ln w="19050">
            <a:solidFill>
              <a:srgbClr val="D9731A"/>
            </a:solidFill>
            <a:prstDash val="solid"/>
          </a:ln>
        </p:spPr>
      </p:sp>
      <p:sp>
        <p:nvSpPr>
          <p:cNvPr id="11" name="Text 9"/>
          <p:cNvSpPr txBox="1"/>
          <p:nvPr/>
        </p:nvSpPr>
        <p:spPr>
          <a:xfrm>
            <a:off x="5157216" y="1426464"/>
            <a:ext cx="1965960" cy="621792"/>
          </a:xfrm>
          <a:prstGeom prst="rect">
            <a:avLst/>
          </a:prstGeom>
          <a:noFill/>
          <a:ln/>
        </p:spPr>
        <p:txBody>
          <a:bodyPr wrap="square" lIns="0" tIns="0" rIns="0" bIns="0" rtlCol="0" anchor="ctr"/>
          <a:lstStyle/>
          <a:p>
            <a:pPr algn="ctr" indent="0" marL="0">
              <a:buNone/>
            </a:pPr>
            <a:r>
              <a:rPr lang="en-US" sz="1200" b="1" dirty="0">
                <a:solidFill>
                  <a:srgbClr val="D9731A"/>
                </a:solidFill>
                <a:latin typeface="Calibri" pitchFamily="34" charset="0"/>
                <a:ea typeface="Calibri" pitchFamily="34" charset="-122"/>
                <a:cs typeface="Calibri" pitchFamily="34" charset="-120"/>
              </a:rPr>
              <a:t>asyncflow</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WorkflowEngine</a:t>
            </a:r>
            <a:endParaRPr lang="en-US" sz="1400" dirty="0"/>
          </a:p>
        </p:txBody>
      </p:sp>
      <p:sp>
        <p:nvSpPr>
          <p:cNvPr id="12" name="Shape 10"/>
          <p:cNvSpPr/>
          <p:nvPr/>
        </p:nvSpPr>
        <p:spPr>
          <a:xfrm>
            <a:off x="7223760" y="1737360"/>
            <a:ext cx="137160" cy="91"/>
          </a:xfrm>
          <a:prstGeom prst="line">
            <a:avLst/>
          </a:prstGeom>
          <a:noFill/>
          <a:ln w="19050">
            <a:solidFill>
              <a:srgbClr val="5E6B75"/>
            </a:solidFill>
            <a:prstDash val="solid"/>
            <a:tailEnd type="triangle"/>
          </a:ln>
        </p:spPr>
      </p:sp>
      <p:sp>
        <p:nvSpPr>
          <p:cNvPr id="13" name="Shape 11"/>
          <p:cNvSpPr/>
          <p:nvPr/>
        </p:nvSpPr>
        <p:spPr>
          <a:xfrm>
            <a:off x="7370064" y="1371600"/>
            <a:ext cx="2148840" cy="731520"/>
          </a:xfrm>
          <a:prstGeom prst="roundRect">
            <a:avLst>
              <a:gd name="adj" fmla="val 10000"/>
            </a:avLst>
          </a:prstGeom>
          <a:solidFill>
            <a:srgbClr val="FCEBDD"/>
          </a:solidFill>
          <a:ln w="19050">
            <a:solidFill>
              <a:srgbClr val="D9731A"/>
            </a:solidFill>
            <a:prstDash val="solid"/>
          </a:ln>
        </p:spPr>
      </p:sp>
      <p:sp>
        <p:nvSpPr>
          <p:cNvPr id="14" name="Text 12"/>
          <p:cNvSpPr txBox="1"/>
          <p:nvPr/>
        </p:nvSpPr>
        <p:spPr>
          <a:xfrm>
            <a:off x="7461504" y="1426464"/>
            <a:ext cx="1965960" cy="621792"/>
          </a:xfrm>
          <a:prstGeom prst="rect">
            <a:avLst/>
          </a:prstGeom>
          <a:noFill/>
          <a:ln/>
        </p:spPr>
        <p:txBody>
          <a:bodyPr wrap="square" lIns="0" tIns="0" rIns="0" bIns="0" rtlCol="0" anchor="ctr"/>
          <a:lstStyle/>
          <a:p>
            <a:pPr algn="ctr" indent="0" marL="0">
              <a:buNone/>
            </a:pPr>
            <a:r>
              <a:rPr lang="en-US" sz="1200" b="1" dirty="0">
                <a:solidFill>
                  <a:srgbClr val="D9731A"/>
                </a:solidFill>
                <a:latin typeface="Calibri" pitchFamily="34" charset="0"/>
                <a:ea typeface="Calibri" pitchFamily="34" charset="-122"/>
                <a:cs typeface="Calibri" pitchFamily="34" charset="-120"/>
              </a:rPr>
              <a:t>rhapsody</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ConcurrentExecution</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Backend</a:t>
            </a:r>
            <a:endParaRPr lang="en-US" sz="1400" dirty="0"/>
          </a:p>
        </p:txBody>
      </p:sp>
      <p:sp>
        <p:nvSpPr>
          <p:cNvPr id="15" name="Shape 13"/>
          <p:cNvSpPr/>
          <p:nvPr/>
        </p:nvSpPr>
        <p:spPr>
          <a:xfrm>
            <a:off x="9528048" y="1737360"/>
            <a:ext cx="137160" cy="91"/>
          </a:xfrm>
          <a:prstGeom prst="line">
            <a:avLst/>
          </a:prstGeom>
          <a:noFill/>
          <a:ln w="19050">
            <a:solidFill>
              <a:srgbClr val="5E6B75"/>
            </a:solidFill>
            <a:prstDash val="solid"/>
            <a:tailEnd type="triangle"/>
          </a:ln>
        </p:spPr>
      </p:sp>
      <p:sp>
        <p:nvSpPr>
          <p:cNvPr id="16" name="Shape 14"/>
          <p:cNvSpPr/>
          <p:nvPr/>
        </p:nvSpPr>
        <p:spPr>
          <a:xfrm>
            <a:off x="9674352" y="1371600"/>
            <a:ext cx="2148840" cy="731520"/>
          </a:xfrm>
          <a:prstGeom prst="roundRect">
            <a:avLst>
              <a:gd name="adj" fmla="val 10000"/>
            </a:avLst>
          </a:prstGeom>
          <a:solidFill>
            <a:srgbClr val="FCEBDD"/>
          </a:solidFill>
          <a:ln w="19050">
            <a:solidFill>
              <a:srgbClr val="D9731A"/>
            </a:solidFill>
            <a:prstDash val="solid"/>
          </a:ln>
        </p:spPr>
      </p:sp>
      <p:sp>
        <p:nvSpPr>
          <p:cNvPr id="17" name="Text 15"/>
          <p:cNvSpPr txBox="1"/>
          <p:nvPr/>
        </p:nvSpPr>
        <p:spPr>
          <a:xfrm>
            <a:off x="9765792" y="1426464"/>
            <a:ext cx="1965960" cy="621792"/>
          </a:xfrm>
          <a:prstGeom prst="rect">
            <a:avLst/>
          </a:prstGeom>
          <a:noFill/>
          <a:ln/>
        </p:spPr>
        <p:txBody>
          <a:bodyPr wrap="square" lIns="0" tIns="0" rIns="0" bIns="0" rtlCol="0" anchor="ctr"/>
          <a:lstStyle/>
          <a:p>
            <a:pPr algn="ctr" indent="0" marL="0">
              <a:buNone/>
            </a:pPr>
            <a:r>
              <a:rPr lang="en-US" sz="1200" b="1" dirty="0">
                <a:solidFill>
                  <a:srgbClr val="D9731A"/>
                </a:solidFill>
                <a:latin typeface="Calibri" pitchFamily="34" charset="0"/>
                <a:ea typeface="Calibri" pitchFamily="34" charset="-122"/>
                <a:cs typeface="Calibri" pitchFamily="34" charset="-120"/>
              </a:rPr>
              <a:t>ProcessPool</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4 workers</a:t>
            </a:r>
            <a:endParaRPr lang="en-US" sz="1400" dirty="0"/>
          </a:p>
        </p:txBody>
      </p:sp>
      <p:sp>
        <p:nvSpPr>
          <p:cNvPr id="18" name="Shape 16"/>
          <p:cNvSpPr/>
          <p:nvPr/>
        </p:nvSpPr>
        <p:spPr>
          <a:xfrm>
            <a:off x="457200" y="2331720"/>
            <a:ext cx="5577840" cy="1691640"/>
          </a:xfrm>
          <a:prstGeom prst="rect">
            <a:avLst/>
          </a:prstGeom>
          <a:solidFill>
            <a:srgbClr val="16222B"/>
          </a:solidFill>
          <a:ln w="12700">
            <a:solidFill>
              <a:srgbClr val="16222B"/>
            </a:solidFill>
            <a:prstDash val="solid"/>
          </a:ln>
        </p:spPr>
      </p:sp>
      <p:sp>
        <p:nvSpPr>
          <p:cNvPr id="19" name="Text 17"/>
          <p:cNvSpPr txBox="1"/>
          <p:nvPr/>
        </p:nvSpPr>
        <p:spPr>
          <a:xfrm>
            <a:off x="566928" y="2432304"/>
            <a:ext cx="5358384" cy="1490472"/>
          </a:xfrm>
          <a:prstGeom prst="rect">
            <a:avLst/>
          </a:prstGeom>
          <a:noFill/>
          <a:ln/>
        </p:spPr>
        <p:txBody>
          <a:bodyPr wrap="square" lIns="0" tIns="0" rIns="0" bIns="0" rtlCol="0" anchor="t"/>
          <a:lstStyle/>
          <a:p>
            <a:pPr indent="0" marL="0">
              <a:lnSpc>
                <a:spcPts val="1067"/>
              </a:lnSpc>
              <a:buNone/>
            </a:pPr>
            <a:r>
              <a:rPr lang="en-US" sz="854" dirty="0">
                <a:solidFill>
                  <a:srgbClr val="DCE5EC"/>
                </a:solidFill>
                <a:latin typeface="Consolas" pitchFamily="34" charset="0"/>
                <a:ea typeface="Consolas" pitchFamily="34" charset="-122"/>
                <a:cs typeface="Consolas" pitchFamily="34" charset="-120"/>
              </a:rPr>
              <a:t>retry = RetryConfig(</a:t>
            </a:r>
            <a:endParaRPr lang="en-US" sz="854" dirty="0"/>
          </a:p>
          <a:p>
            <a:pPr indent="0" marL="0">
              <a:lnSpc>
                <a:spcPts val="1067"/>
              </a:lnSpc>
              <a:buNone/>
            </a:pPr>
            <a:r>
              <a:rPr lang="en-US" sz="854" dirty="0">
                <a:solidFill>
                  <a:srgbClr val="DCE5EC"/>
                </a:solidFill>
                <a:latin typeface="Consolas" pitchFamily="34" charset="0"/>
                <a:ea typeface="Consolas" pitchFamily="34" charset="-122"/>
                <a:cs typeface="Consolas" pitchFamily="34" charset="-120"/>
              </a:rPr>
              <a:t>    # Folding or an HPC job can take far longer</a:t>
            </a:r>
            <a:endParaRPr lang="en-US" sz="854" dirty="0"/>
          </a:p>
          <a:p>
            <a:pPr indent="0" marL="0">
              <a:lnSpc>
                <a:spcPts val="1067"/>
              </a:lnSpc>
              <a:buNone/>
            </a:pPr>
            <a:r>
              <a:rPr lang="en-US" sz="854" dirty="0">
                <a:solidFill>
                  <a:srgbClr val="DCE5EC"/>
                </a:solidFill>
                <a:latin typeface="Consolas" pitchFamily="34" charset="0"/>
                <a:ea typeface="Consolas" pitchFamily="34" charset="-122"/>
                <a:cs typeface="Consolas" pitchFamily="34" charset="-120"/>
              </a:rPr>
              <a:t>    # than flowgentic's 30s default.</a:t>
            </a:r>
            <a:endParaRPr lang="en-US" sz="854" dirty="0"/>
          </a:p>
          <a:p>
            <a:pPr indent="0" marL="0">
              <a:lnSpc>
                <a:spcPts val="1067"/>
              </a:lnSpc>
              <a:buNone/>
            </a:pPr>
            <a:r>
              <a:rPr lang="en-US" sz="854" dirty="0">
                <a:solidFill>
                  <a:srgbClr val="DCE5EC"/>
                </a:solidFill>
                <a:latin typeface="Consolas" pitchFamily="34" charset="0"/>
                <a:ea typeface="Consolas" pitchFamily="34" charset="-122"/>
                <a:cs typeface="Consolas" pitchFamily="34" charset="-120"/>
              </a:rPr>
              <a:t>    timeout_sec=None,</a:t>
            </a:r>
            <a:endParaRPr lang="en-US" sz="854" dirty="0"/>
          </a:p>
          <a:p>
            <a:pPr indent="0" marL="0">
              <a:lnSpc>
                <a:spcPts val="1067"/>
              </a:lnSpc>
              <a:buNone/>
            </a:pPr>
            <a:r>
              <a:rPr lang="en-US" sz="854" dirty="0">
                <a:solidFill>
                  <a:srgbClr val="DCE5EC"/>
                </a:solidFill>
                <a:latin typeface="Consolas" pitchFamily="34" charset="0"/>
                <a:ea typeface="Consolas" pitchFamily="34" charset="-122"/>
                <a:cs typeface="Consolas" pitchFamily="34" charset="-120"/>
              </a:rPr>
              <a:t>    max_attempts=1,</a:t>
            </a:r>
            <a:endParaRPr lang="en-US" sz="854" dirty="0"/>
          </a:p>
          <a:p>
            <a:pPr indent="0" marL="0">
              <a:lnSpc>
                <a:spcPts val="1067"/>
              </a:lnSpc>
              <a:buNone/>
            </a:pPr>
            <a:r>
              <a:rPr lang="en-US" sz="854" dirty="0">
                <a:solidFill>
                  <a:srgbClr val="DCE5EC"/>
                </a:solidFill>
                <a:latin typeface="Consolas" pitchFamily="34" charset="0"/>
                <a:ea typeface="Consolas" pitchFamily="34" charset="-122"/>
                <a:cs typeface="Consolas" pitchFamily="34" charset="-120"/>
              </a:rPr>
              <a:t>    retryable_exceptions=(ConnectionError, OSError),</a:t>
            </a:r>
            <a:endParaRPr lang="en-US" sz="854" dirty="0"/>
          </a:p>
          <a:p>
            <a:pPr indent="0" marL="0">
              <a:lnSpc>
                <a:spcPts val="1067"/>
              </a:lnSpc>
              <a:buNone/>
            </a:pPr>
            <a:r>
              <a:rPr lang="en-US" sz="854" dirty="0">
                <a:solidFill>
                  <a:srgbClr val="DCE5EC"/>
                </a:solidFill>
                <a:latin typeface="Consolas" pitchFamily="34" charset="0"/>
                <a:ea typeface="Consolas" pitchFamily="34" charset="-122"/>
                <a:cs typeface="Consolas" pitchFamily="34" charset="-120"/>
              </a:rPr>
              <a:t>)</a:t>
            </a:r>
            <a:endParaRPr lang="en-US" sz="854" dirty="0"/>
          </a:p>
          <a:p>
            <a:pPr indent="0" marL="0">
              <a:lnSpc>
                <a:spcPts val="1067"/>
              </a:lnSpc>
              <a:buNone/>
            </a:pPr>
            <a:r>
              <a:rPr lang="en-US" sz="854" dirty="0">
                <a:solidFill>
                  <a:srgbClr val="DCE5EC"/>
                </a:solidFill>
                <a:latin typeface="Consolas" pitchFamily="34" charset="0"/>
                <a:ea typeface="Consolas" pitchFamily="34" charset="-122"/>
                <a:cs typeface="Consolas" pitchFamily="34" charset="-120"/>
              </a:rPr>
              <a:t>def wrap(body):</a:t>
            </a:r>
            <a:endParaRPr lang="en-US" sz="854" dirty="0"/>
          </a:p>
          <a:p>
            <a:pPr indent="0" marL="0">
              <a:lnSpc>
                <a:spcPts val="1067"/>
              </a:lnSpc>
              <a:buNone/>
            </a:pPr>
            <a:r>
              <a:rPr lang="en-US" sz="854" dirty="0">
                <a:solidFill>
                  <a:srgbClr val="DCE5EC"/>
                </a:solidFill>
                <a:latin typeface="Consolas" pitchFamily="34" charset="0"/>
                <a:ea typeface="Consolas" pitchFamily="34" charset="-122"/>
                <a:cs typeface="Consolas" pitchFamily="34" charset="-120"/>
              </a:rPr>
              <a:t>    return integration.execution_wrappers.asyncflow(</a:t>
            </a:r>
            <a:endParaRPr lang="en-US" sz="854" dirty="0"/>
          </a:p>
          <a:p>
            <a:pPr indent="0" marL="0">
              <a:lnSpc>
                <a:spcPts val="1067"/>
              </a:lnSpc>
              <a:buNone/>
            </a:pPr>
            <a:r>
              <a:rPr lang="en-US" sz="854" dirty="0">
                <a:solidFill>
                  <a:srgbClr val="DCE5EC"/>
                </a:solidFill>
                <a:latin typeface="Consolas" pitchFamily="34" charset="0"/>
                <a:ea typeface="Consolas" pitchFamily="34" charset="-122"/>
                <a:cs typeface="Consolas" pitchFamily="34" charset="-120"/>
              </a:rPr>
              <a:t>        body, flow_type=AsyncFlowType.FUNCTION_TASK,</a:t>
            </a:r>
            <a:endParaRPr lang="en-US" sz="854" dirty="0"/>
          </a:p>
          <a:p>
            <a:pPr indent="0" marL="0">
              <a:lnSpc>
                <a:spcPts val="1067"/>
              </a:lnSpc>
              <a:buNone/>
            </a:pPr>
            <a:r>
              <a:rPr lang="en-US" sz="854" dirty="0">
                <a:solidFill>
                  <a:srgbClr val="DCE5EC"/>
                </a:solidFill>
                <a:latin typeface="Consolas" pitchFamily="34" charset="0"/>
                <a:ea typeface="Consolas" pitchFamily="34" charset="-122"/>
                <a:cs typeface="Consolas" pitchFamily="34" charset="-120"/>
              </a:rPr>
              <a:t>        backend="compute", retry=retry)</a:t>
            </a:r>
            <a:endParaRPr lang="en-US" sz="854" dirty="0"/>
          </a:p>
        </p:txBody>
      </p:sp>
      <p:sp>
        <p:nvSpPr>
          <p:cNvPr id="20" name="Text 18"/>
          <p:cNvSpPr txBox="1"/>
          <p:nvPr/>
        </p:nvSpPr>
        <p:spPr>
          <a:xfrm>
            <a:off x="457200" y="4050792"/>
            <a:ext cx="5577840"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runtime.py:76–89  ·  TRIMMED</a:t>
            </a:r>
            <a:endParaRPr lang="en-US" sz="850" dirty="0"/>
          </a:p>
        </p:txBody>
      </p:sp>
      <p:sp>
        <p:nvSpPr>
          <p:cNvPr id="21" name="Shape 19"/>
          <p:cNvSpPr/>
          <p:nvPr/>
        </p:nvSpPr>
        <p:spPr>
          <a:xfrm>
            <a:off x="457200" y="4206240"/>
            <a:ext cx="5577840" cy="1143000"/>
          </a:xfrm>
          <a:prstGeom prst="rect">
            <a:avLst/>
          </a:prstGeom>
          <a:solidFill>
            <a:srgbClr val="16222B"/>
          </a:solidFill>
          <a:ln w="12700">
            <a:solidFill>
              <a:srgbClr val="16222B"/>
            </a:solidFill>
            <a:prstDash val="solid"/>
          </a:ln>
        </p:spPr>
      </p:sp>
      <p:sp>
        <p:nvSpPr>
          <p:cNvPr id="22" name="Text 20"/>
          <p:cNvSpPr txBox="1"/>
          <p:nvPr/>
        </p:nvSpPr>
        <p:spPr>
          <a:xfrm>
            <a:off x="566928" y="4306824"/>
            <a:ext cx="5358384" cy="941832"/>
          </a:xfrm>
          <a:prstGeom prst="rect">
            <a:avLst/>
          </a:prstGeom>
          <a:noFill/>
          <a:ln/>
        </p:spPr>
        <p:txBody>
          <a:bodyPr wrap="square" lIns="0" tIns="0" rIns="0" bIns="0" rtlCol="0" anchor="t"/>
          <a:lstStyle/>
          <a:p>
            <a:pPr indent="0" marL="0">
              <a:lnSpc>
                <a:spcPts val="1059"/>
              </a:lnSpc>
              <a:buNone/>
            </a:pPr>
            <a:r>
              <a:rPr lang="en-US" sz="848" dirty="0">
                <a:solidFill>
                  <a:srgbClr val="DCE5EC"/>
                </a:solidFill>
                <a:latin typeface="Consolas" pitchFamily="34" charset="0"/>
                <a:ea typeface="Consolas" pitchFamily="34" charset="-122"/>
                <a:cs typeface="Consolas" pitchFamily="34" charset="-120"/>
              </a:rPr>
              <a:t>async def submit(self, spec: TaskSpec) -&gt; TaskHandle:</a:t>
            </a:r>
            <a:endParaRPr lang="en-US" sz="848" dirty="0"/>
          </a:p>
          <a:p>
            <a:pPr indent="0" marL="0">
              <a:lnSpc>
                <a:spcPts val="1059"/>
              </a:lnSpc>
              <a:buNone/>
            </a:pPr>
            <a:r>
              <a:rPr lang="en-US" sz="848" dirty="0">
                <a:solidFill>
                  <a:srgbClr val="DCE5EC"/>
                </a:solidFill>
                <a:latin typeface="Consolas" pitchFamily="34" charset="0"/>
                <a:ea typeface="Consolas" pitchFamily="34" charset="-122"/>
                <a:cs typeface="Consolas" pitchFamily="34" charset="-120"/>
              </a:rPr>
              <a:t>    fn = self._resolve(spec.name)</a:t>
            </a:r>
            <a:endParaRPr lang="en-US" sz="848" dirty="0"/>
          </a:p>
          <a:p>
            <a:pPr indent="0" marL="0">
              <a:lnSpc>
                <a:spcPts val="1059"/>
              </a:lnSpc>
              <a:buNone/>
            </a:pPr>
            <a:r>
              <a:rPr lang="en-US" sz="848" dirty="0">
                <a:solidFill>
                  <a:srgbClr val="DCE5EC"/>
                </a:solidFill>
                <a:latin typeface="Consolas" pitchFamily="34" charset="0"/>
                <a:ea typeface="Consolas" pitchFamily="34" charset="-122"/>
                <a:cs typeface="Consolas" pitchFamily="34" charset="-120"/>
              </a:rPr>
              <a:t>    # create_task so submission returns immediately: the</a:t>
            </a:r>
            <a:endParaRPr lang="en-US" sz="848" dirty="0"/>
          </a:p>
          <a:p>
            <a:pPr indent="0" marL="0">
              <a:lnSpc>
                <a:spcPts val="1059"/>
              </a:lnSpc>
              <a:buNone/>
            </a:pPr>
            <a:r>
              <a:rPr lang="en-US" sz="848" dirty="0">
                <a:solidFill>
                  <a:srgbClr val="DCE5EC"/>
                </a:solidFill>
                <a:latin typeface="Consolas" pitchFamily="34" charset="0"/>
                <a:ea typeface="Consolas" pitchFamily="34" charset="-122"/>
                <a:cs typeface="Consolas" pitchFamily="34" charset="-120"/>
              </a:rPr>
              <a:t>    # flowgentic wrapper for FUNCTION_TASK is a coroutine</a:t>
            </a:r>
            <a:endParaRPr lang="en-US" sz="848" dirty="0"/>
          </a:p>
          <a:p>
            <a:pPr indent="0" marL="0">
              <a:lnSpc>
                <a:spcPts val="1059"/>
              </a:lnSpc>
              <a:buNone/>
            </a:pPr>
            <a:r>
              <a:rPr lang="en-US" sz="848" dirty="0">
                <a:solidFill>
                  <a:srgbClr val="DCE5EC"/>
                </a:solidFill>
                <a:latin typeface="Consolas" pitchFamily="34" charset="0"/>
                <a:ea typeface="Consolas" pitchFamily="34" charset="-122"/>
                <a:cs typeface="Consolas" pitchFamily="34" charset="-120"/>
              </a:rPr>
              <a:t>    # function, not a future factory.</a:t>
            </a:r>
            <a:endParaRPr lang="en-US" sz="848" dirty="0"/>
          </a:p>
          <a:p>
            <a:pPr indent="0" marL="0">
              <a:lnSpc>
                <a:spcPts val="1059"/>
              </a:lnSpc>
              <a:buNone/>
            </a:pPr>
            <a:r>
              <a:rPr lang="en-US" sz="848" dirty="0">
                <a:solidFill>
                  <a:srgbClr val="DCE5EC"/>
                </a:solidFill>
                <a:latin typeface="Consolas" pitchFamily="34" charset="0"/>
                <a:ea typeface="Consolas" pitchFamily="34" charset="-122"/>
                <a:cs typeface="Consolas" pitchFamily="34" charset="-120"/>
              </a:rPr>
              <a:t>    future = asyncio.ensure_future(_call(fn, spec))</a:t>
            </a:r>
            <a:endParaRPr lang="en-US" sz="848" dirty="0"/>
          </a:p>
          <a:p>
            <a:pPr indent="0" marL="0">
              <a:lnSpc>
                <a:spcPts val="1059"/>
              </a:lnSpc>
              <a:buNone/>
            </a:pPr>
            <a:r>
              <a:rPr lang="en-US" sz="848" dirty="0">
                <a:solidFill>
                  <a:srgbClr val="DCE5EC"/>
                </a:solidFill>
                <a:latin typeface="Consolas" pitchFamily="34" charset="0"/>
                <a:ea typeface="Consolas" pitchFamily="34" charset="-122"/>
                <a:cs typeface="Consolas" pitchFamily="34" charset="-120"/>
              </a:rPr>
              <a:t>    return self._handle(spec, future)</a:t>
            </a:r>
            <a:endParaRPr lang="en-US" sz="848" dirty="0"/>
          </a:p>
        </p:txBody>
      </p:sp>
      <p:sp>
        <p:nvSpPr>
          <p:cNvPr id="23" name="Text 21"/>
          <p:cNvSpPr txBox="1"/>
          <p:nvPr/>
        </p:nvSpPr>
        <p:spPr>
          <a:xfrm>
            <a:off x="457200" y="5376672"/>
            <a:ext cx="5577840"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tasks/local.py:58–63  ·  VERBATIM</a:t>
            </a:r>
            <a:endParaRPr lang="en-US" sz="850" dirty="0"/>
          </a:p>
        </p:txBody>
      </p:sp>
      <p:sp>
        <p:nvSpPr>
          <p:cNvPr id="24" name="Shape 22"/>
          <p:cNvSpPr/>
          <p:nvPr/>
        </p:nvSpPr>
        <p:spPr>
          <a:xfrm>
            <a:off x="6309360" y="2331720"/>
            <a:ext cx="5879592" cy="1188720"/>
          </a:xfrm>
          <a:prstGeom prst="rect">
            <a:avLst/>
          </a:prstGeom>
          <a:solidFill>
            <a:srgbClr val="FCEBDD"/>
          </a:solidFill>
          <a:ln w="12700">
            <a:solidFill>
              <a:srgbClr val="FCEBDD"/>
            </a:solidFill>
            <a:prstDash val="solid"/>
          </a:ln>
        </p:spPr>
      </p:sp>
      <p:sp>
        <p:nvSpPr>
          <p:cNvPr id="25" name="Text 23"/>
          <p:cNvSpPr txBox="1"/>
          <p:nvPr/>
        </p:nvSpPr>
        <p:spPr>
          <a:xfrm>
            <a:off x="6446520" y="2423160"/>
            <a:ext cx="5605272" cy="274320"/>
          </a:xfrm>
          <a:prstGeom prst="rect">
            <a:avLst/>
          </a:prstGeom>
          <a:noFill/>
          <a:ln/>
        </p:spPr>
        <p:txBody>
          <a:bodyPr wrap="square" lIns="0" tIns="0" rIns="0" bIns="0" rtlCol="0" anchor="t"/>
          <a:lstStyle/>
          <a:p>
            <a:pPr indent="0" marL="0">
              <a:buNone/>
            </a:pPr>
            <a:r>
              <a:rPr lang="en-US" sz="1300" b="1" dirty="0">
                <a:solidFill>
                  <a:srgbClr val="D9731A"/>
                </a:solidFill>
                <a:latin typeface="Calibri" pitchFamily="34" charset="0"/>
                <a:ea typeface="Calibri" pitchFamily="34" charset="-122"/>
                <a:cs typeface="Calibri" pitchFamily="34" charset="-120"/>
              </a:rPr>
              <a:t>Three constraints the pool imposes</a:t>
            </a:r>
            <a:endParaRPr lang="en-US" sz="1300" dirty="0"/>
          </a:p>
        </p:txBody>
      </p:sp>
      <p:sp>
        <p:nvSpPr>
          <p:cNvPr id="26" name="Text 24"/>
          <p:cNvSpPr txBox="1"/>
          <p:nvPr/>
        </p:nvSpPr>
        <p:spPr>
          <a:xfrm>
            <a:off x="6446520" y="2743200"/>
            <a:ext cx="5605272" cy="6858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Task bodies live at module level in tools/ — no closures over clients, or they will not pickle.</a:t>
            </a:r>
            <a:endParaRPr lang="en-US" sz="1000" dirty="0"/>
          </a:p>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Clients are built inside the body; a parent's cannot cross into a worker.</a:t>
            </a:r>
            <a:endParaRPr lang="en-US" sz="1000" dirty="0"/>
          </a:p>
          <a:p>
            <a:pPr marL="342900" indent="-342900">
              <a:spcAft>
                <a:spcPts val="400"/>
              </a:spcAft>
              <a:buSzPct val="100000"/>
              <a:buChar char="•"/>
            </a:pPr>
            <a:r>
              <a:rPr lang="en-US" sz="1000" dirty="0">
                <a:solidFill>
                  <a:srgbClr val="22303C"/>
                </a:solidFill>
                <a:latin typeface="Calibri" pitchFamily="34" charset="0"/>
                <a:ea typeface="Calibri" pitchFamily="34" charset="-122"/>
                <a:cs typeface="Calibri" pitchFamily="34" charset="-120"/>
              </a:rPr>
              <a:t>The entry point needs a __main__ guard, or uvicorn re-imports under fork.</a:t>
            </a:r>
            <a:endParaRPr lang="en-US" sz="1000" dirty="0"/>
          </a:p>
        </p:txBody>
      </p:sp>
      <p:sp>
        <p:nvSpPr>
          <p:cNvPr id="27" name="Shape 25"/>
          <p:cNvSpPr/>
          <p:nvPr/>
        </p:nvSpPr>
        <p:spPr>
          <a:xfrm>
            <a:off x="6309360" y="3657600"/>
            <a:ext cx="5879592" cy="347472"/>
          </a:xfrm>
          <a:prstGeom prst="rect">
            <a:avLst/>
          </a:prstGeom>
          <a:solidFill>
            <a:srgbClr val="C0392B"/>
          </a:solidFill>
          <a:ln w="12700">
            <a:solidFill>
              <a:srgbClr val="C0392B"/>
            </a:solidFill>
            <a:prstDash val="solid"/>
          </a:ln>
        </p:spPr>
      </p:sp>
      <p:sp>
        <p:nvSpPr>
          <p:cNvPr id="28" name="Text 26"/>
          <p:cNvSpPr txBox="1"/>
          <p:nvPr/>
        </p:nvSpPr>
        <p:spPr>
          <a:xfrm>
            <a:off x="6400800" y="3657600"/>
            <a:ext cx="5669280" cy="3474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Finding 1 — flowgentic hard-imports aiohttp</a:t>
            </a:r>
            <a:endParaRPr lang="en-US" sz="1250" dirty="0"/>
          </a:p>
        </p:txBody>
      </p:sp>
      <p:sp>
        <p:nvSpPr>
          <p:cNvPr id="29" name="Shape 27"/>
          <p:cNvSpPr/>
          <p:nvPr/>
        </p:nvSpPr>
        <p:spPr>
          <a:xfrm>
            <a:off x="6309360" y="4069080"/>
            <a:ext cx="5879592" cy="1115568"/>
          </a:xfrm>
          <a:prstGeom prst="rect">
            <a:avLst/>
          </a:prstGeom>
          <a:solidFill>
            <a:srgbClr val="3A1F1C"/>
          </a:solidFill>
          <a:ln w="12700">
            <a:solidFill>
              <a:srgbClr val="3A1F1C"/>
            </a:solidFill>
            <a:prstDash val="solid"/>
          </a:ln>
        </p:spPr>
      </p:sp>
      <p:sp>
        <p:nvSpPr>
          <p:cNvPr id="30" name="Text 28"/>
          <p:cNvSpPr txBox="1"/>
          <p:nvPr/>
        </p:nvSpPr>
        <p:spPr>
          <a:xfrm>
            <a:off x="6419088" y="4169664"/>
            <a:ext cx="5660136" cy="914400"/>
          </a:xfrm>
          <a:prstGeom prst="rect">
            <a:avLst/>
          </a:prstGeom>
          <a:noFill/>
          <a:ln/>
        </p:spPr>
        <p:txBody>
          <a:bodyPr wrap="square" lIns="0" tIns="0" rIns="0" bIns="0" rtlCol="0" anchor="t"/>
          <a:lstStyle/>
          <a:p>
            <a:pPr indent="0" marL="0">
              <a:lnSpc>
                <a:spcPts val="1029"/>
              </a:lnSpc>
              <a:buNone/>
            </a:pPr>
            <a:r>
              <a:rPr lang="en-US" sz="823" dirty="0">
                <a:solidFill>
                  <a:srgbClr val="DCE5EC"/>
                </a:solidFill>
                <a:latin typeface="Consolas" pitchFamily="34" charset="0"/>
                <a:ea typeface="Consolas" pitchFamily="34" charset="-122"/>
                <a:cs typeface="Consolas" pitchFamily="34" charset="-120"/>
              </a:rPr>
              <a:t># Try to include aiohttp timeouts if present</a:t>
            </a:r>
            <a:endParaRPr lang="en-US" sz="823" dirty="0"/>
          </a:p>
          <a:p>
            <a:pPr indent="0" marL="0">
              <a:lnSpc>
                <a:spcPts val="1029"/>
              </a:lnSpc>
              <a:buNone/>
            </a:pPr>
            <a:r>
              <a:rPr lang="en-US" sz="823" dirty="0">
                <a:solidFill>
                  <a:srgbClr val="DCE5EC"/>
                </a:solidFill>
                <a:latin typeface="Consolas" pitchFamily="34" charset="0"/>
                <a:ea typeface="Consolas" pitchFamily="34" charset="-122"/>
                <a:cs typeface="Consolas" pitchFamily="34" charset="-120"/>
              </a:rPr>
              <a:t>try:</a:t>
            </a:r>
            <a:endParaRPr lang="en-US" sz="823" dirty="0"/>
          </a:p>
          <a:p>
            <a:pPr indent="0" marL="0">
              <a:lnSpc>
                <a:spcPts val="1029"/>
              </a:lnSpc>
              <a:buNone/>
            </a:pPr>
            <a:r>
              <a:rPr lang="en-US" sz="823" dirty="0">
                <a:solidFill>
                  <a:srgbClr val="DCE5EC"/>
                </a:solidFill>
                <a:latin typeface="Consolas" pitchFamily="34" charset="0"/>
                <a:ea typeface="Consolas" pitchFamily="34" charset="-122"/>
                <a:cs typeface="Consolas" pitchFamily="34" charset="-120"/>
              </a:rPr>
              <a:t>    import aiohttp  # type: ignore</a:t>
            </a:r>
            <a:endParaRPr lang="en-US" sz="823" dirty="0"/>
          </a:p>
          <a:p>
            <a:pPr indent="0" marL="0">
              <a:lnSpc>
                <a:spcPts val="1029"/>
              </a:lnSpc>
              <a:buNone/>
            </a:pPr>
            <a:r>
              <a:rPr lang="en-US" sz="823" dirty="0">
                <a:solidFill>
                  <a:srgbClr val="DCE5EC"/>
                </a:solidFill>
                <a:latin typeface="Consolas" pitchFamily="34" charset="0"/>
                <a:ea typeface="Consolas" pitchFamily="34" charset="-122"/>
                <a:cs typeface="Consolas" pitchFamily="34" charset="-120"/>
              </a:rPr>
              <a:t>    ex.extend([aiohttp.ClientConnectionError,</a:t>
            </a:r>
            <a:endParaRPr lang="en-US" sz="823" dirty="0"/>
          </a:p>
          <a:p>
            <a:pPr indent="0" marL="0">
              <a:lnSpc>
                <a:spcPts val="1029"/>
              </a:lnSpc>
              <a:buNone/>
            </a:pPr>
            <a:r>
              <a:rPr lang="en-US" sz="823" dirty="0">
                <a:solidFill>
                  <a:srgbClr val="DCE5EC"/>
                </a:solidFill>
                <a:latin typeface="Consolas" pitchFamily="34" charset="0"/>
                <a:ea typeface="Consolas" pitchFamily="34" charset="-122"/>
                <a:cs typeface="Consolas" pitchFamily="34" charset="-120"/>
              </a:rPr>
              <a:t>               aiohttp.ServerTimeoutError])</a:t>
            </a:r>
            <a:endParaRPr lang="en-US" sz="823" dirty="0"/>
          </a:p>
          <a:p>
            <a:pPr indent="0" marL="0">
              <a:lnSpc>
                <a:spcPts val="1029"/>
              </a:lnSpc>
              <a:buNone/>
            </a:pPr>
            <a:r>
              <a:rPr lang="en-US" sz="823" dirty="0">
                <a:solidFill>
                  <a:srgbClr val="DCE5EC"/>
                </a:solidFill>
                <a:latin typeface="Consolas" pitchFamily="34" charset="0"/>
                <a:ea typeface="Consolas" pitchFamily="34" charset="-122"/>
                <a:cs typeface="Consolas" pitchFamily="34" charset="-120"/>
              </a:rPr>
              <a:t>except Exception:</a:t>
            </a:r>
            <a:endParaRPr lang="en-US" sz="823" dirty="0"/>
          </a:p>
          <a:p>
            <a:pPr indent="0" marL="0">
              <a:lnSpc>
                <a:spcPts val="1029"/>
              </a:lnSpc>
              <a:buNone/>
            </a:pPr>
            <a:r>
              <a:rPr lang="en-US" sz="823" dirty="0">
                <a:solidFill>
                  <a:srgbClr val="DCE5EC"/>
                </a:solidFill>
                <a:latin typeface="Consolas" pitchFamily="34" charset="0"/>
                <a:ea typeface="Consolas" pitchFamily="34" charset="-122"/>
                <a:cs typeface="Consolas" pitchFamily="34" charset="-120"/>
              </a:rPr>
              <a:t>    raise</a:t>
            </a:r>
            <a:endParaRPr lang="en-US" sz="823" dirty="0"/>
          </a:p>
        </p:txBody>
      </p:sp>
      <p:sp>
        <p:nvSpPr>
          <p:cNvPr id="31" name="Text 29"/>
          <p:cNvSpPr txBox="1"/>
          <p:nvPr/>
        </p:nvSpPr>
        <p:spPr>
          <a:xfrm>
            <a:off x="6309360" y="5212080"/>
            <a:ext cx="5879592"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refcodes/flowgentic/…/fault_tolerance.py:73–84  ·  VERBATIM</a:t>
            </a:r>
            <a:endParaRPr lang="en-US" sz="850" dirty="0"/>
          </a:p>
        </p:txBody>
      </p:sp>
      <p:sp>
        <p:nvSpPr>
          <p:cNvPr id="32" name="Text 30"/>
          <p:cNvSpPr txBox="1"/>
          <p:nvPr/>
        </p:nvSpPr>
        <p:spPr>
          <a:xfrm>
            <a:off x="6309360" y="5303520"/>
            <a:ext cx="5879592" cy="457200"/>
          </a:xfrm>
          <a:prstGeom prst="rect">
            <a:avLst/>
          </a:prstGeom>
          <a:noFill/>
          <a:ln/>
        </p:spPr>
        <p:txBody>
          <a:bodyPr wrap="square" lIns="0" tIns="0" rIns="0" bIns="0" rtlCol="0" anchor="t"/>
          <a:lstStyle/>
          <a:p>
            <a:pPr indent="0" marL="0">
              <a:buNone/>
            </a:pPr>
            <a:r>
              <a:rPr lang="en-US" sz="1100" dirty="0">
                <a:solidFill>
                  <a:srgbClr val="C0392B"/>
                </a:solidFill>
                <a:latin typeface="Calibri" pitchFamily="34" charset="0"/>
                <a:ea typeface="Calibri" pitchFamily="34" charset="-122"/>
                <a:cs typeface="Calibri" pitchFamily="34" charset="-120"/>
              </a:rPr>
              <a:t>The comment says "if present"; the code says "or die". Same shape for httpx at :60–72. Reached whenever retryable_exceptions is left at its default, which is ().</a:t>
            </a:r>
            <a:endParaRPr lang="en-US" sz="1100" dirty="0"/>
          </a:p>
        </p:txBody>
      </p:sp>
      <p:sp>
        <p:nvSpPr>
          <p:cNvPr id="33" name="Text 31"/>
          <p:cNvSpPr txBox="1"/>
          <p:nvPr/>
        </p:nvSpPr>
        <p:spPr>
          <a:xfrm>
            <a:off x="457200" y="6473952"/>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ModuleNotFoundError: No module named 'aiohttp' — raised from fault_tolerance.py:75 on the first wrapped task, in an env with httpx but not aiohttp.</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THE SEAM · 3 OF 3</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 RADICAL Orbit: two clients, two concurrency bridges</a:t>
            </a:r>
            <a:endParaRPr lang="en-US" sz="2800" dirty="0"/>
          </a:p>
        </p:txBody>
      </p:sp>
      <p:sp>
        <p:nvSpPr>
          <p:cNvPr id="4" name="Shape 2"/>
          <p:cNvSpPr/>
          <p:nvPr/>
        </p:nvSpPr>
        <p:spPr>
          <a:xfrm>
            <a:off x="457200" y="1371600"/>
            <a:ext cx="5394960" cy="384048"/>
          </a:xfrm>
          <a:prstGeom prst="rect">
            <a:avLst/>
          </a:prstGeom>
          <a:solidFill>
            <a:srgbClr val="FCEBDD"/>
          </a:solidFill>
          <a:ln w="19050">
            <a:solidFill>
              <a:srgbClr val="D9731A"/>
            </a:solidFill>
            <a:prstDash val="solid"/>
          </a:ln>
        </p:spPr>
      </p:sp>
      <p:sp>
        <p:nvSpPr>
          <p:cNvPr id="5" name="Text 3"/>
          <p:cNvSpPr txBox="1"/>
          <p:nvPr/>
        </p:nvSpPr>
        <p:spPr>
          <a:xfrm>
            <a:off x="548640" y="1426464"/>
            <a:ext cx="5212080" cy="274320"/>
          </a:xfrm>
          <a:prstGeom prst="rect">
            <a:avLst/>
          </a:prstGeom>
          <a:noFill/>
          <a:ln/>
        </p:spPr>
        <p:txBody>
          <a:bodyPr wrap="square" lIns="0" tIns="0" rIns="0" bIns="0" rtlCol="0" anchor="ctr"/>
          <a:lstStyle/>
          <a:p>
            <a:pPr algn="ctr" indent="0" marL="0">
              <a:buNone/>
            </a:pPr>
            <a:r>
              <a:rPr lang="en-US" sz="1150" b="1" dirty="0">
                <a:solidFill>
                  <a:srgbClr val="D9731A"/>
                </a:solidFill>
                <a:latin typeface="Calibri" pitchFamily="34" charset="0"/>
                <a:ea typeface="Calibri" pitchFamily="34" charset="-122"/>
                <a:cs typeface="Calibri" pitchFamily="34" charset="-120"/>
              </a:rPr>
              <a:t>EndpointRuntime(broker_url, cert, name, token)</a:t>
            </a:r>
            <a:endParaRPr lang="en-US" sz="1400" dirty="0"/>
          </a:p>
        </p:txBody>
      </p:sp>
      <p:sp>
        <p:nvSpPr>
          <p:cNvPr id="6" name="Shape 4"/>
          <p:cNvSpPr/>
          <p:nvPr/>
        </p:nvSpPr>
        <p:spPr>
          <a:xfrm>
            <a:off x="457200" y="1874520"/>
            <a:ext cx="2606040" cy="1417320"/>
          </a:xfrm>
          <a:prstGeom prst="roundRect">
            <a:avLst>
              <a:gd name="adj" fmla="val 5161"/>
            </a:avLst>
          </a:prstGeom>
          <a:solidFill>
            <a:srgbClr val="FFFFFF"/>
          </a:solidFill>
          <a:ln w="19050">
            <a:solidFill>
              <a:srgbClr val="D9731A"/>
            </a:solidFill>
            <a:prstDash val="solid"/>
          </a:ln>
        </p:spPr>
      </p:sp>
      <p:sp>
        <p:nvSpPr>
          <p:cNvPr id="7" name="Text 5"/>
          <p:cNvSpPr txBox="1"/>
          <p:nvPr/>
        </p:nvSpPr>
        <p:spPr>
          <a:xfrm>
            <a:off x="548640" y="1929384"/>
            <a:ext cx="2423160" cy="1307592"/>
          </a:xfrm>
          <a:prstGeom prst="rect">
            <a:avLst/>
          </a:prstGeom>
          <a:noFill/>
          <a:ln/>
        </p:spPr>
        <p:txBody>
          <a:bodyPr wrap="square" lIns="0" tIns="0" rIns="0" bIns="0" rtlCol="0" anchor="ctr"/>
          <a:lstStyle/>
          <a:p>
            <a:pPr algn="ctr" indent="0" marL="0">
              <a:buNone/>
            </a:pPr>
            <a:r>
              <a:rPr lang="en-US" sz="1200" b="1" dirty="0">
                <a:solidFill>
                  <a:srgbClr val="D9731A"/>
                </a:solidFill>
                <a:latin typeface="Calibri" pitchFamily="34" charset="0"/>
                <a:ea typeface="Calibri" pitchFamily="34" charset="-122"/>
                <a:cs typeface="Calibri" pitchFamily="34" charset="-120"/>
              </a:rPr>
              <a:t>RhapsodyClient</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function + executable tasks</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register_session · submit_tasks</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wait_tasks · get_task · cancel_task</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pushes task_status events</a:t>
            </a:r>
            <a:endParaRPr lang="en-US" sz="1400" dirty="0"/>
          </a:p>
        </p:txBody>
      </p:sp>
      <p:sp>
        <p:nvSpPr>
          <p:cNvPr id="8" name="Shape 6"/>
          <p:cNvSpPr/>
          <p:nvPr/>
        </p:nvSpPr>
        <p:spPr>
          <a:xfrm>
            <a:off x="3246120" y="1874520"/>
            <a:ext cx="2606040" cy="1417320"/>
          </a:xfrm>
          <a:prstGeom prst="roundRect">
            <a:avLst>
              <a:gd name="adj" fmla="val 5161"/>
            </a:avLst>
          </a:prstGeom>
          <a:solidFill>
            <a:srgbClr val="FFFFFF"/>
          </a:solidFill>
          <a:ln w="19050">
            <a:solidFill>
              <a:srgbClr val="D9731A"/>
            </a:solidFill>
            <a:prstDash val="solid"/>
          </a:ln>
        </p:spPr>
      </p:sp>
      <p:sp>
        <p:nvSpPr>
          <p:cNvPr id="9" name="Text 7"/>
          <p:cNvSpPr txBox="1"/>
          <p:nvPr/>
        </p:nvSpPr>
        <p:spPr>
          <a:xfrm>
            <a:off x="3337560" y="1929384"/>
            <a:ext cx="2423160" cy="1307592"/>
          </a:xfrm>
          <a:prstGeom prst="rect">
            <a:avLst/>
          </a:prstGeom>
          <a:noFill/>
          <a:ln/>
        </p:spPr>
        <p:txBody>
          <a:bodyPr wrap="square" lIns="0" tIns="0" rIns="0" bIns="0" rtlCol="0" anchor="ctr"/>
          <a:lstStyle/>
          <a:p>
            <a:pPr algn="ctr" indent="0" marL="0">
              <a:buNone/>
            </a:pPr>
            <a:r>
              <a:rPr lang="en-US" sz="1200" b="1" dirty="0">
                <a:solidFill>
                  <a:srgbClr val="D9731A"/>
                </a:solidFill>
                <a:latin typeface="Calibri" pitchFamily="34" charset="0"/>
                <a:ea typeface="Calibri" pitchFamily="34" charset="-122"/>
                <a:cs typeface="Calibri" pitchFamily="34" charset="-120"/>
              </a:rPr>
              <a:t>PSIJClient</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batch jobs</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submit_job · cancel_job</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get_job_status(id, stdout_offset,</a:t>
            </a: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  stderr_offset)</a:t>
            </a:r>
            <a:endParaRPr lang="en-US" sz="1400" dirty="0"/>
          </a:p>
          <a:p>
            <a:pPr algn="ctr" indent="0" marL="0">
              <a:buNone/>
            </a:pPr>
            <a:endParaRPr lang="en-US" sz="1400" dirty="0"/>
          </a:p>
          <a:p>
            <a:pPr algn="ctr" indent="0" marL="0">
              <a:buNone/>
            </a:pPr>
            <a:r>
              <a:rPr lang="en-US" sz="950" dirty="0">
                <a:solidFill>
                  <a:srgbClr val="5E6B75"/>
                </a:solidFill>
                <a:latin typeface="Calibri" pitchFamily="34" charset="0"/>
                <a:ea typeface="Calibri" pitchFamily="34" charset="-122"/>
                <a:cs typeface="Calibri" pitchFamily="34" charset="-120"/>
              </a:rPr>
              <a:t>the only log tail that exists</a:t>
            </a:r>
            <a:endParaRPr lang="en-US" sz="1400" dirty="0"/>
          </a:p>
        </p:txBody>
      </p:sp>
      <p:sp>
        <p:nvSpPr>
          <p:cNvPr id="10" name="Shape 8"/>
          <p:cNvSpPr/>
          <p:nvPr/>
        </p:nvSpPr>
        <p:spPr>
          <a:xfrm>
            <a:off x="457200" y="3429000"/>
            <a:ext cx="5394960" cy="1051560"/>
          </a:xfrm>
          <a:prstGeom prst="rect">
            <a:avLst/>
          </a:prstGeom>
          <a:solidFill>
            <a:srgbClr val="FCEBDD"/>
          </a:solidFill>
          <a:ln w="12700">
            <a:solidFill>
              <a:srgbClr val="FCEBDD"/>
            </a:solidFill>
            <a:prstDash val="solid"/>
          </a:ln>
        </p:spPr>
      </p:sp>
      <p:sp>
        <p:nvSpPr>
          <p:cNvPr id="11" name="Text 9"/>
          <p:cNvSpPr txBox="1"/>
          <p:nvPr/>
        </p:nvSpPr>
        <p:spPr>
          <a:xfrm>
            <a:off x="594360" y="3520440"/>
            <a:ext cx="5120640" cy="274320"/>
          </a:xfrm>
          <a:prstGeom prst="rect">
            <a:avLst/>
          </a:prstGeom>
          <a:noFill/>
          <a:ln/>
        </p:spPr>
        <p:txBody>
          <a:bodyPr wrap="square" lIns="0" tIns="0" rIns="0" bIns="0" rtlCol="0" anchor="t"/>
          <a:lstStyle/>
          <a:p>
            <a:pPr indent="0" marL="0">
              <a:buNone/>
            </a:pPr>
            <a:r>
              <a:rPr lang="en-US" sz="1300" b="1" dirty="0">
                <a:solidFill>
                  <a:srgbClr val="D9731A"/>
                </a:solidFill>
                <a:latin typeface="Calibri" pitchFamily="34" charset="0"/>
                <a:ea typeface="Calibri" pitchFamily="34" charset="-122"/>
                <a:cs typeface="Calibri" pitchFamily="34" charset="-120"/>
              </a:rPr>
              <a:t>Two threading problems, two one-liners</a:t>
            </a:r>
            <a:endParaRPr lang="en-US" sz="1300" dirty="0"/>
          </a:p>
        </p:txBody>
      </p:sp>
      <p:sp>
        <p:nvSpPr>
          <p:cNvPr id="12" name="Text 10"/>
          <p:cNvSpPr txBox="1"/>
          <p:nvPr/>
        </p:nvSpPr>
        <p:spPr>
          <a:xfrm>
            <a:off x="594360" y="3840480"/>
            <a:ext cx="5120640" cy="5486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Every Orbit client method is synchronous and blocking → each of 23 call sites goes through asyncio.to_thread.</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Push callbacks arrive on Orbit's listener thread → _dispatch hops to our loop with call_soon_threadsafe.</a:t>
            </a:r>
            <a:endParaRPr lang="en-US" sz="1050" dirty="0"/>
          </a:p>
        </p:txBody>
      </p:sp>
      <p:sp>
        <p:nvSpPr>
          <p:cNvPr id="13" name="Shape 11"/>
          <p:cNvSpPr/>
          <p:nvPr/>
        </p:nvSpPr>
        <p:spPr>
          <a:xfrm>
            <a:off x="457200" y="4617720"/>
            <a:ext cx="5394960" cy="868680"/>
          </a:xfrm>
          <a:prstGeom prst="rect">
            <a:avLst/>
          </a:prstGeom>
          <a:solidFill>
            <a:srgbClr val="16222B"/>
          </a:solidFill>
          <a:ln w="12700">
            <a:solidFill>
              <a:srgbClr val="16222B"/>
            </a:solidFill>
            <a:prstDash val="solid"/>
          </a:ln>
        </p:spPr>
      </p:sp>
      <p:sp>
        <p:nvSpPr>
          <p:cNvPr id="14" name="Text 12"/>
          <p:cNvSpPr txBox="1"/>
          <p:nvPr/>
        </p:nvSpPr>
        <p:spPr>
          <a:xfrm>
            <a:off x="566928" y="4718304"/>
            <a:ext cx="5175504" cy="667512"/>
          </a:xfrm>
          <a:prstGeom prst="rect">
            <a:avLst/>
          </a:prstGeom>
          <a:noFill/>
          <a:ln/>
        </p:spPr>
        <p:txBody>
          <a:bodyPr wrap="square" lIns="0" tIns="0" rIns="0" bIns="0" rtlCol="0" anchor="t"/>
          <a:lstStyle/>
          <a:p>
            <a:pPr indent="0" marL="0">
              <a:lnSpc>
                <a:spcPts val="1051"/>
              </a:lnSpc>
              <a:buNone/>
            </a:pPr>
            <a:r>
              <a:rPr lang="en-US" sz="841" dirty="0">
                <a:solidFill>
                  <a:srgbClr val="DCE5EC"/>
                </a:solidFill>
                <a:latin typeface="Consolas" pitchFamily="34" charset="0"/>
                <a:ea typeface="Consolas" pitchFamily="34" charset="-122"/>
                <a:cs typeface="Consolas" pitchFamily="34" charset="-120"/>
              </a:rPr>
              <a:t>def _dispatch(self, fn, *args) -&gt; None:</a:t>
            </a:r>
            <a:endParaRPr lang="en-US" sz="841" dirty="0"/>
          </a:p>
          <a:p>
            <a:pPr indent="0" marL="0">
              <a:lnSpc>
                <a:spcPts val="1051"/>
              </a:lnSpc>
              <a:buNone/>
            </a:pPr>
            <a:r>
              <a:rPr lang="en-US" sz="841" dirty="0">
                <a:solidFill>
                  <a:srgbClr val="DCE5EC"/>
                </a:solidFill>
                <a:latin typeface="Consolas" pitchFamily="34" charset="0"/>
                <a:ea typeface="Consolas" pitchFamily="34" charset="-122"/>
                <a:cs typeface="Consolas" pitchFamily="34" charset="-120"/>
              </a:rPr>
              <a:t>    """Hop from Orbit's listener thread onto our event loop."""</a:t>
            </a:r>
            <a:endParaRPr lang="en-US" sz="841" dirty="0"/>
          </a:p>
          <a:p>
            <a:pPr indent="0" marL="0">
              <a:lnSpc>
                <a:spcPts val="1051"/>
              </a:lnSpc>
              <a:buNone/>
            </a:pPr>
            <a:r>
              <a:rPr lang="en-US" sz="841" dirty="0">
                <a:solidFill>
                  <a:srgbClr val="DCE5EC"/>
                </a:solidFill>
                <a:latin typeface="Consolas" pitchFamily="34" charset="0"/>
                <a:ea typeface="Consolas" pitchFamily="34" charset="-122"/>
                <a:cs typeface="Consolas" pitchFamily="34" charset="-120"/>
              </a:rPr>
              <a:t>    if self._loop is None or self._loop.is_closed():</a:t>
            </a:r>
            <a:endParaRPr lang="en-US" sz="841" dirty="0"/>
          </a:p>
          <a:p>
            <a:pPr indent="0" marL="0">
              <a:lnSpc>
                <a:spcPts val="1051"/>
              </a:lnSpc>
              <a:buNone/>
            </a:pPr>
            <a:r>
              <a:rPr lang="en-US" sz="841" dirty="0">
                <a:solidFill>
                  <a:srgbClr val="DCE5EC"/>
                </a:solidFill>
                <a:latin typeface="Consolas" pitchFamily="34" charset="0"/>
                <a:ea typeface="Consolas" pitchFamily="34" charset="-122"/>
                <a:cs typeface="Consolas" pitchFamily="34" charset="-120"/>
              </a:rPr>
              <a:t>        return</a:t>
            </a:r>
            <a:endParaRPr lang="en-US" sz="841" dirty="0"/>
          </a:p>
          <a:p>
            <a:pPr indent="0" marL="0">
              <a:lnSpc>
                <a:spcPts val="1051"/>
              </a:lnSpc>
              <a:buNone/>
            </a:pPr>
            <a:r>
              <a:rPr lang="en-US" sz="841" dirty="0">
                <a:solidFill>
                  <a:srgbClr val="DCE5EC"/>
                </a:solidFill>
                <a:latin typeface="Consolas" pitchFamily="34" charset="0"/>
                <a:ea typeface="Consolas" pitchFamily="34" charset="-122"/>
                <a:cs typeface="Consolas" pitchFamily="34" charset="-120"/>
              </a:rPr>
              <a:t>    self._loop.call_soon_threadsafe(fn, *args)</a:t>
            </a:r>
            <a:endParaRPr lang="en-US" sz="841" dirty="0"/>
          </a:p>
        </p:txBody>
      </p:sp>
      <p:sp>
        <p:nvSpPr>
          <p:cNvPr id="15" name="Text 13"/>
          <p:cNvSpPr txBox="1"/>
          <p:nvPr/>
        </p:nvSpPr>
        <p:spPr>
          <a:xfrm>
            <a:off x="457200" y="5513832"/>
            <a:ext cx="5394960"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tasks/hpc/orbit.py:261–265  ·  VERBATIM</a:t>
            </a:r>
            <a:endParaRPr lang="en-US" sz="850" dirty="0"/>
          </a:p>
        </p:txBody>
      </p:sp>
      <p:sp>
        <p:nvSpPr>
          <p:cNvPr id="16" name="Shape 14"/>
          <p:cNvSpPr/>
          <p:nvPr/>
        </p:nvSpPr>
        <p:spPr>
          <a:xfrm>
            <a:off x="6126480" y="1371600"/>
            <a:ext cx="6062472" cy="347472"/>
          </a:xfrm>
          <a:prstGeom prst="rect">
            <a:avLst/>
          </a:prstGeom>
          <a:solidFill>
            <a:srgbClr val="C0392B"/>
          </a:solidFill>
          <a:ln w="12700">
            <a:solidFill>
              <a:srgbClr val="C0392B"/>
            </a:solidFill>
            <a:prstDash val="solid"/>
          </a:ln>
        </p:spPr>
      </p:sp>
      <p:sp>
        <p:nvSpPr>
          <p:cNvPr id="17" name="Text 15"/>
          <p:cNvSpPr txBox="1"/>
          <p:nvPr/>
        </p:nvSpPr>
        <p:spPr>
          <a:xfrm>
            <a:off x="6217920" y="1371600"/>
            <a:ext cx="5852160" cy="3474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Findings 4 and 5 — what a terminal event does not carry</a:t>
            </a:r>
            <a:endParaRPr lang="en-US" sz="1250" dirty="0"/>
          </a:p>
        </p:txBody>
      </p:sp>
      <p:sp>
        <p:nvSpPr>
          <p:cNvPr id="18" name="Shape 16"/>
          <p:cNvSpPr/>
          <p:nvPr/>
        </p:nvSpPr>
        <p:spPr>
          <a:xfrm>
            <a:off x="6126480" y="1801368"/>
            <a:ext cx="6062472" cy="1417320"/>
          </a:xfrm>
          <a:prstGeom prst="rect">
            <a:avLst/>
          </a:prstGeom>
          <a:solidFill>
            <a:srgbClr val="3A1F1C"/>
          </a:solidFill>
          <a:ln w="12700">
            <a:solidFill>
              <a:srgbClr val="3A1F1C"/>
            </a:solidFill>
            <a:prstDash val="solid"/>
          </a:ln>
        </p:spPr>
      </p:sp>
      <p:sp>
        <p:nvSpPr>
          <p:cNvPr id="19" name="Text 17"/>
          <p:cNvSpPr txBox="1"/>
          <p:nvPr/>
        </p:nvSpPr>
        <p:spPr>
          <a:xfrm>
            <a:off x="6236208" y="1901952"/>
            <a:ext cx="5843016" cy="1216152"/>
          </a:xfrm>
          <a:prstGeom prst="rect">
            <a:avLst/>
          </a:prstGeom>
          <a:noFill/>
          <a:ln/>
        </p:spPr>
        <p:txBody>
          <a:bodyPr wrap="square" lIns="0" tIns="0" rIns="0" bIns="0" rtlCol="0" anchor="t"/>
          <a:lstStyle/>
          <a:p>
            <a:pPr indent="0" marL="0">
              <a:lnSpc>
                <a:spcPts val="1064"/>
              </a:lnSpc>
              <a:buNone/>
            </a:pPr>
            <a:r>
              <a:rPr lang="en-US" sz="851" dirty="0">
                <a:solidFill>
                  <a:srgbClr val="DCE5EC"/>
                </a:solidFill>
                <a:latin typeface="Consolas" pitchFamily="34" charset="0"/>
                <a:ea typeface="Consolas" pitchFamily="34" charset="-122"/>
                <a:cs typeface="Consolas" pitchFamily="34" charset="-120"/>
              </a:rPr>
              <a:t># The terminal event carries state and exit_code but not</a:t>
            </a:r>
            <a:endParaRPr lang="en-US" sz="851" dirty="0"/>
          </a:p>
          <a:p>
            <a:pPr indent="0" marL="0">
              <a:lnSpc>
                <a:spcPts val="1064"/>
              </a:lnSpc>
              <a:buNone/>
            </a:pPr>
            <a:r>
              <a:rPr lang="en-US" sz="851" dirty="0">
                <a:solidFill>
                  <a:srgbClr val="DCE5EC"/>
                </a:solidFill>
                <a:latin typeface="Consolas" pitchFamily="34" charset="0"/>
                <a:ea typeface="Consolas" pitchFamily="34" charset="-122"/>
                <a:cs typeface="Consolas" pitchFamily="34" charset="-120"/>
              </a:rPr>
              <a:t># stdout, so the full record is fetched before the future</a:t>
            </a:r>
            <a:endParaRPr lang="en-US" sz="851" dirty="0"/>
          </a:p>
          <a:p>
            <a:pPr indent="0" marL="0">
              <a:lnSpc>
                <a:spcPts val="1064"/>
              </a:lnSpc>
              <a:buNone/>
            </a:pPr>
            <a:r>
              <a:rPr lang="en-US" sz="851" dirty="0">
                <a:solidFill>
                  <a:srgbClr val="DCE5EC"/>
                </a:solidFill>
                <a:latin typeface="Consolas" pitchFamily="34" charset="0"/>
                <a:ea typeface="Consolas" pitchFamily="34" charset="-122"/>
                <a:cs typeface="Consolas" pitchFamily="34" charset="-120"/>
              </a:rPr>
              <a:t># is resolved.</a:t>
            </a:r>
            <a:endParaRPr lang="en-US" sz="851" dirty="0"/>
          </a:p>
          <a:p>
            <a:pPr indent="0" marL="0">
              <a:lnSpc>
                <a:spcPts val="1064"/>
              </a:lnSpc>
              <a:buNone/>
            </a:pPr>
            <a:r>
              <a:rPr lang="en-US" sz="851" dirty="0">
                <a:solidFill>
                  <a:srgbClr val="DCE5EC"/>
                </a:solidFill>
                <a:latin typeface="Consolas" pitchFamily="34" charset="0"/>
                <a:ea typeface="Consolas" pitchFamily="34" charset="-122"/>
                <a:cs typeface="Consolas" pitchFamily="34" charset="-120"/>
              </a:rPr>
              <a:t>if not data.get("stdout") and self._rhapsody is not None:</a:t>
            </a:r>
            <a:endParaRPr lang="en-US" sz="851" dirty="0"/>
          </a:p>
          <a:p>
            <a:pPr indent="0" marL="0">
              <a:lnSpc>
                <a:spcPts val="1064"/>
              </a:lnSpc>
              <a:buNone/>
            </a:pPr>
            <a:r>
              <a:rPr lang="en-US" sz="851" dirty="0">
                <a:solidFill>
                  <a:srgbClr val="DCE5EC"/>
                </a:solidFill>
                <a:latin typeface="Consolas" pitchFamily="34" charset="0"/>
                <a:ea typeface="Consolas" pitchFamily="34" charset="-122"/>
                <a:cs typeface="Consolas" pitchFamily="34" charset="-120"/>
              </a:rPr>
              <a:t>    info = await asyncio.to_thread(</a:t>
            </a:r>
            <a:endParaRPr lang="en-US" sz="851" dirty="0"/>
          </a:p>
          <a:p>
            <a:pPr indent="0" marL="0">
              <a:lnSpc>
                <a:spcPts val="1064"/>
              </a:lnSpc>
              <a:buNone/>
            </a:pPr>
            <a:r>
              <a:rPr lang="en-US" sz="851" dirty="0">
                <a:solidFill>
                  <a:srgbClr val="DCE5EC"/>
                </a:solidFill>
                <a:latin typeface="Consolas" pitchFamily="34" charset="0"/>
                <a:ea typeface="Consolas" pitchFamily="34" charset="-122"/>
                <a:cs typeface="Consolas" pitchFamily="34" charset="-120"/>
              </a:rPr>
              <a:t>        self._rhapsody.get_task, handle.id)</a:t>
            </a:r>
            <a:endParaRPr lang="en-US" sz="851" dirty="0"/>
          </a:p>
          <a:p>
            <a:pPr indent="0" marL="0">
              <a:lnSpc>
                <a:spcPts val="1064"/>
              </a:lnSpc>
              <a:buNone/>
            </a:pPr>
            <a:r>
              <a:rPr lang="en-US" sz="851" dirty="0">
                <a:solidFill>
                  <a:srgbClr val="DCE5EC"/>
                </a:solidFill>
                <a:latin typeface="Consolas" pitchFamily="34" charset="0"/>
                <a:ea typeface="Consolas" pitchFamily="34" charset="-122"/>
                <a:cs typeface="Consolas" pitchFamily="34" charset="-120"/>
              </a:rPr>
              <a:t>    # The event wins on state; the fetch fills in the output.</a:t>
            </a:r>
            <a:endParaRPr lang="en-US" sz="851" dirty="0"/>
          </a:p>
          <a:p>
            <a:pPr indent="0" marL="0">
              <a:lnSpc>
                <a:spcPts val="1064"/>
              </a:lnSpc>
              <a:buNone/>
            </a:pPr>
            <a:r>
              <a:rPr lang="en-US" sz="851" dirty="0">
                <a:solidFill>
                  <a:srgbClr val="DCE5EC"/>
                </a:solidFill>
                <a:latin typeface="Consolas" pitchFamily="34" charset="0"/>
                <a:ea typeface="Consolas" pitchFamily="34" charset="-122"/>
                <a:cs typeface="Consolas" pitchFamily="34" charset="-120"/>
              </a:rPr>
              <a:t>    merged = {**info, **{k: v for k, v in data.items()</a:t>
            </a:r>
            <a:endParaRPr lang="en-US" sz="851" dirty="0"/>
          </a:p>
          <a:p>
            <a:pPr indent="0" marL="0">
              <a:lnSpc>
                <a:spcPts val="1064"/>
              </a:lnSpc>
              <a:buNone/>
            </a:pPr>
            <a:r>
              <a:rPr lang="en-US" sz="851" dirty="0">
                <a:solidFill>
                  <a:srgbClr val="DCE5EC"/>
                </a:solidFill>
                <a:latin typeface="Consolas" pitchFamily="34" charset="0"/>
                <a:ea typeface="Consolas" pitchFamily="34" charset="-122"/>
                <a:cs typeface="Consolas" pitchFamily="34" charset="-120"/>
              </a:rPr>
              <a:t>                         if v not in (None, "")}}</a:t>
            </a:r>
            <a:endParaRPr lang="en-US" sz="851" dirty="0"/>
          </a:p>
        </p:txBody>
      </p:sp>
      <p:sp>
        <p:nvSpPr>
          <p:cNvPr id="20" name="Text 18"/>
          <p:cNvSpPr txBox="1"/>
          <p:nvPr/>
        </p:nvSpPr>
        <p:spPr>
          <a:xfrm>
            <a:off x="6126480" y="3246120"/>
            <a:ext cx="6062472"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tasks/hpc/orbit.py:286–299  ·  TRIMMED</a:t>
            </a:r>
            <a:endParaRPr lang="en-US" sz="850" dirty="0"/>
          </a:p>
        </p:txBody>
      </p:sp>
      <p:sp>
        <p:nvSpPr>
          <p:cNvPr id="21" name="Shape 19"/>
          <p:cNvSpPr/>
          <p:nvPr/>
        </p:nvSpPr>
        <p:spPr>
          <a:xfrm>
            <a:off x="6126480" y="3337560"/>
            <a:ext cx="6062472" cy="749808"/>
          </a:xfrm>
          <a:prstGeom prst="rect">
            <a:avLst/>
          </a:prstGeom>
          <a:solidFill>
            <a:srgbClr val="3A1F1C"/>
          </a:solidFill>
          <a:ln w="12700">
            <a:solidFill>
              <a:srgbClr val="3A1F1C"/>
            </a:solidFill>
            <a:prstDash val="solid"/>
          </a:ln>
        </p:spPr>
      </p:sp>
      <p:sp>
        <p:nvSpPr>
          <p:cNvPr id="22" name="Text 20"/>
          <p:cNvSpPr txBox="1"/>
          <p:nvPr/>
        </p:nvSpPr>
        <p:spPr>
          <a:xfrm>
            <a:off x="6236208" y="3438144"/>
            <a:ext cx="5843016" cy="548640"/>
          </a:xfrm>
          <a:prstGeom prst="rect">
            <a:avLst/>
          </a:prstGeom>
          <a:noFill/>
          <a:ln/>
        </p:spPr>
        <p:txBody>
          <a:bodyPr wrap="square" lIns="0" tIns="0" rIns="0" bIns="0" rtlCol="0" anchor="t"/>
          <a:lstStyle/>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if state is TaskState.FAILED and not error:</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    error = (f"exit code {exit_code}" if exit_code not in (None, 0)</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             else (data.get("stderr")</a:t>
            </a:r>
            <a:endParaRPr lang="en-US" sz="864" dirty="0"/>
          </a:p>
          <a:p>
            <a:pPr indent="0" marL="0">
              <a:lnSpc>
                <a:spcPts val="1080"/>
              </a:lnSpc>
              <a:buNone/>
            </a:pPr>
            <a:r>
              <a:rPr lang="en-US" sz="864" dirty="0">
                <a:solidFill>
                  <a:srgbClr val="DCE5EC"/>
                </a:solidFill>
                <a:latin typeface="Consolas" pitchFamily="34" charset="0"/>
                <a:ea typeface="Consolas" pitchFamily="34" charset="-122"/>
                <a:cs typeface="Consolas" pitchFamily="34" charset="-120"/>
              </a:rPr>
              <a:t>                   or handle.log_tail[-500:] or "job failed"))</a:t>
            </a:r>
            <a:endParaRPr lang="en-US" sz="864" dirty="0"/>
          </a:p>
        </p:txBody>
      </p:sp>
      <p:sp>
        <p:nvSpPr>
          <p:cNvPr id="23" name="Text 21"/>
          <p:cNvSpPr txBox="1"/>
          <p:nvPr/>
        </p:nvSpPr>
        <p:spPr>
          <a:xfrm>
            <a:off x="6126480" y="4114800"/>
            <a:ext cx="6062472"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tasks/hpc/orbit.py:353–357  ·  TRIMMED</a:t>
            </a:r>
            <a:endParaRPr lang="en-US" sz="850" dirty="0"/>
          </a:p>
        </p:txBody>
      </p:sp>
      <p:sp>
        <p:nvSpPr>
          <p:cNvPr id="24" name="Text 22"/>
          <p:cNvSpPr txBox="1"/>
          <p:nvPr/>
        </p:nvSpPr>
        <p:spPr>
          <a:xfrm>
            <a:off x="6126480" y="4206240"/>
            <a:ext cx="6062472" cy="502920"/>
          </a:xfrm>
          <a:prstGeom prst="rect">
            <a:avLst/>
          </a:prstGeom>
          <a:noFill/>
          <a:ln/>
        </p:spPr>
        <p:txBody>
          <a:bodyPr wrap="square" lIns="0" tIns="0" rIns="0" bIns="0" rtlCol="0" anchor="t"/>
          <a:lstStyle/>
          <a:p>
            <a:pPr indent="0" marL="0">
              <a:buNone/>
            </a:pPr>
            <a:r>
              <a:rPr lang="en-US" sz="1100" dirty="0">
                <a:solidFill>
                  <a:srgbClr val="C0392B"/>
                </a:solidFill>
                <a:latin typeface="Calibri" pitchFamily="34" charset="0"/>
                <a:ea typeface="Calibri" pitchFamily="34" charset="-122"/>
                <a:cs typeface="Calibri" pitchFamily="34" charset="-120"/>
              </a:rPr>
              <a:t>A completed task's result came back empty until the re-fetch. A job that exited 3 reported no reason at all — only the code — so FAILED always synthesises an explanation.</a:t>
            </a:r>
            <a:endParaRPr lang="en-US" sz="1100" dirty="0"/>
          </a:p>
        </p:txBody>
      </p:sp>
      <p:sp>
        <p:nvSpPr>
          <p:cNvPr id="25" name="Shape 23"/>
          <p:cNvSpPr/>
          <p:nvPr/>
        </p:nvSpPr>
        <p:spPr>
          <a:xfrm>
            <a:off x="6126480" y="4754880"/>
            <a:ext cx="6062472" cy="1005840"/>
          </a:xfrm>
          <a:prstGeom prst="rect">
            <a:avLst/>
          </a:prstGeom>
          <a:solidFill>
            <a:srgbClr val="EEF2F5"/>
          </a:solidFill>
          <a:ln w="12700">
            <a:solidFill>
              <a:srgbClr val="EEF2F5"/>
            </a:solidFill>
            <a:prstDash val="solid"/>
          </a:ln>
        </p:spPr>
      </p:sp>
      <p:sp>
        <p:nvSpPr>
          <p:cNvPr id="26" name="Text 24"/>
          <p:cNvSpPr txBox="1"/>
          <p:nvPr/>
        </p:nvSpPr>
        <p:spPr>
          <a:xfrm>
            <a:off x="6263640" y="4846320"/>
            <a:ext cx="5788152"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Proven, and only this far</a:t>
            </a:r>
            <a:endParaRPr lang="en-US" sz="1300" dirty="0"/>
          </a:p>
        </p:txBody>
      </p:sp>
      <p:sp>
        <p:nvSpPr>
          <p:cNvPr id="27" name="Text 25"/>
          <p:cNvSpPr txBox="1"/>
          <p:nvPr/>
        </p:nvSpPr>
        <p:spPr>
          <a:xfrm>
            <a:off x="6263640" y="5166360"/>
            <a:ext cx="5788152" cy="5029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6 tests against a real localhost broker + endpoint: push states, incremental log tailing by offset, a failing job, and cancelling a running one.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Never run against a scheduler. That is the next real step.</a:t>
            </a:r>
            <a:endParaRPr lang="en-US" sz="1050" dirty="0"/>
          </a:p>
        </p:txBody>
      </p:sp>
      <p:sp>
        <p:nvSpPr>
          <p:cNvPr id="28" name="Text 26"/>
          <p:cNvSpPr txBox="1"/>
          <p:nvPr/>
        </p:nvSpPr>
        <p:spPr>
          <a:xfrm>
            <a:off x="457200" y="6473952"/>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tests/test_orbit_local.py — skipped unless the Orbit CLI scripts are runnable; LocalOrbitStack brings up broker and endpoint as subprocesses.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REMOTE · THE OTHER BACKEND</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Designed for two, implemented for one</a:t>
            </a:r>
            <a:endParaRPr lang="en-US" sz="2800" dirty="0"/>
          </a:p>
        </p:txBody>
      </p:sp>
      <p:sp>
        <p:nvSpPr>
          <p:cNvPr id="4" name="Shape 2"/>
          <p:cNvSpPr/>
          <p:nvPr/>
        </p:nvSpPr>
        <p:spPr>
          <a:xfrm>
            <a:off x="3383280" y="1417320"/>
            <a:ext cx="6126480" cy="457200"/>
          </a:xfrm>
          <a:prstGeom prst="rect">
            <a:avLst/>
          </a:prstGeom>
          <a:solidFill>
            <a:srgbClr val="E3F0F1"/>
          </a:solidFill>
          <a:ln w="19050">
            <a:solidFill>
              <a:srgbClr val="1E6470"/>
            </a:solidFill>
            <a:prstDash val="solid"/>
          </a:ln>
        </p:spPr>
      </p:sp>
      <p:sp>
        <p:nvSpPr>
          <p:cNvPr id="5" name="Text 3"/>
          <p:cNvSpPr txBox="1"/>
          <p:nvPr/>
        </p:nvSpPr>
        <p:spPr>
          <a:xfrm>
            <a:off x="3474720" y="1472184"/>
            <a:ext cx="5943600" cy="347472"/>
          </a:xfrm>
          <a:prstGeom prst="rect">
            <a:avLst/>
          </a:prstGeom>
          <a:noFill/>
          <a:ln/>
        </p:spPr>
        <p:txBody>
          <a:bodyPr wrap="square" lIns="0" tIns="0" rIns="0" bIns="0" rtlCol="0" anchor="ctr"/>
          <a:lstStyle/>
          <a:p>
            <a:pPr algn="l" indent="0" marL="0">
              <a:buNone/>
            </a:pPr>
            <a:r>
              <a:rPr lang="en-US" sz="1250" b="1" dirty="0">
                <a:solidFill>
                  <a:srgbClr val="16222B"/>
                </a:solidFill>
                <a:latin typeface="Calibri" pitchFamily="34" charset="0"/>
                <a:ea typeface="Calibri" pitchFamily="34" charset="-122"/>
                <a:cs typeface="Calibri" pitchFamily="34" charset="-120"/>
              </a:rPr>
              <a:t>RemoteWorkflowInterface(TaskInterface)</a:t>
            </a:r>
            <a:endParaRPr lang="en-US" sz="1400" dirty="0"/>
          </a:p>
          <a:p>
            <a:pPr algn="l" indent="0" marL="0">
              <a:buNone/>
            </a:pPr>
            <a:r>
              <a:rPr lang="en-US" sz="1000" dirty="0">
                <a:solidFill>
                  <a:srgbClr val="5E6B75"/>
                </a:solidFill>
                <a:latin typeface="Calibri" pitchFamily="34" charset="0"/>
                <a:ea typeface="Calibri" pitchFamily="34" charset="-122"/>
                <a:cs typeface="Calibri" pitchFamily="34" charset="-120"/>
              </a:rPr>
              <a:t>   connect · connected · _track · get · _settle</a:t>
            </a:r>
            <a:endParaRPr lang="en-US" sz="1400" dirty="0"/>
          </a:p>
        </p:txBody>
      </p:sp>
      <p:sp>
        <p:nvSpPr>
          <p:cNvPr id="6" name="Shape 4"/>
          <p:cNvSpPr/>
          <p:nvPr/>
        </p:nvSpPr>
        <p:spPr>
          <a:xfrm flipH="1">
            <a:off x="4297680" y="1874520"/>
            <a:ext cx="731520" cy="411480"/>
          </a:xfrm>
          <a:prstGeom prst="line">
            <a:avLst/>
          </a:prstGeom>
          <a:noFill/>
          <a:ln w="19050">
            <a:solidFill>
              <a:srgbClr val="1E6470"/>
            </a:solidFill>
            <a:prstDash val="solid"/>
            <a:tailEnd type="triangle"/>
          </a:ln>
        </p:spPr>
      </p:sp>
      <p:sp>
        <p:nvSpPr>
          <p:cNvPr id="7" name="Shape 5"/>
          <p:cNvSpPr/>
          <p:nvPr/>
        </p:nvSpPr>
        <p:spPr>
          <a:xfrm>
            <a:off x="7863840" y="1874520"/>
            <a:ext cx="731520" cy="411480"/>
          </a:xfrm>
          <a:prstGeom prst="line">
            <a:avLst/>
          </a:prstGeom>
          <a:noFill/>
          <a:ln w="19050">
            <a:solidFill>
              <a:srgbClr val="1E6470"/>
            </a:solidFill>
            <a:prstDash val="dash"/>
            <a:tailEnd type="triangle"/>
          </a:ln>
        </p:spPr>
      </p:sp>
      <p:sp>
        <p:nvSpPr>
          <p:cNvPr id="8" name="Shape 6"/>
          <p:cNvSpPr/>
          <p:nvPr/>
        </p:nvSpPr>
        <p:spPr>
          <a:xfrm>
            <a:off x="2194560" y="2286000"/>
            <a:ext cx="4114800" cy="914400"/>
          </a:xfrm>
          <a:prstGeom prst="roundRect">
            <a:avLst>
              <a:gd name="adj" fmla="val 8000"/>
            </a:avLst>
          </a:prstGeom>
          <a:solidFill>
            <a:srgbClr val="FCEBDD"/>
          </a:solidFill>
          <a:ln w="19050">
            <a:solidFill>
              <a:srgbClr val="D9731A"/>
            </a:solidFill>
            <a:prstDash val="sysDot"/>
          </a:ln>
        </p:spPr>
      </p:sp>
      <p:sp>
        <p:nvSpPr>
          <p:cNvPr id="9" name="Text 7"/>
          <p:cNvSpPr txBox="1"/>
          <p:nvPr/>
        </p:nvSpPr>
        <p:spPr>
          <a:xfrm>
            <a:off x="2286000" y="2340864"/>
            <a:ext cx="3931920" cy="804672"/>
          </a:xfrm>
          <a:prstGeom prst="rect">
            <a:avLst/>
          </a:prstGeom>
          <a:noFill/>
          <a:ln/>
        </p:spPr>
        <p:txBody>
          <a:bodyPr wrap="square" lIns="0" tIns="0" rIns="0" bIns="0" rtlCol="0" anchor="ctr"/>
          <a:lstStyle/>
          <a:p>
            <a:pPr algn="ctr" indent="0" marL="0">
              <a:buNone/>
            </a:pPr>
            <a:r>
              <a:rPr lang="en-US" sz="1300" b="1" dirty="0">
                <a:solidFill>
                  <a:srgbClr val="D9731A"/>
                </a:solidFill>
                <a:latin typeface="Calibri" pitchFamily="34" charset="0"/>
                <a:ea typeface="Calibri" pitchFamily="34" charset="-122"/>
                <a:cs typeface="Calibri" pitchFamily="34" charset="-120"/>
              </a:rPr>
              <a:t>OrbitInterface</a:t>
            </a:r>
            <a:endParaRPr lang="en-US" sz="1400" dirty="0"/>
          </a:p>
          <a:p>
            <a:pPr algn="ctr" indent="0" marL="0">
              <a:buNone/>
            </a:pPr>
            <a:endParaRPr lang="en-US" sz="1400" dirty="0"/>
          </a:p>
          <a:p>
            <a:pPr algn="ctr" indent="0" marL="0">
              <a:buNone/>
            </a:pPr>
            <a:r>
              <a:rPr lang="en-US" sz="1050" dirty="0">
                <a:solidFill>
                  <a:srgbClr val="5E6B75"/>
                </a:solidFill>
                <a:latin typeface="Calibri" pitchFamily="34" charset="0"/>
                <a:ea typeface="Calibri" pitchFamily="34" charset="-122"/>
                <a:cs typeface="Calibri" pitchFamily="34" charset="-120"/>
              </a:rPr>
              <a:t>implemented, tested against a live localhost stack</a:t>
            </a:r>
            <a:endParaRPr lang="en-US" sz="1400" dirty="0"/>
          </a:p>
        </p:txBody>
      </p:sp>
      <p:sp>
        <p:nvSpPr>
          <p:cNvPr id="10" name="Shape 8"/>
          <p:cNvSpPr/>
          <p:nvPr/>
        </p:nvSpPr>
        <p:spPr>
          <a:xfrm>
            <a:off x="6766560" y="2286000"/>
            <a:ext cx="4114800" cy="914400"/>
          </a:xfrm>
          <a:prstGeom prst="roundRect">
            <a:avLst>
              <a:gd name="adj" fmla="val 8000"/>
            </a:avLst>
          </a:prstGeom>
          <a:solidFill>
            <a:srgbClr val="FFFFFF"/>
          </a:solidFill>
          <a:ln w="19050">
            <a:solidFill>
              <a:srgbClr val="5E6B75"/>
            </a:solidFill>
            <a:prstDash val="dash"/>
          </a:ln>
        </p:spPr>
      </p:sp>
      <p:sp>
        <p:nvSpPr>
          <p:cNvPr id="11" name="Text 9"/>
          <p:cNvSpPr txBox="1"/>
          <p:nvPr/>
        </p:nvSpPr>
        <p:spPr>
          <a:xfrm>
            <a:off x="6858000" y="2340864"/>
            <a:ext cx="3931920" cy="804672"/>
          </a:xfrm>
          <a:prstGeom prst="rect">
            <a:avLst/>
          </a:prstGeom>
          <a:noFill/>
          <a:ln/>
        </p:spPr>
        <p:txBody>
          <a:bodyPr wrap="square" lIns="0" tIns="0" rIns="0" bIns="0" rtlCol="0" anchor="ctr"/>
          <a:lstStyle/>
          <a:p>
            <a:pPr algn="ctr" indent="0" marL="0">
              <a:buNone/>
            </a:pPr>
            <a:r>
              <a:rPr lang="en-US" sz="1300" b="1" dirty="0">
                <a:solidFill>
                  <a:srgbClr val="16222B"/>
                </a:solidFill>
                <a:latin typeface="Calibri" pitchFamily="34" charset="0"/>
                <a:ea typeface="Calibri" pitchFamily="34" charset="-122"/>
                <a:cs typeface="Calibri" pitchFamily="34" charset="-120"/>
              </a:rPr>
              <a:t>GlobusComputeInterface</a:t>
            </a:r>
            <a:endParaRPr lang="en-US" sz="1400" dirty="0"/>
          </a:p>
          <a:p>
            <a:pPr algn="ctr" indent="0" marL="0">
              <a:buNone/>
            </a:pPr>
            <a:endParaRPr lang="en-US" sz="1400" dirty="0"/>
          </a:p>
          <a:p>
            <a:pPr algn="ctr" indent="0" marL="0">
              <a:buNone/>
            </a:pPr>
            <a:r>
              <a:rPr lang="en-US" sz="1050" dirty="0">
                <a:solidFill>
                  <a:srgbClr val="5E6B75"/>
                </a:solidFill>
                <a:latin typeface="Calibri" pitchFamily="34" charset="0"/>
                <a:ea typeface="Calibri" pitchFamily="34" charset="-122"/>
                <a:cs typeface="Calibri" pitchFamily="34" charset="-120"/>
              </a:rPr>
              <a:t>structurally complete, never met a live endpoint</a:t>
            </a:r>
            <a:endParaRPr lang="en-US" sz="1400" dirty="0"/>
          </a:p>
        </p:txBody>
      </p:sp>
      <p:sp>
        <p:nvSpPr>
          <p:cNvPr id="12" name="Shape 10"/>
          <p:cNvSpPr/>
          <p:nvPr/>
        </p:nvSpPr>
        <p:spPr>
          <a:xfrm>
            <a:off x="457200" y="3429000"/>
            <a:ext cx="5760720" cy="1371600"/>
          </a:xfrm>
          <a:prstGeom prst="rect">
            <a:avLst/>
          </a:prstGeom>
          <a:solidFill>
            <a:srgbClr val="E3F0F1"/>
          </a:solidFill>
          <a:ln w="12700">
            <a:solidFill>
              <a:srgbClr val="E3F0F1"/>
            </a:solidFill>
            <a:prstDash val="solid"/>
          </a:ln>
        </p:spPr>
      </p:sp>
      <p:sp>
        <p:nvSpPr>
          <p:cNvPr id="13" name="Text 11"/>
          <p:cNvSpPr txBox="1"/>
          <p:nvPr/>
        </p:nvSpPr>
        <p:spPr>
          <a:xfrm>
            <a:off x="594360" y="3520440"/>
            <a:ext cx="5486400" cy="274320"/>
          </a:xfrm>
          <a:prstGeom prst="rect">
            <a:avLst/>
          </a:prstGeom>
          <a:noFill/>
          <a:ln/>
        </p:spPr>
        <p:txBody>
          <a:bodyPr wrap="square" lIns="0" tIns="0" rIns="0" bIns="0" rtlCol="0" anchor="t"/>
          <a:lstStyle/>
          <a:p>
            <a:pPr indent="0" marL="0">
              <a:buNone/>
            </a:pPr>
            <a:r>
              <a:rPr lang="en-US" sz="1300" b="1" dirty="0">
                <a:solidFill>
                  <a:srgbClr val="1E6470"/>
                </a:solidFill>
                <a:latin typeface="Calibri" pitchFamily="34" charset="0"/>
                <a:ea typeface="Calibri" pitchFamily="34" charset="-122"/>
                <a:cs typeface="Calibri" pitchFamily="34" charset="-120"/>
              </a:rPr>
              <a:t>What the abstraction cost</a:t>
            </a:r>
            <a:endParaRPr lang="en-US" sz="1300" dirty="0"/>
          </a:p>
        </p:txBody>
      </p:sp>
      <p:sp>
        <p:nvSpPr>
          <p:cNvPr id="14" name="Text 12"/>
          <p:cNvSpPr txBox="1"/>
          <p:nvPr/>
        </p:nvSpPr>
        <p:spPr>
          <a:xfrm>
            <a:off x="594360" y="3840480"/>
            <a:ext cx="5486400" cy="8686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Almost nothing: connect/_track/_settle plus drain_logs is the whole shared surface, and it is 102 lines.</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interesting work is backend-specific by nature — Orbit's push callbacks have no Globus analogue.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So the ABC's job is to make the differences declarable rather than to hide them.</a:t>
            </a:r>
            <a:endParaRPr lang="en-US" sz="1050" dirty="0"/>
          </a:p>
        </p:txBody>
      </p:sp>
      <p:sp>
        <p:nvSpPr>
          <p:cNvPr id="15" name="Shape 13"/>
          <p:cNvSpPr/>
          <p:nvPr/>
        </p:nvSpPr>
        <p:spPr>
          <a:xfrm>
            <a:off x="6492240" y="3429000"/>
            <a:ext cx="5696712" cy="1188720"/>
          </a:xfrm>
          <a:prstGeom prst="rect">
            <a:avLst/>
          </a:prstGeom>
          <a:solidFill>
            <a:srgbClr val="16222B"/>
          </a:solidFill>
          <a:ln w="12700">
            <a:solidFill>
              <a:srgbClr val="16222B"/>
            </a:solidFill>
            <a:prstDash val="solid"/>
          </a:ln>
        </p:spPr>
      </p:sp>
      <p:sp>
        <p:nvSpPr>
          <p:cNvPr id="16" name="Text 14"/>
          <p:cNvSpPr txBox="1"/>
          <p:nvPr/>
        </p:nvSpPr>
        <p:spPr>
          <a:xfrm>
            <a:off x="6601968" y="3529584"/>
            <a:ext cx="5477256" cy="987552"/>
          </a:xfrm>
          <a:prstGeom prst="rect">
            <a:avLst/>
          </a:prstGeom>
          <a:noFill/>
          <a:ln/>
        </p:spPr>
        <p:txBody>
          <a:bodyPr wrap="square" lIns="0" tIns="0" rIns="0" bIns="0" rtlCol="0" anchor="t"/>
          <a:lstStyle/>
          <a:p>
            <a:pPr indent="0" marL="0">
              <a:lnSpc>
                <a:spcPts val="1111"/>
              </a:lnSpc>
              <a:buNone/>
            </a:pPr>
            <a:r>
              <a:rPr lang="en-US" sz="889" dirty="0">
                <a:solidFill>
                  <a:srgbClr val="DCE5EC"/>
                </a:solidFill>
                <a:latin typeface="Consolas" pitchFamily="34" charset="0"/>
                <a:ea typeface="Consolas" pitchFamily="34" charset="-122"/>
                <a:cs typeface="Consolas" pitchFamily="34" charset="-120"/>
              </a:rPr>
              <a:t>capabilities = Capabilities(</a:t>
            </a:r>
            <a:endParaRPr lang="en-US" sz="889" dirty="0"/>
          </a:p>
          <a:p>
            <a:pPr indent="0" marL="0">
              <a:lnSpc>
                <a:spcPts val="1111"/>
              </a:lnSpc>
              <a:buNone/>
            </a:pPr>
            <a:r>
              <a:rPr lang="en-US" sz="889" dirty="0">
                <a:solidFill>
                  <a:srgbClr val="DCE5EC"/>
                </a:solidFill>
                <a:latin typeface="Consolas" pitchFamily="34" charset="0"/>
                <a:ea typeface="Consolas" pitchFamily="34" charset="-122"/>
                <a:cs typeface="Consolas" pitchFamily="34" charset="-120"/>
              </a:rPr>
              <a:t>    supports_cancel=False,      # only before start; see cancel()</a:t>
            </a:r>
            <a:endParaRPr lang="en-US" sz="889" dirty="0"/>
          </a:p>
          <a:p>
            <a:pPr indent="0" marL="0">
              <a:lnSpc>
                <a:spcPts val="1111"/>
              </a:lnSpc>
              <a:buNone/>
            </a:pPr>
            <a:r>
              <a:rPr lang="en-US" sz="889" dirty="0">
                <a:solidFill>
                  <a:srgbClr val="DCE5EC"/>
                </a:solidFill>
                <a:latin typeface="Consolas" pitchFamily="34" charset="0"/>
                <a:ea typeface="Consolas" pitchFamily="34" charset="-122"/>
                <a:cs typeface="Consolas" pitchFamily="34" charset="-120"/>
              </a:rPr>
              <a:t>    supports_log_stream=False,  # final stdout only</a:t>
            </a:r>
            <a:endParaRPr lang="en-US" sz="889" dirty="0"/>
          </a:p>
          <a:p>
            <a:pPr indent="0" marL="0">
              <a:lnSpc>
                <a:spcPts val="1111"/>
              </a:lnSpc>
              <a:buNone/>
            </a:pPr>
            <a:r>
              <a:rPr lang="en-US" sz="889" dirty="0">
                <a:solidFill>
                  <a:srgbClr val="DCE5EC"/>
                </a:solidFill>
                <a:latin typeface="Consolas" pitchFamily="34" charset="0"/>
                <a:ea typeface="Consolas" pitchFamily="34" charset="-122"/>
                <a:cs typeface="Consolas" pitchFamily="34" charset="-120"/>
              </a:rPr>
              <a:t>    supports_push_events=False, # the future resolves; no</a:t>
            </a:r>
            <a:endParaRPr lang="en-US" sz="889" dirty="0"/>
          </a:p>
          <a:p>
            <a:pPr indent="0" marL="0">
              <a:lnSpc>
                <a:spcPts val="1111"/>
              </a:lnSpc>
              <a:buNone/>
            </a:pPr>
            <a:r>
              <a:rPr lang="en-US" sz="889" dirty="0">
                <a:solidFill>
                  <a:srgbClr val="DCE5EC"/>
                </a:solidFill>
                <a:latin typeface="Consolas" pitchFamily="34" charset="0"/>
                <a:ea typeface="Consolas" pitchFamily="34" charset="-122"/>
                <a:cs typeface="Consolas" pitchFamily="34" charset="-120"/>
              </a:rPr>
              <a:t>                                # intermediate states</a:t>
            </a:r>
            <a:endParaRPr lang="en-US" sz="889" dirty="0"/>
          </a:p>
          <a:p>
            <a:pPr indent="0" marL="0">
              <a:lnSpc>
                <a:spcPts val="1111"/>
              </a:lnSpc>
              <a:buNone/>
            </a:pPr>
            <a:r>
              <a:rPr lang="en-US" sz="889" dirty="0">
                <a:solidFill>
                  <a:srgbClr val="DCE5EC"/>
                </a:solidFill>
                <a:latin typeface="Consolas" pitchFamily="34" charset="0"/>
                <a:ea typeface="Consolas" pitchFamily="34" charset="-122"/>
                <a:cs typeface="Consolas" pitchFamily="34" charset="-120"/>
              </a:rPr>
              <a:t>    supports_staging=False,     # shared FS or Globus Transfer</a:t>
            </a:r>
            <a:endParaRPr lang="en-US" sz="889" dirty="0"/>
          </a:p>
          <a:p>
            <a:pPr indent="0" marL="0">
              <a:lnSpc>
                <a:spcPts val="1111"/>
              </a:lnSpc>
              <a:buNone/>
            </a:pPr>
            <a:r>
              <a:rPr lang="en-US" sz="889" dirty="0">
                <a:solidFill>
                  <a:srgbClr val="DCE5EC"/>
                </a:solidFill>
                <a:latin typeface="Consolas" pitchFamily="34" charset="0"/>
                <a:ea typeface="Consolas" pitchFamily="34" charset="-122"/>
                <a:cs typeface="Consolas" pitchFamily="34" charset="-120"/>
              </a:rPr>
              <a:t>)</a:t>
            </a:r>
            <a:endParaRPr lang="en-US" sz="889" dirty="0"/>
          </a:p>
        </p:txBody>
      </p:sp>
      <p:sp>
        <p:nvSpPr>
          <p:cNvPr id="17" name="Text 15"/>
          <p:cNvSpPr txBox="1"/>
          <p:nvPr/>
        </p:nvSpPr>
        <p:spPr>
          <a:xfrm>
            <a:off x="6492240" y="4645152"/>
            <a:ext cx="5696712"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tasks/hpc/globus.py:31–36  ·  VERBATIM</a:t>
            </a:r>
            <a:endParaRPr lang="en-US" sz="850" dirty="0"/>
          </a:p>
        </p:txBody>
      </p:sp>
      <p:sp>
        <p:nvSpPr>
          <p:cNvPr id="18" name="Shape 16"/>
          <p:cNvSpPr/>
          <p:nvPr/>
        </p:nvSpPr>
        <p:spPr>
          <a:xfrm>
            <a:off x="6492240" y="4754880"/>
            <a:ext cx="5696712" cy="1005840"/>
          </a:xfrm>
          <a:prstGeom prst="rect">
            <a:avLst/>
          </a:prstGeom>
          <a:solidFill>
            <a:srgbClr val="EEF2F5"/>
          </a:solidFill>
          <a:ln w="12700">
            <a:solidFill>
              <a:srgbClr val="EEF2F5"/>
            </a:solidFill>
            <a:prstDash val="solid"/>
          </a:ln>
        </p:spPr>
      </p:sp>
      <p:sp>
        <p:nvSpPr>
          <p:cNvPr id="19" name="Text 17"/>
          <p:cNvSpPr txBox="1"/>
          <p:nvPr/>
        </p:nvSpPr>
        <p:spPr>
          <a:xfrm>
            <a:off x="6629400" y="4846320"/>
            <a:ext cx="5422392"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Testable with no endpoint</a:t>
            </a:r>
            <a:endParaRPr lang="en-US" sz="1300" dirty="0"/>
          </a:p>
        </p:txBody>
      </p:sp>
      <p:sp>
        <p:nvSpPr>
          <p:cNvPr id="20" name="Text 18"/>
          <p:cNvSpPr txBox="1"/>
          <p:nvPr/>
        </p:nvSpPr>
        <p:spPr>
          <a:xfrm>
            <a:off x="6629400" y="5166360"/>
            <a:ext cx="5422392" cy="5029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GlobusRunner's executor_factory is injectable, so the suite passes a plain executor taking a callable.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argv is a list run with no shell on that path; the real ShellFunction path uses shlex.join because its API takes a string. A test proves a metacharacter stays data.</a:t>
            </a:r>
            <a:endParaRPr lang="en-US" sz="1050" dirty="0"/>
          </a:p>
        </p:txBody>
      </p:sp>
      <p:sp>
        <p:nvSpPr>
          <p:cNvPr id="21" name="Text 19"/>
          <p:cNvSpPr txBox="1"/>
          <p:nvPr/>
        </p:nvSpPr>
        <p:spPr>
          <a:xfrm>
            <a:off x="457200" y="4983480"/>
            <a:ext cx="5760720" cy="777240"/>
          </a:xfrm>
          <a:prstGeom prst="rect">
            <a:avLst/>
          </a:prstGeom>
          <a:noFill/>
          <a:ln/>
        </p:spPr>
        <p:txBody>
          <a:bodyPr wrap="square" lIns="0" tIns="0" rIns="0" bIns="0" rtlCol="0" anchor="t"/>
          <a:lstStyle/>
          <a:p>
            <a:pPr indent="0" marL="0">
              <a:buNone/>
            </a:pPr>
            <a:r>
              <a:rPr lang="en-US" sz="1250" b="1" dirty="0">
                <a:solidFill>
                  <a:srgbClr val="16222B"/>
                </a:solidFill>
                <a:latin typeface="Calibri" pitchFamily="34" charset="0"/>
                <a:ea typeface="Calibri" pitchFamily="34" charset="-122"/>
                <a:cs typeface="Calibri" pitchFamily="34" charset="-120"/>
              </a:rPr>
              <a:t>The claim I will defend: </a:t>
            </a:r>
            <a:pPr indent="0" marL="0">
              <a:buNone/>
            </a:pPr>
            <a:r>
              <a:rPr lang="en-US" sz="1250" dirty="0">
                <a:solidFill>
                  <a:srgbClr val="22303C"/>
                </a:solidFill>
                <a:latin typeface="Calibri" pitchFamily="34" charset="0"/>
                <a:ea typeface="Calibri" pitchFamily="34" charset="-122"/>
                <a:cs typeface="Calibri" pitchFamily="34" charset="-120"/>
              </a:rPr>
              <a:t>the capability flags are more valuable than the shared base class. They are what let the manager and the UI behave correctly against a backend they were not written for.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TASK AGENTS</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Local Task Agents: a spec, not generated code</a:t>
            </a:r>
            <a:endParaRPr lang="en-US" sz="2800" dirty="0"/>
          </a:p>
        </p:txBody>
      </p:sp>
      <p:sp>
        <p:nvSpPr>
          <p:cNvPr id="4" name="Shape 2"/>
          <p:cNvSpPr/>
          <p:nvPr/>
        </p:nvSpPr>
        <p:spPr>
          <a:xfrm>
            <a:off x="457200" y="1417320"/>
            <a:ext cx="2103120" cy="685800"/>
          </a:xfrm>
          <a:prstGeom prst="roundRect">
            <a:avLst>
              <a:gd name="adj" fmla="val 10667"/>
            </a:avLst>
          </a:prstGeom>
          <a:solidFill>
            <a:srgbClr val="FFFFFF"/>
          </a:solidFill>
          <a:ln w="19050">
            <a:solidFill>
              <a:srgbClr val="3B4E8C"/>
            </a:solidFill>
            <a:prstDash val="solid"/>
          </a:ln>
        </p:spPr>
      </p:sp>
      <p:sp>
        <p:nvSpPr>
          <p:cNvPr id="5" name="Text 3"/>
          <p:cNvSpPr txBox="1"/>
          <p:nvPr/>
        </p:nvSpPr>
        <p:spPr>
          <a:xfrm>
            <a:off x="548640" y="1472184"/>
            <a:ext cx="1920240" cy="576072"/>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design state</a:t>
            </a:r>
            <a:endParaRPr lang="en-US" sz="1400" dirty="0"/>
          </a:p>
          <a:p>
            <a:pPr algn="ctr" indent="0" marL="0">
              <a:buNone/>
            </a:pPr>
            <a:r>
              <a:rPr lang="en-US" sz="1150" b="1" dirty="0">
                <a:solidFill>
                  <a:srgbClr val="16222B"/>
                </a:solidFill>
                <a:latin typeface="Calibri" pitchFamily="34" charset="0"/>
                <a:ea typeface="Calibri" pitchFamily="34" charset="-122"/>
                <a:cs typeface="Calibri" pitchFamily="34" charset="-120"/>
              </a:rPr>
              <a:t>+ prompt</a:t>
            </a:r>
            <a:endParaRPr lang="en-US" sz="1400" dirty="0"/>
          </a:p>
        </p:txBody>
      </p:sp>
      <p:sp>
        <p:nvSpPr>
          <p:cNvPr id="6" name="Shape 4"/>
          <p:cNvSpPr/>
          <p:nvPr/>
        </p:nvSpPr>
        <p:spPr>
          <a:xfrm>
            <a:off x="2578608" y="1764792"/>
            <a:ext cx="201168" cy="91"/>
          </a:xfrm>
          <a:prstGeom prst="line">
            <a:avLst/>
          </a:prstGeom>
          <a:noFill/>
          <a:ln w="19050">
            <a:solidFill>
              <a:srgbClr val="5E6B75"/>
            </a:solidFill>
            <a:prstDash val="solid"/>
            <a:tailEnd type="triangle"/>
          </a:ln>
        </p:spPr>
      </p:sp>
      <p:sp>
        <p:nvSpPr>
          <p:cNvPr id="7" name="Shape 5"/>
          <p:cNvSpPr/>
          <p:nvPr/>
        </p:nvSpPr>
        <p:spPr>
          <a:xfrm>
            <a:off x="2788920" y="1417320"/>
            <a:ext cx="2103120" cy="685800"/>
          </a:xfrm>
          <a:prstGeom prst="roundRect">
            <a:avLst>
              <a:gd name="adj" fmla="val 10667"/>
            </a:avLst>
          </a:prstGeom>
          <a:solidFill>
            <a:srgbClr val="FFFFFF"/>
          </a:solidFill>
          <a:ln w="19050">
            <a:solidFill>
              <a:srgbClr val="1E6470"/>
            </a:solidFill>
            <a:prstDash val="solid"/>
          </a:ln>
        </p:spPr>
      </p:sp>
      <p:sp>
        <p:nvSpPr>
          <p:cNvPr id="8" name="Text 6"/>
          <p:cNvSpPr txBox="1"/>
          <p:nvPr/>
        </p:nvSpPr>
        <p:spPr>
          <a:xfrm>
            <a:off x="2880360" y="1472184"/>
            <a:ext cx="1920240" cy="576072"/>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default_spec()</a:t>
            </a:r>
            <a:endParaRPr lang="en-US" sz="1400" dirty="0"/>
          </a:p>
        </p:txBody>
      </p:sp>
      <p:sp>
        <p:nvSpPr>
          <p:cNvPr id="9" name="Shape 7"/>
          <p:cNvSpPr/>
          <p:nvPr/>
        </p:nvSpPr>
        <p:spPr>
          <a:xfrm>
            <a:off x="4910328" y="1764792"/>
            <a:ext cx="201168" cy="91"/>
          </a:xfrm>
          <a:prstGeom prst="line">
            <a:avLst/>
          </a:prstGeom>
          <a:noFill/>
          <a:ln w="19050">
            <a:solidFill>
              <a:srgbClr val="5E6B75"/>
            </a:solidFill>
            <a:prstDash val="solid"/>
            <a:tailEnd type="triangle"/>
          </a:ln>
        </p:spPr>
      </p:sp>
      <p:sp>
        <p:nvSpPr>
          <p:cNvPr id="10" name="Shape 8"/>
          <p:cNvSpPr/>
          <p:nvPr/>
        </p:nvSpPr>
        <p:spPr>
          <a:xfrm>
            <a:off x="5120640" y="1417320"/>
            <a:ext cx="2103120" cy="685800"/>
          </a:xfrm>
          <a:prstGeom prst="roundRect">
            <a:avLst>
              <a:gd name="adj" fmla="val 10667"/>
            </a:avLst>
          </a:prstGeom>
          <a:solidFill>
            <a:srgbClr val="FFFFFF"/>
          </a:solidFill>
          <a:ln w="19050">
            <a:solidFill>
              <a:srgbClr val="7A4A8C"/>
            </a:solidFill>
            <a:prstDash val="solid"/>
          </a:ln>
        </p:spPr>
      </p:sp>
      <p:sp>
        <p:nvSpPr>
          <p:cNvPr id="11" name="Text 9"/>
          <p:cNvSpPr txBox="1"/>
          <p:nvPr/>
        </p:nvSpPr>
        <p:spPr>
          <a:xfrm>
            <a:off x="5212080" y="1472184"/>
            <a:ext cx="1920240" cy="576072"/>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LLM proposes</a:t>
            </a:r>
            <a:endParaRPr lang="en-US" sz="1400" dirty="0"/>
          </a:p>
          <a:p>
            <a:pPr algn="ctr" indent="0" marL="0">
              <a:buNone/>
            </a:pPr>
            <a:r>
              <a:rPr lang="en-US" sz="1150" b="1" dirty="0">
                <a:solidFill>
                  <a:srgbClr val="16222B"/>
                </a:solidFill>
                <a:latin typeface="Calibri" pitchFamily="34" charset="0"/>
                <a:ea typeface="Calibri" pitchFamily="34" charset="-122"/>
                <a:cs typeface="Calibri" pitchFamily="34" charset="-120"/>
              </a:rPr>
              <a:t>(optional)</a:t>
            </a:r>
            <a:endParaRPr lang="en-US" sz="1400" dirty="0"/>
          </a:p>
        </p:txBody>
      </p:sp>
      <p:sp>
        <p:nvSpPr>
          <p:cNvPr id="12" name="Shape 10"/>
          <p:cNvSpPr/>
          <p:nvPr/>
        </p:nvSpPr>
        <p:spPr>
          <a:xfrm>
            <a:off x="7242048" y="1764792"/>
            <a:ext cx="201168" cy="91"/>
          </a:xfrm>
          <a:prstGeom prst="line">
            <a:avLst/>
          </a:prstGeom>
          <a:noFill/>
          <a:ln w="19050">
            <a:solidFill>
              <a:srgbClr val="5E6B75"/>
            </a:solidFill>
            <a:prstDash val="solid"/>
            <a:tailEnd type="triangle"/>
          </a:ln>
        </p:spPr>
      </p:sp>
      <p:sp>
        <p:nvSpPr>
          <p:cNvPr id="13" name="Shape 11"/>
          <p:cNvSpPr/>
          <p:nvPr/>
        </p:nvSpPr>
        <p:spPr>
          <a:xfrm>
            <a:off x="7452360" y="1417320"/>
            <a:ext cx="2103120" cy="685800"/>
          </a:xfrm>
          <a:prstGeom prst="roundRect">
            <a:avLst>
              <a:gd name="adj" fmla="val 10667"/>
            </a:avLst>
          </a:prstGeom>
          <a:solidFill>
            <a:srgbClr val="FFFFFF"/>
          </a:solidFill>
          <a:ln w="19050">
            <a:solidFill>
              <a:srgbClr val="C0392B"/>
            </a:solidFill>
            <a:prstDash val="solid"/>
          </a:ln>
        </p:spPr>
      </p:sp>
      <p:sp>
        <p:nvSpPr>
          <p:cNvPr id="14" name="Text 12"/>
          <p:cNvSpPr txBox="1"/>
          <p:nvPr/>
        </p:nvSpPr>
        <p:spPr>
          <a:xfrm>
            <a:off x="7543800" y="1472184"/>
            <a:ext cx="1920240" cy="576072"/>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sanitize_spec()</a:t>
            </a:r>
            <a:endParaRPr lang="en-US" sz="1400" dirty="0"/>
          </a:p>
        </p:txBody>
      </p:sp>
      <p:sp>
        <p:nvSpPr>
          <p:cNvPr id="15" name="Shape 13"/>
          <p:cNvSpPr/>
          <p:nvPr/>
        </p:nvSpPr>
        <p:spPr>
          <a:xfrm>
            <a:off x="9573768" y="1764792"/>
            <a:ext cx="201168" cy="91"/>
          </a:xfrm>
          <a:prstGeom prst="line">
            <a:avLst/>
          </a:prstGeom>
          <a:noFill/>
          <a:ln w="19050">
            <a:solidFill>
              <a:srgbClr val="5E6B75"/>
            </a:solidFill>
            <a:prstDash val="solid"/>
            <a:tailEnd type="triangle"/>
          </a:ln>
        </p:spPr>
      </p:sp>
      <p:sp>
        <p:nvSpPr>
          <p:cNvPr id="16" name="Shape 14"/>
          <p:cNvSpPr/>
          <p:nvPr/>
        </p:nvSpPr>
        <p:spPr>
          <a:xfrm>
            <a:off x="9784080" y="1417320"/>
            <a:ext cx="2103120" cy="685800"/>
          </a:xfrm>
          <a:prstGeom prst="roundRect">
            <a:avLst>
              <a:gd name="adj" fmla="val 10667"/>
            </a:avLst>
          </a:prstGeom>
          <a:solidFill>
            <a:srgbClr val="FFFFFF"/>
          </a:solidFill>
          <a:ln w="19050">
            <a:solidFill>
              <a:srgbClr val="2E7D5B"/>
            </a:solidFill>
            <a:prstDash val="solid"/>
          </a:ln>
        </p:spPr>
      </p:sp>
      <p:sp>
        <p:nvSpPr>
          <p:cNvPr id="17" name="Text 15"/>
          <p:cNvSpPr txBox="1"/>
          <p:nvPr/>
        </p:nvSpPr>
        <p:spPr>
          <a:xfrm>
            <a:off x="9875520" y="1472184"/>
            <a:ext cx="1920240" cy="576072"/>
          </a:xfrm>
          <a:prstGeom prst="rect">
            <a:avLst/>
          </a:prstGeom>
          <a:noFill/>
          <a:ln/>
        </p:spPr>
        <p:txBody>
          <a:bodyPr wrap="square" lIns="0" tIns="0" rIns="0" bIns="0" rtlCol="0" anchor="ctr"/>
          <a:lstStyle/>
          <a:p>
            <a:pPr algn="ctr" indent="0" marL="0">
              <a:buNone/>
            </a:pPr>
            <a:r>
              <a:rPr lang="en-US" sz="1150" b="1" dirty="0">
                <a:solidFill>
                  <a:srgbClr val="16222B"/>
                </a:solidFill>
                <a:latin typeface="Calibri" pitchFamily="34" charset="0"/>
                <a:ea typeface="Calibri" pitchFamily="34" charset="-122"/>
                <a:cs typeface="Calibri" pitchFamily="34" charset="-120"/>
              </a:rPr>
              <a:t>Mol* view spec</a:t>
            </a:r>
            <a:endParaRPr lang="en-US" sz="1400" dirty="0"/>
          </a:p>
          <a:p>
            <a:pPr algn="ctr" indent="0" marL="0">
              <a:buNone/>
            </a:pPr>
            <a:r>
              <a:rPr lang="en-US" sz="1150" b="1" dirty="0">
                <a:solidFill>
                  <a:srgbClr val="16222B"/>
                </a:solidFill>
                <a:latin typeface="Calibri" pitchFamily="34" charset="0"/>
                <a:ea typeface="Calibri" pitchFamily="34" charset="-122"/>
                <a:cs typeface="Calibri" pitchFamily="34" charset="-120"/>
              </a:rPr>
              <a:t>(JSON)</a:t>
            </a:r>
            <a:endParaRPr lang="en-US" sz="1400" dirty="0"/>
          </a:p>
        </p:txBody>
      </p:sp>
      <p:sp>
        <p:nvSpPr>
          <p:cNvPr id="18" name="Shape 16"/>
          <p:cNvSpPr/>
          <p:nvPr/>
        </p:nvSpPr>
        <p:spPr>
          <a:xfrm>
            <a:off x="457200" y="2377440"/>
            <a:ext cx="5669280" cy="1828800"/>
          </a:xfrm>
          <a:prstGeom prst="rect">
            <a:avLst/>
          </a:prstGeom>
          <a:solidFill>
            <a:srgbClr val="F9E0DD"/>
          </a:solidFill>
          <a:ln w="12700">
            <a:solidFill>
              <a:srgbClr val="F9E0DD"/>
            </a:solidFill>
            <a:prstDash val="solid"/>
          </a:ln>
        </p:spPr>
      </p:sp>
      <p:sp>
        <p:nvSpPr>
          <p:cNvPr id="19" name="Text 17"/>
          <p:cNvSpPr txBox="1"/>
          <p:nvPr/>
        </p:nvSpPr>
        <p:spPr>
          <a:xfrm>
            <a:off x="594360" y="2468880"/>
            <a:ext cx="5394960"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Why a spec and not generated JavaScript</a:t>
            </a:r>
            <a:endParaRPr lang="en-US" sz="1300" dirty="0"/>
          </a:p>
        </p:txBody>
      </p:sp>
      <p:sp>
        <p:nvSpPr>
          <p:cNvPr id="20" name="Text 18"/>
          <p:cNvSpPr txBox="1"/>
          <p:nvPr/>
        </p:nvSpPr>
        <p:spPr>
          <a:xfrm>
            <a:off x="594360" y="2788920"/>
            <a:ext cx="5394960" cy="13258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brief said the agent "codes a browser-based visualization". Shipping LLM-written JS into the viewer is an injection surface for a prompt.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So the agent emits a constrained JSON spec — structures, highlights, representation, colours — and the React component is the only thing that touches Mol*.</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sanitize_spec repairs or drops every field. A bad generation degrades to a plain cartoon, never a broken pane.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Same expressive range for what a reviewer actually asks for; no execution.</a:t>
            </a:r>
            <a:endParaRPr lang="en-US" sz="1050" dirty="0"/>
          </a:p>
        </p:txBody>
      </p:sp>
      <p:sp>
        <p:nvSpPr>
          <p:cNvPr id="21" name="Shape 19"/>
          <p:cNvSpPr/>
          <p:nvPr/>
        </p:nvSpPr>
        <p:spPr>
          <a:xfrm>
            <a:off x="6400800" y="2377440"/>
            <a:ext cx="5788152" cy="1691640"/>
          </a:xfrm>
          <a:prstGeom prst="rect">
            <a:avLst/>
          </a:prstGeom>
          <a:solidFill>
            <a:srgbClr val="16222B"/>
          </a:solidFill>
          <a:ln w="12700">
            <a:solidFill>
              <a:srgbClr val="16222B"/>
            </a:solidFill>
            <a:prstDash val="solid"/>
          </a:ln>
        </p:spPr>
      </p:sp>
      <p:sp>
        <p:nvSpPr>
          <p:cNvPr id="22" name="Text 20"/>
          <p:cNvSpPr txBox="1"/>
          <p:nvPr/>
        </p:nvSpPr>
        <p:spPr>
          <a:xfrm>
            <a:off x="6510528" y="2478024"/>
            <a:ext cx="5568696" cy="1490472"/>
          </a:xfrm>
          <a:prstGeom prst="rect">
            <a:avLst/>
          </a:prstGeom>
          <a:noFill/>
          <a:ln/>
        </p:spPr>
        <p:txBody>
          <a:bodyPr wrap="square" lIns="0" tIns="0" rIns="0" bIns="0" rtlCol="0" anchor="t"/>
          <a:lstStyle/>
          <a:p>
            <a:pPr indent="0" marL="0">
              <a:lnSpc>
                <a:spcPts val="1174"/>
              </a:lnSpc>
              <a:buNone/>
            </a:pPr>
            <a:r>
              <a:rPr lang="en-US" sz="939" dirty="0">
                <a:solidFill>
                  <a:srgbClr val="DCE5EC"/>
                </a:solidFill>
                <a:latin typeface="Consolas" pitchFamily="34" charset="0"/>
                <a:ea typeface="Consolas" pitchFamily="34" charset="-122"/>
                <a:cs typeface="Consolas" pitchFamily="34" charset="-120"/>
              </a:rPr>
              <a:t>def sanitize_spec(spec: Any, *, fallback: dict) -&gt; dict:</a:t>
            </a:r>
            <a:endParaRPr lang="en-US" sz="939" dirty="0"/>
          </a:p>
          <a:p>
            <a:pPr indent="0" marL="0">
              <a:lnSpc>
                <a:spcPts val="1174"/>
              </a:lnSpc>
              <a:buNone/>
            </a:pPr>
            <a:r>
              <a:rPr lang="en-US" sz="939" dirty="0">
                <a:solidFill>
                  <a:srgbClr val="DCE5EC"/>
                </a:solidFill>
                <a:latin typeface="Consolas" pitchFamily="34" charset="0"/>
                <a:ea typeface="Consolas" pitchFamily="34" charset="-122"/>
                <a:cs typeface="Consolas" pitchFamily="34" charset="-120"/>
              </a:rPr>
              <a:t>    """Validate an LLM-proposed spec, repairing or dropping</a:t>
            </a:r>
            <a:endParaRPr lang="en-US" sz="939" dirty="0"/>
          </a:p>
          <a:p>
            <a:pPr indent="0" marL="0">
              <a:lnSpc>
                <a:spcPts val="1174"/>
              </a:lnSpc>
              <a:buNone/>
            </a:pPr>
            <a:r>
              <a:rPr lang="en-US" sz="939" dirty="0">
                <a:solidFill>
                  <a:srgbClr val="DCE5EC"/>
                </a:solidFill>
                <a:latin typeface="Consolas" pitchFamily="34" charset="0"/>
                <a:ea typeface="Consolas" pitchFamily="34" charset="-122"/>
                <a:cs typeface="Consolas" pitchFamily="34" charset="-120"/>
              </a:rPr>
              <a:t>    bad fields.</a:t>
            </a:r>
            <a:endParaRPr lang="en-US" sz="939" dirty="0"/>
          </a:p>
          <a:p>
            <a:pPr indent="0" marL="0">
              <a:lnSpc>
                <a:spcPts val="1174"/>
              </a:lnSpc>
              <a:buNone/>
            </a:pPr>
            <a:endParaRPr lang="en-US" sz="939" dirty="0"/>
          </a:p>
          <a:p>
            <a:pPr indent="0" marL="0">
              <a:lnSpc>
                <a:spcPts val="1174"/>
              </a:lnSpc>
              <a:buNone/>
            </a:pPr>
            <a:r>
              <a:rPr lang="en-US" sz="939" dirty="0">
                <a:solidFill>
                  <a:srgbClr val="DCE5EC"/>
                </a:solidFill>
                <a:latin typeface="Consolas" pitchFamily="34" charset="0"/>
                <a:ea typeface="Consolas" pitchFamily="34" charset="-122"/>
                <a:cs typeface="Consolas" pitchFamily="34" charset="-120"/>
              </a:rPr>
              <a:t>    Anything unexpected falls back rather than reaching the</a:t>
            </a:r>
            <a:endParaRPr lang="en-US" sz="939" dirty="0"/>
          </a:p>
          <a:p>
            <a:pPr indent="0" marL="0">
              <a:lnSpc>
                <a:spcPts val="1174"/>
              </a:lnSpc>
              <a:buNone/>
            </a:pPr>
            <a:r>
              <a:rPr lang="en-US" sz="939" dirty="0">
                <a:solidFill>
                  <a:srgbClr val="DCE5EC"/>
                </a:solidFill>
                <a:latin typeface="Consolas" pitchFamily="34" charset="0"/>
                <a:ea typeface="Consolas" pitchFamily="34" charset="-122"/>
                <a:cs typeface="Consolas" pitchFamily="34" charset="-120"/>
              </a:rPr>
              <a:t>    viewer, so a bad generation degrades to a plain cartoon</a:t>
            </a:r>
            <a:endParaRPr lang="en-US" sz="939" dirty="0"/>
          </a:p>
          <a:p>
            <a:pPr indent="0" marL="0">
              <a:lnSpc>
                <a:spcPts val="1174"/>
              </a:lnSpc>
              <a:buNone/>
            </a:pPr>
            <a:r>
              <a:rPr lang="en-US" sz="939" dirty="0">
                <a:solidFill>
                  <a:srgbClr val="DCE5EC"/>
                </a:solidFill>
                <a:latin typeface="Consolas" pitchFamily="34" charset="0"/>
                <a:ea typeface="Consolas" pitchFamily="34" charset="-122"/>
                <a:cs typeface="Consolas" pitchFamily="34" charset="-120"/>
              </a:rPr>
              <a:t>    instead of a broken pane.</a:t>
            </a:r>
            <a:endParaRPr lang="en-US" sz="939" dirty="0"/>
          </a:p>
          <a:p>
            <a:pPr indent="0" marL="0">
              <a:lnSpc>
                <a:spcPts val="1174"/>
              </a:lnSpc>
              <a:buNone/>
            </a:pPr>
            <a:r>
              <a:rPr lang="en-US" sz="939" dirty="0">
                <a:solidFill>
                  <a:srgbClr val="DCE5EC"/>
                </a:solidFill>
                <a:latin typeface="Consolas" pitchFamily="34" charset="0"/>
                <a:ea typeface="Consolas" pitchFamily="34" charset="-122"/>
                <a:cs typeface="Consolas" pitchFamily="34" charset="-120"/>
              </a:rPr>
              <a:t>    """</a:t>
            </a:r>
            <a:endParaRPr lang="en-US" sz="939" dirty="0"/>
          </a:p>
          <a:p>
            <a:pPr indent="0" marL="0">
              <a:lnSpc>
                <a:spcPts val="1174"/>
              </a:lnSpc>
              <a:buNone/>
            </a:pPr>
            <a:r>
              <a:rPr lang="en-US" sz="939" dirty="0">
                <a:solidFill>
                  <a:srgbClr val="DCE5EC"/>
                </a:solidFill>
                <a:latin typeface="Consolas" pitchFamily="34" charset="0"/>
                <a:ea typeface="Consolas" pitchFamily="34" charset="-122"/>
                <a:cs typeface="Consolas" pitchFamily="34" charset="-120"/>
              </a:rPr>
              <a:t>    if not isinstance(spec, dict):</a:t>
            </a:r>
            <a:endParaRPr lang="en-US" sz="939" dirty="0"/>
          </a:p>
          <a:p>
            <a:pPr indent="0" marL="0">
              <a:lnSpc>
                <a:spcPts val="1174"/>
              </a:lnSpc>
              <a:buNone/>
            </a:pPr>
            <a:r>
              <a:rPr lang="en-US" sz="939" dirty="0">
                <a:solidFill>
                  <a:srgbClr val="DCE5EC"/>
                </a:solidFill>
                <a:latin typeface="Consolas" pitchFamily="34" charset="0"/>
                <a:ea typeface="Consolas" pitchFamily="34" charset="-122"/>
                <a:cs typeface="Consolas" pitchFamily="34" charset="-120"/>
              </a:rPr>
              <a:t>        return fallback</a:t>
            </a:r>
            <a:endParaRPr lang="en-US" sz="939" dirty="0"/>
          </a:p>
        </p:txBody>
      </p:sp>
      <p:sp>
        <p:nvSpPr>
          <p:cNvPr id="23" name="Text 21"/>
          <p:cNvSpPr txBox="1"/>
          <p:nvPr/>
        </p:nvSpPr>
        <p:spPr>
          <a:xfrm>
            <a:off x="6400800" y="4096512"/>
            <a:ext cx="5788152"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tools/molviz_agent.py:143–150  ·  TRIMMED</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4315968"/>
          <a:ext cx="11274552" cy="914400"/>
        </p:xfrm>
        <a:graphic>
          <a:graphicData uri="http://schemas.openxmlformats.org/drawingml/2006/table">
            <a:tbl>
              <a:tblPr/>
              <a:tblGrid>
                <a:gridCol w="3200400"/>
                <a:gridCol w="1051560"/>
                <a:gridCol w="3566160"/>
                <a:gridCol w="3456432"/>
              </a:tblGrid>
              <a:tr h="2743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agent</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interface</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329184">
                <a:tc>
                  <a:txBody>
                    <a:bodyPr/>
                    <a:lstStyle/>
                    <a:p>
                      <a:pPr indent="0" marL="0">
                        <a:buNone/>
                      </a:pPr>
                      <a:r>
                        <a:rPr lang="en-US" sz="1100" b="1" dirty="0">
                          <a:solidFill>
                            <a:srgbClr val="22303C"/>
                          </a:solidFill>
                          <a:latin typeface="Calibri" pitchFamily="34" charset="0"/>
                          <a:ea typeface="Calibri" pitchFamily="34" charset="-122"/>
                          <a:cs typeface="Calibri" pitchFamily="34" charset="-120"/>
                        </a:rPr>
                        <a:t>Molecular Visualization Generator</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100" dirty="0">
                          <a:solidFill>
                            <a:srgbClr val="22303C"/>
                          </a:solidFill>
                          <a:latin typeface="Consolas" pitchFamily="34" charset="0"/>
                          <a:ea typeface="Consolas" pitchFamily="34" charset="-122"/>
                          <a:cs typeface="Consolas" pitchFamily="34" charset="-120"/>
                        </a:rPr>
                        <a:t>local</a:t>
                      </a:r>
                      <a:endParaRPr lang="en-US" sz="11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Mol* view spec keyed from state + prompt</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runs; drew both leads in the measured campaign</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29184">
                <a:tc>
                  <a:txBody>
                    <a:bodyPr/>
                    <a:lstStyle/>
                    <a:p>
                      <a:pPr indent="0" marL="0">
                        <a:buNone/>
                      </a:pPr>
                      <a:r>
                        <a:rPr lang="en-US" sz="1100" b="1" dirty="0">
                          <a:solidFill>
                            <a:srgbClr val="22303C"/>
                          </a:solidFill>
                          <a:latin typeface="Calibri" pitchFamily="34" charset="0"/>
                          <a:ea typeface="Calibri" pitchFamily="34" charset="-122"/>
                          <a:cs typeface="Calibri" pitchFamily="34" charset="-120"/>
                        </a:rPr>
                        <a:t>Cheminformatics Agent (ChemGraph)</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1100" dirty="0">
                          <a:solidFill>
                            <a:srgbClr val="22303C"/>
                          </a:solidFill>
                          <a:latin typeface="Consolas" pitchFamily="34" charset="0"/>
                          <a:ea typeface="Consolas" pitchFamily="34" charset="-122"/>
                          <a:cs typeface="Consolas" pitchFamily="34" charset="-120"/>
                        </a:rPr>
                        <a:t>local</a:t>
                      </a:r>
                      <a:endParaRPr lang="en-US" sz="11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ChemGraph single_agent workflow in a pool worker</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wired, optional extra, exercised by tests only</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22303C"/>
                          </a:solidFill>
                          <a:latin typeface="Calibri" pitchFamily="34" charset="0"/>
                          <a:ea typeface="Calibri" pitchFamily="34" charset="-122"/>
                          <a:cs typeface="Calibri" pitchFamily="34" charset="-120"/>
                        </a:rPr>
                        <a:t>ESMFold</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100" dirty="0">
                          <a:solidFill>
                            <a:srgbClr val="22303C"/>
                          </a:solidFill>
                          <a:latin typeface="Consolas" pitchFamily="34" charset="0"/>
                          <a:ea typeface="Consolas" pitchFamily="34" charset="-122"/>
                          <a:cs typeface="Consolas" pitchFamily="34" charset="-120"/>
                        </a:rPr>
                        <a:t>local → hpc</a:t>
                      </a:r>
                      <a:endParaRPr lang="en-US" sz="11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ESM Atlas API under 400 aa, else a job</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100" dirty="0">
                          <a:solidFill>
                            <a:srgbClr val="2E7D4F"/>
                          </a:solidFill>
                          <a:latin typeface="Calibri" pitchFamily="34" charset="0"/>
                          <a:ea typeface="Calibri" pitchFamily="34" charset="-122"/>
                          <a:cs typeface="Calibri" pitchFamily="34" charset="-120"/>
                        </a:rPr>
                        <a:t>12 real predictions on disk</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29184">
                <a:tc>
                  <a:txBody>
                    <a:bodyPr/>
                    <a:lstStyle/>
                    <a:p>
                      <a:pPr indent="0" marL="0">
                        <a:buNone/>
                      </a:pPr>
                      <a:r>
                        <a:rPr lang="en-US" sz="1100" b="1" dirty="0">
                          <a:solidFill>
                            <a:srgbClr val="22303C"/>
                          </a:solidFill>
                          <a:latin typeface="Calibri" pitchFamily="34" charset="0"/>
                          <a:ea typeface="Calibri" pitchFamily="34" charset="-122"/>
                          <a:cs typeface="Calibri" pitchFamily="34" charset="-120"/>
                        </a:rPr>
                        <a:t>ProteinMPNN</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1100" dirty="0">
                          <a:solidFill>
                            <a:srgbClr val="22303C"/>
                          </a:solidFill>
                          <a:latin typeface="Consolas" pitchFamily="34" charset="0"/>
                          <a:ea typeface="Consolas" pitchFamily="34" charset="-122"/>
                          <a:cs typeface="Consolas" pitchFamily="34" charset="-120"/>
                        </a:rPr>
                        <a:t>hpc</a:t>
                      </a:r>
                      <a:endParaRPr lang="en-US" sz="110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1100" dirty="0">
                          <a:solidFill>
                            <a:srgbClr val="22303C"/>
                          </a:solidFill>
                          <a:latin typeface="Calibri" pitchFamily="34" charset="0"/>
                          <a:ea typeface="Calibri" pitchFamily="34" charset="-122"/>
                          <a:cs typeface="Calibri" pitchFamily="34" charset="-120"/>
                        </a:rPr>
                        <a:t>PSI/J job spec + FASTA parser</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1100" dirty="0">
                          <a:solidFill>
                            <a:srgbClr val="C0392B"/>
                          </a:solidFill>
                          <a:latin typeface="Calibri" pitchFamily="34" charset="0"/>
                          <a:ea typeface="Calibri" pitchFamily="34" charset="-122"/>
                          <a:cs typeface="Calibri" pitchFamily="34" charset="-120"/>
                        </a:rPr>
                        <a:t>no endpoint → heuristic proposer instead</a:t>
                      </a:r>
                      <a:endParaRPr lang="en-US" sz="110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bl>
          </a:graphicData>
        </a:graphic>
      </p:graphicFrame>
      <p:sp>
        <p:nvSpPr>
          <p:cNvPr id="25" name="Text 22"/>
          <p:cNvSpPr txBox="1"/>
          <p:nvPr/>
        </p:nvSpPr>
        <p:spPr>
          <a:xfrm>
            <a:off x="457200" y="6473952"/>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13 task bodies in the registry across the three interfaces; the catalog is served at /api/catalog so the UI can list what the agent can do.</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DESIGN HISTORY · F4</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Design History: three tiers, and what is actually in them</a:t>
            </a:r>
            <a:endParaRPr lang="en-US" sz="2800" dirty="0"/>
          </a:p>
        </p:txBody>
      </p:sp>
      <p:sp>
        <p:nvSpPr>
          <p:cNvPr id="4" name="Shape 2"/>
          <p:cNvSpPr/>
          <p:nvPr/>
        </p:nvSpPr>
        <p:spPr>
          <a:xfrm>
            <a:off x="457200" y="1371600"/>
            <a:ext cx="3694176" cy="566928"/>
          </a:xfrm>
          <a:prstGeom prst="rect">
            <a:avLst/>
          </a:prstGeom>
          <a:solidFill>
            <a:srgbClr val="2E7D5B"/>
          </a:solidFill>
          <a:ln w="12700">
            <a:solidFill>
              <a:srgbClr val="2E7D5B"/>
            </a:solidFill>
            <a:prstDash val="solid"/>
          </a:ln>
        </p:spPr>
      </p:sp>
      <p:sp>
        <p:nvSpPr>
          <p:cNvPr id="5" name="Text 3"/>
          <p:cNvSpPr txBox="1"/>
          <p:nvPr/>
        </p:nvSpPr>
        <p:spPr>
          <a:xfrm>
            <a:off x="566928" y="1408176"/>
            <a:ext cx="3474720" cy="29260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Tier 1 — raw task outputs</a:t>
            </a:r>
            <a:endParaRPr lang="en-US" sz="1250" dirty="0"/>
          </a:p>
        </p:txBody>
      </p:sp>
      <p:sp>
        <p:nvSpPr>
          <p:cNvPr id="6" name="Text 4"/>
          <p:cNvSpPr txBox="1"/>
          <p:nvPr/>
        </p:nvSpPr>
        <p:spPr>
          <a:xfrm>
            <a:off x="566928" y="1682496"/>
            <a:ext cx="3474720" cy="219456"/>
          </a:xfrm>
          <a:prstGeom prst="rect">
            <a:avLst/>
          </a:prstGeom>
          <a:noFill/>
          <a:ln/>
        </p:spPr>
        <p:txBody>
          <a:bodyPr wrap="square" lIns="0" tIns="0" rIns="0" bIns="0" rtlCol="0" anchor="t"/>
          <a:lstStyle/>
          <a:p>
            <a:pPr indent="0" marL="0">
              <a:buNone/>
            </a:pPr>
            <a:r>
              <a:rPr lang="en-US" sz="1000" dirty="0">
                <a:solidFill>
                  <a:srgbClr val="BFE0CF"/>
                </a:solidFill>
                <a:latin typeface="Consolas" pitchFamily="34" charset="0"/>
                <a:ea typeface="Consolas" pitchFamily="34" charset="-122"/>
                <a:cs typeface="Consolas" pitchFamily="34" charset="-120"/>
              </a:rPr>
              <a:t>Kuzu, embedded graph DB</a:t>
            </a:r>
            <a:endParaRPr lang="en-US" sz="1000" dirty="0"/>
          </a:p>
        </p:txBody>
      </p:sp>
      <p:sp>
        <p:nvSpPr>
          <p:cNvPr id="7" name="Shape 5"/>
          <p:cNvSpPr/>
          <p:nvPr/>
        </p:nvSpPr>
        <p:spPr>
          <a:xfrm>
            <a:off x="457200" y="1938528"/>
            <a:ext cx="3694176" cy="1600200"/>
          </a:xfrm>
          <a:prstGeom prst="rect">
            <a:avLst/>
          </a:prstGeom>
          <a:solidFill>
            <a:srgbClr val="E4F1EA"/>
          </a:solidFill>
          <a:ln w="12700">
            <a:solidFill>
              <a:srgbClr val="E4F1EA"/>
            </a:solidFill>
            <a:prstDash val="solid"/>
          </a:ln>
        </p:spPr>
      </p:sp>
      <p:sp>
        <p:nvSpPr>
          <p:cNvPr id="8" name="Text 6"/>
          <p:cNvSpPr txBox="1"/>
          <p:nvPr/>
        </p:nvSpPr>
        <p:spPr>
          <a:xfrm>
            <a:off x="594360" y="2029968"/>
            <a:ext cx="3419856" cy="146304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6 node tables · 8 rel tables</a:t>
            </a:r>
            <a:endParaRPr lang="en-US" sz="1000" dirty="0"/>
          </a:p>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Campaign 1 · Reference 1 · Design 12</a:t>
            </a:r>
            <a:endParaRPr lang="en-US" sz="1000" dirty="0"/>
          </a:p>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Task 37 · Output 37 · Structure 11</a:t>
            </a:r>
            <a:endParaRPr lang="en-US" sz="1000" dirty="0"/>
          </a:p>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properties columns hold JSON, so a new task needs no migration</a:t>
            </a:r>
            <a:endParaRPr lang="en-US" sz="1000" dirty="0"/>
          </a:p>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single writer behind an RLock</a:t>
            </a:r>
            <a:endParaRPr lang="en-US" sz="1000" dirty="0"/>
          </a:p>
        </p:txBody>
      </p:sp>
      <p:sp>
        <p:nvSpPr>
          <p:cNvPr id="9" name="Shape 7"/>
          <p:cNvSpPr/>
          <p:nvPr/>
        </p:nvSpPr>
        <p:spPr>
          <a:xfrm>
            <a:off x="4242816" y="1371600"/>
            <a:ext cx="3694176" cy="566928"/>
          </a:xfrm>
          <a:prstGeom prst="rect">
            <a:avLst/>
          </a:prstGeom>
          <a:solidFill>
            <a:srgbClr val="2E7D5B"/>
          </a:solidFill>
          <a:ln w="12700">
            <a:solidFill>
              <a:srgbClr val="2E7D5B"/>
            </a:solidFill>
            <a:prstDash val="solid"/>
          </a:ln>
        </p:spPr>
      </p:sp>
      <p:sp>
        <p:nvSpPr>
          <p:cNvPr id="10" name="Text 8"/>
          <p:cNvSpPr txBox="1"/>
          <p:nvPr/>
        </p:nvSpPr>
        <p:spPr>
          <a:xfrm>
            <a:off x="4352544" y="1408176"/>
            <a:ext cx="3474720" cy="29260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Tier 2 — scores, rankings, analysis</a:t>
            </a:r>
            <a:endParaRPr lang="en-US" sz="1250" dirty="0"/>
          </a:p>
        </p:txBody>
      </p:sp>
      <p:sp>
        <p:nvSpPr>
          <p:cNvPr id="11" name="Text 9"/>
          <p:cNvSpPr txBox="1"/>
          <p:nvPr/>
        </p:nvSpPr>
        <p:spPr>
          <a:xfrm>
            <a:off x="4352544" y="1682496"/>
            <a:ext cx="3474720" cy="219456"/>
          </a:xfrm>
          <a:prstGeom prst="rect">
            <a:avLst/>
          </a:prstGeom>
          <a:noFill/>
          <a:ln/>
        </p:spPr>
        <p:txBody>
          <a:bodyPr wrap="square" lIns="0" tIns="0" rIns="0" bIns="0" rtlCol="0" anchor="t"/>
          <a:lstStyle/>
          <a:p>
            <a:pPr indent="0" marL="0">
              <a:buNone/>
            </a:pPr>
            <a:r>
              <a:rPr lang="en-US" sz="1000" dirty="0">
                <a:solidFill>
                  <a:srgbClr val="BFE0CF"/>
                </a:solidFill>
                <a:latin typeface="Consolas" pitchFamily="34" charset="0"/>
                <a:ea typeface="Consolas" pitchFamily="34" charset="-122"/>
                <a:cs typeface="Consolas" pitchFamily="34" charset="-120"/>
              </a:rPr>
              <a:t>SQLite</a:t>
            </a:r>
            <a:endParaRPr lang="en-US" sz="1000" dirty="0"/>
          </a:p>
        </p:txBody>
      </p:sp>
      <p:sp>
        <p:nvSpPr>
          <p:cNvPr id="12" name="Shape 10"/>
          <p:cNvSpPr/>
          <p:nvPr/>
        </p:nvSpPr>
        <p:spPr>
          <a:xfrm>
            <a:off x="4242816" y="1938528"/>
            <a:ext cx="3694176" cy="1600200"/>
          </a:xfrm>
          <a:prstGeom prst="rect">
            <a:avLst/>
          </a:prstGeom>
          <a:solidFill>
            <a:srgbClr val="E4F1EA"/>
          </a:solidFill>
          <a:ln w="12700">
            <a:solidFill>
              <a:srgbClr val="E4F1EA"/>
            </a:solidFill>
            <a:prstDash val="solid"/>
          </a:ln>
        </p:spPr>
      </p:sp>
      <p:sp>
        <p:nvSpPr>
          <p:cNvPr id="13" name="Text 11"/>
          <p:cNvSpPr txBox="1"/>
          <p:nvPr/>
        </p:nvSpPr>
        <p:spPr>
          <a:xfrm>
            <a:off x="4379976" y="2029968"/>
            <a:ext cx="3419856" cy="146304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114 score rows over 10 metrics</a:t>
            </a:r>
            <a:endParaRPr lang="en-US" sz="1000" dirty="0"/>
          </a:p>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17 ranking rows (round 1: 6, round 2: 11 cumulative)</a:t>
            </a:r>
            <a:endParaRPr lang="en-US" sz="1000" dirty="0"/>
          </a:p>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2 round analyses, with the failures list</a:t>
            </a:r>
            <a:endParaRPr lang="en-US" sz="1000" dirty="0"/>
          </a:p>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best_designs() can exclude the current campaign — that is how the</a:t>
            </a:r>
            <a:endParaRPr lang="en-US" sz="1000" dirty="0"/>
          </a:p>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interpreter finds prior art without finding itself</a:t>
            </a:r>
            <a:endParaRPr lang="en-US" sz="1000" dirty="0"/>
          </a:p>
        </p:txBody>
      </p:sp>
      <p:sp>
        <p:nvSpPr>
          <p:cNvPr id="14" name="Shape 12"/>
          <p:cNvSpPr/>
          <p:nvPr/>
        </p:nvSpPr>
        <p:spPr>
          <a:xfrm>
            <a:off x="8028432" y="1371600"/>
            <a:ext cx="3694176" cy="566928"/>
          </a:xfrm>
          <a:prstGeom prst="rect">
            <a:avLst/>
          </a:prstGeom>
          <a:solidFill>
            <a:srgbClr val="2E7D5B"/>
          </a:solidFill>
          <a:ln w="12700">
            <a:solidFill>
              <a:srgbClr val="2E7D5B"/>
            </a:solidFill>
            <a:prstDash val="solid"/>
          </a:ln>
        </p:spPr>
      </p:sp>
      <p:sp>
        <p:nvSpPr>
          <p:cNvPr id="15" name="Text 13"/>
          <p:cNvSpPr txBox="1"/>
          <p:nvPr/>
        </p:nvSpPr>
        <p:spPr>
          <a:xfrm>
            <a:off x="8138160" y="1408176"/>
            <a:ext cx="3474720" cy="292608"/>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Tier 3 — golden sets</a:t>
            </a:r>
            <a:endParaRPr lang="en-US" sz="1250" dirty="0"/>
          </a:p>
        </p:txBody>
      </p:sp>
      <p:sp>
        <p:nvSpPr>
          <p:cNvPr id="16" name="Text 14"/>
          <p:cNvSpPr txBox="1"/>
          <p:nvPr/>
        </p:nvSpPr>
        <p:spPr>
          <a:xfrm>
            <a:off x="8138160" y="1682496"/>
            <a:ext cx="3474720" cy="219456"/>
          </a:xfrm>
          <a:prstGeom prst="rect">
            <a:avLst/>
          </a:prstGeom>
          <a:noFill/>
          <a:ln/>
        </p:spPr>
        <p:txBody>
          <a:bodyPr wrap="square" lIns="0" tIns="0" rIns="0" bIns="0" rtlCol="0" anchor="t"/>
          <a:lstStyle/>
          <a:p>
            <a:pPr indent="0" marL="0">
              <a:buNone/>
            </a:pPr>
            <a:r>
              <a:rPr lang="en-US" sz="1000" dirty="0">
                <a:solidFill>
                  <a:srgbClr val="BFE0CF"/>
                </a:solidFill>
                <a:latin typeface="Consolas" pitchFamily="34" charset="0"/>
                <a:ea typeface="Consolas" pitchFamily="34" charset="-122"/>
                <a:cs typeface="Consolas" pitchFamily="34" charset="-120"/>
              </a:rPr>
              <a:t>Parquet + manifest</a:t>
            </a:r>
            <a:endParaRPr lang="en-US" sz="1000" dirty="0"/>
          </a:p>
        </p:txBody>
      </p:sp>
      <p:sp>
        <p:nvSpPr>
          <p:cNvPr id="17" name="Shape 15"/>
          <p:cNvSpPr/>
          <p:nvPr/>
        </p:nvSpPr>
        <p:spPr>
          <a:xfrm>
            <a:off x="8028432" y="1938528"/>
            <a:ext cx="3694176" cy="1600200"/>
          </a:xfrm>
          <a:prstGeom prst="rect">
            <a:avLst/>
          </a:prstGeom>
          <a:solidFill>
            <a:srgbClr val="E4F1EA"/>
          </a:solidFill>
          <a:ln w="12700">
            <a:solidFill>
              <a:srgbClr val="E4F1EA"/>
            </a:solidFill>
            <a:prstDash val="solid"/>
          </a:ln>
        </p:spPr>
      </p:sp>
      <p:sp>
        <p:nvSpPr>
          <p:cNvPr id="18" name="Text 16"/>
          <p:cNvSpPr txBox="1"/>
          <p:nvPr/>
        </p:nvSpPr>
        <p:spPr>
          <a:xfrm>
            <a:off x="8165592" y="2029968"/>
            <a:ext cx="3419856" cy="146304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11 rows, one metric_&lt;name&gt; column per metric seen</a:t>
            </a:r>
            <a:endParaRPr lang="en-US" sz="1000" dirty="0"/>
          </a:p>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rules: metric=plddt, direction=max, top_k=12,</a:t>
            </a:r>
            <a:endParaRPr lang="en-US" sz="1000" dirty="0"/>
          </a:p>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dedupe_sequences=true → 12 designs became 11 rows</a:t>
            </a:r>
            <a:endParaRPr lang="en-US" sz="1000" dirty="0"/>
          </a:p>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the manifest records the rules, so a set is reproducible</a:t>
            </a:r>
            <a:endParaRPr lang="en-US" sz="1000" dirty="0"/>
          </a:p>
          <a:p>
            <a:pPr marL="342900" indent="-342900">
              <a:spcAft>
                <a:spcPts val="300"/>
              </a:spcAft>
              <a:buSzPct val="100000"/>
              <a:buChar char="•"/>
            </a:pPr>
            <a:r>
              <a:rPr lang="en-US" sz="1000" dirty="0">
                <a:solidFill>
                  <a:srgbClr val="22303C"/>
                </a:solidFill>
                <a:latin typeface="Calibri" pitchFamily="34" charset="0"/>
                <a:ea typeface="Calibri" pitchFamily="34" charset="-122"/>
                <a:cs typeface="Calibri" pitchFamily="34" charset="-120"/>
              </a:rPr>
              <a:t>staged for ML training, not for reading</a:t>
            </a:r>
            <a:endParaRPr lang="en-US" sz="1000" dirty="0"/>
          </a:p>
        </p:txBody>
      </p:sp>
      <p:sp>
        <p:nvSpPr>
          <p:cNvPr id="19" name="Shape 17"/>
          <p:cNvSpPr/>
          <p:nvPr/>
        </p:nvSpPr>
        <p:spPr>
          <a:xfrm>
            <a:off x="457200" y="3703320"/>
            <a:ext cx="6858000" cy="1371600"/>
          </a:xfrm>
          <a:prstGeom prst="rect">
            <a:avLst/>
          </a:prstGeom>
          <a:solidFill>
            <a:srgbClr val="16222B"/>
          </a:solidFill>
          <a:ln w="12700">
            <a:solidFill>
              <a:srgbClr val="16222B"/>
            </a:solidFill>
            <a:prstDash val="solid"/>
          </a:ln>
        </p:spPr>
      </p:sp>
      <p:sp>
        <p:nvSpPr>
          <p:cNvPr id="20" name="Text 18"/>
          <p:cNvSpPr txBox="1"/>
          <p:nvPr/>
        </p:nvSpPr>
        <p:spPr>
          <a:xfrm>
            <a:off x="566928" y="3803904"/>
            <a:ext cx="6638544" cy="1170432"/>
          </a:xfrm>
          <a:prstGeom prst="rect">
            <a:avLst/>
          </a:prstGeom>
          <a:noFill/>
          <a:ln/>
        </p:spPr>
        <p:txBody>
          <a:bodyPr wrap="square" lIns="0" tIns="0" rIns="0" bIns="0" rtlCol="0" anchor="t"/>
          <a:lstStyle/>
          <a:p>
            <a:pPr indent="0" marL="0">
              <a:lnSpc>
                <a:spcPts val="1152"/>
              </a:lnSpc>
              <a:buNone/>
            </a:pPr>
            <a:r>
              <a:rPr lang="en-US" sz="922" dirty="0">
                <a:solidFill>
                  <a:srgbClr val="DCE5EC"/>
                </a:solidFill>
                <a:latin typeface="Consolas" pitchFamily="34" charset="0"/>
                <a:ea typeface="Consolas" pitchFamily="34" charset="-122"/>
                <a:cs typeface="Consolas" pitchFamily="34" charset="-120"/>
              </a:rPr>
              <a:t>def record_task_result(self, campaign_id, task_id, *, name, interface, state,</a:t>
            </a:r>
            <a:endParaRPr lang="en-US" sz="922" dirty="0"/>
          </a:p>
          <a:p>
            <a:pPr indent="0" marL="0">
              <a:lnSpc>
                <a:spcPts val="1152"/>
              </a:lnSpc>
              <a:buNone/>
            </a:pPr>
            <a:r>
              <a:rPr lang="en-US" sz="922" dirty="0">
                <a:solidFill>
                  <a:srgbClr val="DCE5EC"/>
                </a:solidFill>
                <a:latin typeface="Consolas" pitchFamily="34" charset="0"/>
                <a:ea typeface="Consolas" pitchFamily="34" charset="-122"/>
                <a:cs typeface="Consolas" pitchFamily="34" charset="-120"/>
              </a:rPr>
              <a:t>                      result=None, error="", designs=None, round_no=0,</a:t>
            </a:r>
            <a:endParaRPr lang="en-US" sz="922" dirty="0"/>
          </a:p>
          <a:p>
            <a:pPr indent="0" marL="0">
              <a:lnSpc>
                <a:spcPts val="1152"/>
              </a:lnSpc>
              <a:buNone/>
            </a:pPr>
            <a:r>
              <a:rPr lang="en-US" sz="922" dirty="0">
                <a:solidFill>
                  <a:srgbClr val="DCE5EC"/>
                </a:solidFill>
                <a:latin typeface="Consolas" pitchFamily="34" charset="0"/>
                <a:ea typeface="Consolas" pitchFamily="34" charset="-122"/>
                <a:cs typeface="Consolas" pitchFamily="34" charset="-120"/>
              </a:rPr>
              <a:t>                      reference_id=None, blob=None) -&gt; dict:</a:t>
            </a:r>
            <a:endParaRPr lang="en-US" sz="922" dirty="0"/>
          </a:p>
          <a:p>
            <a:pPr indent="0" marL="0">
              <a:lnSpc>
                <a:spcPts val="1152"/>
              </a:lnSpc>
              <a:buNone/>
            </a:pPr>
            <a:r>
              <a:rPr lang="en-US" sz="922" dirty="0">
                <a:solidFill>
                  <a:srgbClr val="DCE5EC"/>
                </a:solidFill>
                <a:latin typeface="Consolas" pitchFamily="34" charset="0"/>
                <a:ea typeface="Consolas" pitchFamily="34" charset="-122"/>
                <a:cs typeface="Consolas" pitchFamily="34" charset="-120"/>
              </a:rPr>
              <a:t>    """Write one task's outcome across tiers 1 and 2.</a:t>
            </a:r>
            <a:endParaRPr lang="en-US" sz="922" dirty="0"/>
          </a:p>
          <a:p>
            <a:pPr indent="0" marL="0">
              <a:lnSpc>
                <a:spcPts val="1152"/>
              </a:lnSpc>
              <a:buNone/>
            </a:pPr>
            <a:endParaRPr lang="en-US" sz="922" dirty="0"/>
          </a:p>
          <a:p>
            <a:pPr indent="0" marL="0">
              <a:lnSpc>
                <a:spcPts val="1152"/>
              </a:lnSpc>
              <a:buNone/>
            </a:pPr>
            <a:r>
              <a:rPr lang="en-US" sz="922" dirty="0">
                <a:solidFill>
                  <a:srgbClr val="DCE5EC"/>
                </a:solidFill>
                <a:latin typeface="Consolas" pitchFamily="34" charset="0"/>
                <a:ea typeface="Consolas" pitchFamily="34" charset="-122"/>
                <a:cs typeface="Consolas" pitchFamily="34" charset="-120"/>
              </a:rPr>
              <a:t>    `blob` is an optional (data, suffix) pair for bulky raw output.</a:t>
            </a:r>
            <a:endParaRPr lang="en-US" sz="922" dirty="0"/>
          </a:p>
          <a:p>
            <a:pPr indent="0" marL="0">
              <a:lnSpc>
                <a:spcPts val="1152"/>
              </a:lnSpc>
              <a:buNone/>
            </a:pPr>
            <a:r>
              <a:rPr lang="en-US" sz="922" dirty="0">
                <a:solidFill>
                  <a:srgbClr val="DCE5EC"/>
                </a:solidFill>
                <a:latin typeface="Consolas" pitchFamily="34" charset="0"/>
                <a:ea typeface="Consolas" pitchFamily="34" charset="-122"/>
                <a:cs typeface="Consolas" pitchFamily="34" charset="-120"/>
              </a:rPr>
              <a:t>    Returns {"output_id", "blob_path"} for the caller to reference.</a:t>
            </a:r>
            <a:endParaRPr lang="en-US" sz="922" dirty="0"/>
          </a:p>
          <a:p>
            <a:pPr indent="0" marL="0">
              <a:lnSpc>
                <a:spcPts val="1152"/>
              </a:lnSpc>
              <a:buNone/>
            </a:pPr>
            <a:r>
              <a:rPr lang="en-US" sz="922" dirty="0">
                <a:solidFill>
                  <a:srgbClr val="DCE5EC"/>
                </a:solidFill>
                <a:latin typeface="Consolas" pitchFamily="34" charset="0"/>
                <a:ea typeface="Consolas" pitchFamily="34" charset="-122"/>
                <a:cs typeface="Consolas" pitchFamily="34" charset="-120"/>
              </a:rPr>
              <a:t>    """</a:t>
            </a:r>
            <a:endParaRPr lang="en-US" sz="922" dirty="0"/>
          </a:p>
        </p:txBody>
      </p:sp>
      <p:sp>
        <p:nvSpPr>
          <p:cNvPr id="21" name="Text 19"/>
          <p:cNvSpPr txBox="1"/>
          <p:nvPr/>
        </p:nvSpPr>
        <p:spPr>
          <a:xfrm>
            <a:off x="457200" y="5102352"/>
            <a:ext cx="6858000"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lake/store.py:87–106  ·  TRIMMED</a:t>
            </a:r>
            <a:endParaRPr lang="en-US" sz="850" dirty="0"/>
          </a:p>
        </p:txBody>
      </p:sp>
      <p:sp>
        <p:nvSpPr>
          <p:cNvPr id="22" name="Shape 20"/>
          <p:cNvSpPr/>
          <p:nvPr/>
        </p:nvSpPr>
        <p:spPr>
          <a:xfrm>
            <a:off x="7589520" y="3703320"/>
            <a:ext cx="4599432" cy="1371600"/>
          </a:xfrm>
          <a:prstGeom prst="rect">
            <a:avLst/>
          </a:prstGeom>
          <a:solidFill>
            <a:srgbClr val="E4F1EA"/>
          </a:solidFill>
          <a:ln w="12700">
            <a:solidFill>
              <a:srgbClr val="E4F1EA"/>
            </a:solidFill>
            <a:prstDash val="solid"/>
          </a:ln>
        </p:spPr>
      </p:sp>
      <p:sp>
        <p:nvSpPr>
          <p:cNvPr id="23" name="Text 21"/>
          <p:cNvSpPr txBox="1"/>
          <p:nvPr/>
        </p:nvSpPr>
        <p:spPr>
          <a:xfrm>
            <a:off x="7726680" y="3794760"/>
            <a:ext cx="4325112" cy="274320"/>
          </a:xfrm>
          <a:prstGeom prst="rect">
            <a:avLst/>
          </a:prstGeom>
          <a:noFill/>
          <a:ln/>
        </p:spPr>
        <p:txBody>
          <a:bodyPr wrap="square" lIns="0" tIns="0" rIns="0" bIns="0" rtlCol="0" anchor="t"/>
          <a:lstStyle/>
          <a:p>
            <a:pPr indent="0" marL="0">
              <a:buNone/>
            </a:pPr>
            <a:r>
              <a:rPr lang="en-US" sz="1300" b="1" dirty="0">
                <a:solidFill>
                  <a:srgbClr val="2E7D5B"/>
                </a:solidFill>
                <a:latin typeface="Calibri" pitchFamily="34" charset="0"/>
                <a:ea typeface="Calibri" pitchFamily="34" charset="-122"/>
                <a:cs typeface="Calibri" pitchFamily="34" charset="-120"/>
              </a:rPr>
              <a:t>One facade, three stores</a:t>
            </a:r>
            <a:endParaRPr lang="en-US" sz="1300" dirty="0"/>
          </a:p>
        </p:txBody>
      </p:sp>
      <p:sp>
        <p:nvSpPr>
          <p:cNvPr id="24" name="Text 22"/>
          <p:cNvSpPr txBox="1"/>
          <p:nvPr/>
        </p:nvSpPr>
        <p:spPr>
          <a:xfrm>
            <a:off x="7726680" y="4114800"/>
            <a:ext cx="4325112" cy="8686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DesignHistory is the only thing nodes see; tiers 1 and 2 are written together or not at all.</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Bulky output goes to a content-addressed blob (sha256[:16]) — 24 files, 5.1 MB on disk.</a:t>
            </a:r>
            <a:endParaRPr lang="en-US" sz="1050" dirty="0"/>
          </a:p>
        </p:txBody>
      </p:sp>
      <p:sp>
        <p:nvSpPr>
          <p:cNvPr id="25" name="Text 23"/>
          <p:cNvSpPr txBox="1"/>
          <p:nvPr/>
        </p:nvSpPr>
        <p:spPr>
          <a:xfrm>
            <a:off x="457200" y="5212080"/>
            <a:ext cx="11247120" cy="594360"/>
          </a:xfrm>
          <a:prstGeom prst="rect">
            <a:avLst/>
          </a:prstGeom>
          <a:noFill/>
          <a:ln/>
        </p:spPr>
        <p:txBody>
          <a:bodyPr wrap="square" lIns="0" tIns="0" rIns="0" bIns="0" rtlCol="0" anchor="t"/>
          <a:lstStyle/>
          <a:p>
            <a:pPr indent="0" marL="0">
              <a:buNone/>
            </a:pPr>
            <a:r>
              <a:rPr lang="en-US" sz="1250" b="1" dirty="0">
                <a:solidFill>
                  <a:srgbClr val="16222B"/>
                </a:solidFill>
                <a:latin typeface="Calibri" pitchFamily="34" charset="0"/>
                <a:ea typeface="Calibri" pitchFamily="34" charset="-122"/>
                <a:cs typeface="Calibri" pitchFamily="34" charset="-120"/>
              </a:rPr>
              <a:t>Worth noticing: </a:t>
            </a:r>
            <a:pPr indent="0" marL="0">
              <a:buNone/>
            </a:pPr>
            <a:r>
              <a:rPr lang="en-US" sz="1250" dirty="0">
                <a:solidFill>
                  <a:srgbClr val="22303C"/>
                </a:solidFill>
                <a:latin typeface="Calibri" pitchFamily="34" charset="0"/>
                <a:ea typeface="Calibri" pitchFamily="34" charset="-122"/>
                <a:cs typeface="Calibri" pitchFamily="34" charset="-120"/>
              </a:rPr>
              <a:t>only tier 1 needs a running process to read. Tiers 2 and 3 are a SQLite file and a Parquet file, so the figures on this slide were produced by a script that opened them directly while the server held the Kuzu lock.</a:t>
            </a:r>
            <a:endParaRPr lang="en-US" sz="1250" dirty="0"/>
          </a:p>
        </p:txBody>
      </p:sp>
      <p:sp>
        <p:nvSpPr>
          <p:cNvPr id="26" name="Text 24"/>
          <p:cNvSpPr txBox="1"/>
          <p:nvPr/>
        </p:nvSpPr>
        <p:spPr>
          <a:xfrm>
            <a:off x="457200" y="6473952"/>
            <a:ext cx="11277295" cy="228600"/>
          </a:xfrm>
          <a:prstGeom prst="rect">
            <a:avLst/>
          </a:prstGeom>
          <a:noFill/>
          <a:ln/>
        </p:spPr>
        <p:txBody>
          <a:bodyPr wrap="square" lIns="0" tIns="0" rIns="0" bIns="0" rtlCol="0" anchor="t"/>
          <a:lstStyle/>
          <a:p>
            <a:pPr indent="0" marL="0">
              <a:buNone/>
            </a:pPr>
            <a:r>
              <a:rPr lang="en-US" sz="1000" i="1" dirty="0">
                <a:solidFill>
                  <a:srgbClr val="5E6B75"/>
                </a:solidFill>
                <a:latin typeface="Calibri" pitchFamily="34" charset="0"/>
                <a:ea typeface="Calibri" pitchFamily="34" charset="-122"/>
                <a:cs typeface="Calibri" pitchFamily="34" charset="-120"/>
              </a:rPr>
              <a:t>Every count read from slides/run.json by slides/run_model.py — the same script that drew F3.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FAILURE BEHAVIOUR</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Degradation is a feature, and it is tested</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2651760"/>
                <a:gridCol w="4572000"/>
                <a:gridCol w="4050792"/>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evidence</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310896">
                <a:tc>
                  <a:txBody>
                    <a:bodyPr/>
                    <a:lstStyle/>
                    <a:p>
                      <a:pPr indent="0" marL="0">
                        <a:buNone/>
                      </a:pPr>
                      <a:r>
                        <a:rPr lang="en-US" sz="1150" b="1" dirty="0">
                          <a:solidFill>
                            <a:srgbClr val="22303C"/>
                          </a:solidFill>
                          <a:latin typeface="Calibri" pitchFamily="34" charset="0"/>
                          <a:ea typeface="Calibri" pitchFamily="34" charset="-122"/>
                          <a:cs typeface="Calibri" pitchFamily="34" charset="-120"/>
                        </a:rPr>
                        <a:t>No ANTHROPIC_API_KEY</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every node has a deterministic rule-based path</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950" dirty="0">
                          <a:solidFill>
                            <a:srgbClr val="5E6B75"/>
                          </a:solidFill>
                          <a:latin typeface="Consolas" pitchFamily="34" charset="0"/>
                          <a:ea typeface="Consolas" pitchFamily="34" charset="-122"/>
                          <a:cs typeface="Consolas" pitchFamily="34" charset="-120"/>
                        </a:rPr>
                        <a:t>the measured campaign ran this way</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10896">
                <a:tc>
                  <a:txBody>
                    <a:bodyPr/>
                    <a:lstStyle/>
                    <a:p>
                      <a:pPr indent="0" marL="0">
                        <a:buNone/>
                      </a:pPr>
                      <a:r>
                        <a:rPr lang="en-US" sz="1150" b="1" dirty="0">
                          <a:solidFill>
                            <a:srgbClr val="22303C"/>
                          </a:solidFill>
                          <a:latin typeface="Calibri" pitchFamily="34" charset="0"/>
                          <a:ea typeface="Calibri" pitchFamily="34" charset="-122"/>
                          <a:cs typeface="Calibri" pitchFamily="34" charset="-120"/>
                        </a:rPr>
                        <a:t>No Orbit endpoint</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interface_for falls hpc → local and logs it</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950" dirty="0">
                          <a:solidFill>
                            <a:srgbClr val="5E6B75"/>
                          </a:solidFill>
                          <a:latin typeface="Consolas" pitchFamily="34" charset="0"/>
                          <a:ea typeface="Consolas" pitchFamily="34" charset="-122"/>
                          <a:cs typeface="Consolas" pitchFamily="34" charset="-120"/>
                        </a:rPr>
                        <a:t>tests/test_tasks.py</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22303C"/>
                          </a:solidFill>
                          <a:latin typeface="Calibri" pitchFamily="34" charset="0"/>
                          <a:ea typeface="Calibri" pitchFamily="34" charset="-122"/>
                          <a:cs typeface="Calibri" pitchFamily="34" charset="-120"/>
                        </a:rPr>
                        <a:t>ChemGraph not installed</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the task reports unavailable; nothing else changes</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950" dirty="0">
                          <a:solidFill>
                            <a:srgbClr val="5E6B75"/>
                          </a:solidFill>
                          <a:latin typeface="Consolas" pitchFamily="34" charset="0"/>
                          <a:ea typeface="Consolas" pitchFamily="34" charset="-122"/>
                          <a:cs typeface="Consolas" pitchFamily="34" charset="-120"/>
                        </a:rPr>
                        <a:t>chemgraph_available()</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29184">
                <a:tc>
                  <a:txBody>
                    <a:bodyPr/>
                    <a:lstStyle/>
                    <a:p>
                      <a:pPr indent="0" marL="0">
                        <a:buNone/>
                      </a:pPr>
                      <a:r>
                        <a:rPr lang="en-US" sz="1150" b="1" dirty="0">
                          <a:solidFill>
                            <a:srgbClr val="22303C"/>
                          </a:solidFill>
                          <a:latin typeface="Calibri" pitchFamily="34" charset="0"/>
                          <a:ea typeface="Calibri" pitchFamily="34" charset="-122"/>
                          <a:cs typeface="Calibri" pitchFamily="34" charset="-120"/>
                        </a:rPr>
                        <a:t>ESM Atlas drops a request</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design survives sequence-only; round scores the rest</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950" dirty="0">
                          <a:solidFill>
                            <a:srgbClr val="5E6B75"/>
                          </a:solidFill>
                          <a:latin typeface="Consolas" pitchFamily="34" charset="0"/>
                          <a:ea typeface="Consolas" pitchFamily="34" charset="-122"/>
                          <a:cs typeface="Consolas" pitchFamily="34" charset="-120"/>
                        </a:rPr>
                        <a:t>really happened: s-tutp87hw-r2-5</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22303C"/>
                          </a:solidFill>
                          <a:latin typeface="Calibri" pitchFamily="34" charset="0"/>
                          <a:ea typeface="Calibri" pitchFamily="34" charset="-122"/>
                          <a:cs typeface="Calibri" pitchFamily="34" charset="-120"/>
                        </a:rPr>
                        <a:t>Tier 1/2 write fails</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warn, rank in memory, tell the user in the reply</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indent="0" marL="0">
                        <a:buNone/>
                      </a:pPr>
                      <a:r>
                        <a:rPr lang="en-US" sz="950" dirty="0">
                          <a:solidFill>
                            <a:srgbClr val="5E6B75"/>
                          </a:solidFill>
                          <a:latin typeface="Consolas" pitchFamily="34" charset="0"/>
                          <a:ea typeface="Consolas" pitchFamily="34" charset="-122"/>
                          <a:cs typeface="Consolas" pitchFamily="34" charset="-120"/>
                        </a:rPr>
                        <a:t>test_lake_write_failure_does_not_lose_the_round</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10896">
                <a:tc>
                  <a:txBody>
                    <a:bodyPr/>
                    <a:lstStyle/>
                    <a:p>
                      <a:pPr indent="0" marL="0">
                        <a:buNone/>
                      </a:pPr>
                      <a:r>
                        <a:rPr lang="en-US" sz="1150" b="1" dirty="0">
                          <a:solidFill>
                            <a:srgbClr val="22303C"/>
                          </a:solidFill>
                          <a:latin typeface="Calibri" pitchFamily="34" charset="0"/>
                          <a:ea typeface="Calibri" pitchFamily="34" charset="-122"/>
                          <a:cs typeface="Calibri" pitchFamily="34" charset="-120"/>
                        </a:rPr>
                        <a:t>No SQLite checkpointer</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1150" dirty="0">
                          <a:solidFill>
                            <a:srgbClr val="22303C"/>
                          </a:solidFill>
                          <a:latin typeface="Calibri" pitchFamily="34" charset="0"/>
                          <a:ea typeface="Calibri" pitchFamily="34" charset="-122"/>
                          <a:cs typeface="Calibri" pitchFamily="34" charset="-120"/>
                        </a:rPr>
                        <a:t>InMemorySaver, with a note on /api/health</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indent="0" marL="0">
                        <a:buNone/>
                      </a:pPr>
                      <a:r>
                        <a:rPr lang="en-US" sz="950" dirty="0">
                          <a:solidFill>
                            <a:srgbClr val="5E6B75"/>
                          </a:solidFill>
                          <a:latin typeface="Consolas" pitchFamily="34" charset="0"/>
                          <a:ea typeface="Consolas" pitchFamily="34" charset="-122"/>
                          <a:cs typeface="Consolas" pitchFamily="34" charset="-120"/>
                        </a:rPr>
                        <a:t>runtime.py:172</a:t>
                      </a:r>
                      <a:endParaRPr lang="en-US" sz="9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bl>
          </a:graphicData>
        </a:graphic>
      </p:graphicFrame>
      <p:sp>
        <p:nvSpPr>
          <p:cNvPr id="5" name="Shape 2"/>
          <p:cNvSpPr/>
          <p:nvPr/>
        </p:nvSpPr>
        <p:spPr>
          <a:xfrm>
            <a:off x="457200" y="3794760"/>
            <a:ext cx="6949440" cy="1645920"/>
          </a:xfrm>
          <a:prstGeom prst="rect">
            <a:avLst/>
          </a:prstGeom>
          <a:solidFill>
            <a:srgbClr val="16222B"/>
          </a:solidFill>
          <a:ln w="12700">
            <a:solidFill>
              <a:srgbClr val="16222B"/>
            </a:solidFill>
            <a:prstDash val="solid"/>
          </a:ln>
        </p:spPr>
      </p:sp>
      <p:sp>
        <p:nvSpPr>
          <p:cNvPr id="6" name="Text 3"/>
          <p:cNvSpPr txBox="1"/>
          <p:nvPr/>
        </p:nvSpPr>
        <p:spPr>
          <a:xfrm>
            <a:off x="566928" y="3895344"/>
            <a:ext cx="6729984" cy="1444752"/>
          </a:xfrm>
          <a:prstGeom prst="rect">
            <a:avLst/>
          </a:prstGeom>
          <a:noFill/>
          <a:ln/>
        </p:spPr>
        <p:txBody>
          <a:bodyPr wrap="square" lIns="0" tIns="0" rIns="0" bIns="0" rtlCol="0" anchor="t"/>
          <a:lstStyle/>
          <a:p>
            <a:pPr indent="0" marL="0">
              <a:lnSpc>
                <a:spcPts val="1034"/>
              </a:lnSpc>
              <a:buNone/>
            </a:pPr>
            <a:r>
              <a:rPr lang="en-US" sz="827" dirty="0">
                <a:solidFill>
                  <a:srgbClr val="DCE5EC"/>
                </a:solidFill>
                <a:latin typeface="Consolas" pitchFamily="34" charset="0"/>
                <a:ea typeface="Consolas" pitchFamily="34" charset="-122"/>
                <a:cs typeface="Consolas" pitchFamily="34" charset="-120"/>
              </a:rPr>
              <a:t># A storage failure must not lose the user's round: the designs are</a:t>
            </a:r>
            <a:endParaRPr lang="en-US" sz="827" dirty="0"/>
          </a:p>
          <a:p>
            <a:pPr indent="0" marL="0">
              <a:lnSpc>
                <a:spcPts val="1034"/>
              </a:lnSpc>
              <a:buNone/>
            </a:pPr>
            <a:r>
              <a:rPr lang="en-US" sz="827" dirty="0">
                <a:solidFill>
                  <a:srgbClr val="DCE5EC"/>
                </a:solidFill>
                <a:latin typeface="Consolas" pitchFamily="34" charset="0"/>
                <a:ea typeface="Consolas" pitchFamily="34" charset="-122"/>
                <a:cs typeface="Consolas" pitchFamily="34" charset="-120"/>
              </a:rPr>
              <a:t># already in state, so we log, warn, and carry on.</a:t>
            </a:r>
            <a:endParaRPr lang="en-US" sz="827" dirty="0"/>
          </a:p>
          <a:p>
            <a:pPr indent="0" marL="0">
              <a:lnSpc>
                <a:spcPts val="1034"/>
              </a:lnSpc>
              <a:buNone/>
            </a:pPr>
            <a:r>
              <a:rPr lang="en-US" sz="827" dirty="0">
                <a:solidFill>
                  <a:srgbClr val="DCE5EC"/>
                </a:solidFill>
                <a:latin typeface="Consolas" pitchFamily="34" charset="0"/>
                <a:ea typeface="Consolas" pitchFamily="34" charset="-122"/>
                <a:cs typeface="Consolas" pitchFamily="34" charset="-120"/>
              </a:rPr>
              <a:t>try:</a:t>
            </a:r>
            <a:endParaRPr lang="en-US" sz="827" dirty="0"/>
          </a:p>
          <a:p>
            <a:pPr indent="0" marL="0">
              <a:lnSpc>
                <a:spcPts val="1034"/>
              </a:lnSpc>
              <a:buNone/>
            </a:pPr>
            <a:r>
              <a:rPr lang="en-US" sz="827" dirty="0">
                <a:solidFill>
                  <a:srgbClr val="DCE5EC"/>
                </a:solidFill>
                <a:latin typeface="Consolas" pitchFamily="34" charset="0"/>
                <a:ea typeface="Consolas" pitchFamily="34" charset="-122"/>
                <a:cs typeface="Consolas" pitchFamily="34" charset="-120"/>
              </a:rPr>
              <a:t>    ranked = deps.history.rank_round(campaign_id, round_no, ...)</a:t>
            </a:r>
            <a:endParaRPr lang="en-US" sz="827" dirty="0"/>
          </a:p>
          <a:p>
            <a:pPr indent="0" marL="0">
              <a:lnSpc>
                <a:spcPts val="1034"/>
              </a:lnSpc>
              <a:buNone/>
            </a:pPr>
            <a:r>
              <a:rPr lang="en-US" sz="827" dirty="0">
                <a:solidFill>
                  <a:srgbClr val="DCE5EC"/>
                </a:solidFill>
                <a:latin typeface="Consolas" pitchFamily="34" charset="0"/>
                <a:ea typeface="Consolas" pitchFamily="34" charset="-122"/>
                <a:cs typeface="Consolas" pitchFamily="34" charset="-120"/>
              </a:rPr>
              <a:t>except Exception as exc:</a:t>
            </a:r>
            <a:endParaRPr lang="en-US" sz="827" dirty="0"/>
          </a:p>
          <a:p>
            <a:pPr indent="0" marL="0">
              <a:lnSpc>
                <a:spcPts val="1034"/>
              </a:lnSpc>
              <a:buNone/>
            </a:pPr>
            <a:r>
              <a:rPr lang="en-US" sz="827" dirty="0">
                <a:solidFill>
                  <a:srgbClr val="DCE5EC"/>
                </a:solidFill>
                <a:latin typeface="Consolas" pitchFamily="34" charset="0"/>
                <a:ea typeface="Consolas" pitchFamily="34" charset="-122"/>
                <a:cs typeface="Consolas" pitchFamily="34" charset="-120"/>
              </a:rPr>
              <a:t>    storage_error = storage_error or str(exc)</a:t>
            </a:r>
            <a:endParaRPr lang="en-US" sz="827" dirty="0"/>
          </a:p>
          <a:p>
            <a:pPr indent="0" marL="0">
              <a:lnSpc>
                <a:spcPts val="1034"/>
              </a:lnSpc>
              <a:buNone/>
            </a:pPr>
            <a:r>
              <a:rPr lang="en-US" sz="827" dirty="0">
                <a:solidFill>
                  <a:srgbClr val="DCE5EC"/>
                </a:solidFill>
                <a:latin typeface="Consolas" pitchFamily="34" charset="0"/>
                <a:ea typeface="Consolas" pitchFamily="34" charset="-122"/>
                <a:cs typeface="Consolas" pitchFamily="34" charset="-120"/>
              </a:rPr>
              <a:t>    log.warning("persisting the ranking failed: %s", exc)</a:t>
            </a:r>
            <a:endParaRPr lang="en-US" sz="827" dirty="0"/>
          </a:p>
          <a:p>
            <a:pPr indent="0" marL="0">
              <a:lnSpc>
                <a:spcPts val="1034"/>
              </a:lnSpc>
              <a:buNone/>
            </a:pPr>
            <a:r>
              <a:rPr lang="en-US" sz="827" dirty="0">
                <a:solidFill>
                  <a:srgbClr val="DCE5EC"/>
                </a:solidFill>
                <a:latin typeface="Consolas" pitchFamily="34" charset="0"/>
                <a:ea typeface="Consolas" pitchFamily="34" charset="-122"/>
                <a:cs typeface="Consolas" pitchFamily="34" charset="-120"/>
              </a:rPr>
              <a:t>    ranked = _rank_in_memory(combined, metric_name, direction)</a:t>
            </a:r>
            <a:endParaRPr lang="en-US" sz="827" dirty="0"/>
          </a:p>
          <a:p>
            <a:pPr indent="0" marL="0">
              <a:lnSpc>
                <a:spcPts val="1034"/>
              </a:lnSpc>
              <a:buNone/>
            </a:pPr>
            <a:r>
              <a:rPr lang="en-US" sz="827" dirty="0">
                <a:solidFill>
                  <a:srgbClr val="DCE5EC"/>
                </a:solidFill>
                <a:latin typeface="Consolas" pitchFamily="34" charset="0"/>
                <a:ea typeface="Consolas" pitchFamily="34" charset="-122"/>
                <a:cs typeface="Consolas" pitchFamily="34" charset="-120"/>
              </a:rPr>
              <a:t>...</a:t>
            </a:r>
            <a:endParaRPr lang="en-US" sz="827" dirty="0"/>
          </a:p>
          <a:p>
            <a:pPr indent="0" marL="0">
              <a:lnSpc>
                <a:spcPts val="1034"/>
              </a:lnSpc>
              <a:buNone/>
            </a:pPr>
            <a:r>
              <a:rPr lang="en-US" sz="827" dirty="0">
                <a:solidFill>
                  <a:srgbClr val="DCE5EC"/>
                </a:solidFill>
                <a:latin typeface="Consolas" pitchFamily="34" charset="0"/>
                <a:ea typeface="Consolas" pitchFamily="34" charset="-122"/>
                <a:cs typeface="Consolas" pitchFamily="34" charset="-120"/>
              </a:rPr>
              <a:t>if storage_error:</a:t>
            </a:r>
            <a:endParaRPr lang="en-US" sz="827" dirty="0"/>
          </a:p>
          <a:p>
            <a:pPr indent="0" marL="0">
              <a:lnSpc>
                <a:spcPts val="1034"/>
              </a:lnSpc>
              <a:buNone/>
            </a:pPr>
            <a:r>
              <a:rPr lang="en-US" sz="827" dirty="0">
                <a:solidFill>
                  <a:srgbClr val="DCE5EC"/>
                </a:solidFill>
                <a:latin typeface="Consolas" pitchFamily="34" charset="0"/>
                <a:ea typeface="Consolas" pitchFamily="34" charset="-122"/>
                <a:cs typeface="Consolas" pitchFamily="34" charset="-120"/>
              </a:rPr>
              <a:t>    update["warnings"] = [f"Design History write failed: {storage_error}"]</a:t>
            </a:r>
            <a:endParaRPr lang="en-US" sz="827" dirty="0"/>
          </a:p>
        </p:txBody>
      </p:sp>
      <p:sp>
        <p:nvSpPr>
          <p:cNvPr id="7" name="Text 4"/>
          <p:cNvSpPr txBox="1"/>
          <p:nvPr/>
        </p:nvSpPr>
        <p:spPr>
          <a:xfrm>
            <a:off x="457200" y="5468112"/>
            <a:ext cx="6949440"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graph/nodes/analyst.py:155–222  ·  TRIMMED</a:t>
            </a:r>
            <a:endParaRPr lang="en-US" sz="850" dirty="0"/>
          </a:p>
        </p:txBody>
      </p:sp>
      <p:sp>
        <p:nvSpPr>
          <p:cNvPr id="8" name="Shape 5"/>
          <p:cNvSpPr/>
          <p:nvPr/>
        </p:nvSpPr>
        <p:spPr>
          <a:xfrm>
            <a:off x="7680960" y="3794760"/>
            <a:ext cx="4507992" cy="868680"/>
          </a:xfrm>
          <a:prstGeom prst="rect">
            <a:avLst/>
          </a:prstGeom>
          <a:solidFill>
            <a:srgbClr val="F9E0DD"/>
          </a:solidFill>
          <a:ln w="12700">
            <a:solidFill>
              <a:srgbClr val="F9E0DD"/>
            </a:solidFill>
            <a:prstDash val="solid"/>
          </a:ln>
        </p:spPr>
      </p:sp>
      <p:sp>
        <p:nvSpPr>
          <p:cNvPr id="9" name="Text 6"/>
          <p:cNvSpPr txBox="1"/>
          <p:nvPr/>
        </p:nvSpPr>
        <p:spPr>
          <a:xfrm>
            <a:off x="7818120" y="3886200"/>
            <a:ext cx="4233672"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How the user finds out</a:t>
            </a:r>
            <a:endParaRPr lang="en-US" sz="1300" dirty="0"/>
          </a:p>
        </p:txBody>
      </p:sp>
      <p:sp>
        <p:nvSpPr>
          <p:cNvPr id="10" name="Text 7"/>
          <p:cNvSpPr txBox="1"/>
          <p:nvPr/>
        </p:nvSpPr>
        <p:spPr>
          <a:xfrm>
            <a:off x="7818120" y="4206240"/>
            <a:ext cx="4233672" cy="3657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interpreter appends a "Caveats from this run" section to its reply, from the warnings channel.</a:t>
            </a:r>
            <a:endParaRPr lang="en-US" sz="1050" dirty="0"/>
          </a:p>
        </p:txBody>
      </p:sp>
      <p:sp>
        <p:nvSpPr>
          <p:cNvPr id="11" name="Shape 8"/>
          <p:cNvSpPr/>
          <p:nvPr/>
        </p:nvSpPr>
        <p:spPr>
          <a:xfrm>
            <a:off x="7680960" y="4800600"/>
            <a:ext cx="4507992" cy="640080"/>
          </a:xfrm>
          <a:prstGeom prst="rect">
            <a:avLst/>
          </a:prstGeom>
          <a:solidFill>
            <a:srgbClr val="EEF2F5"/>
          </a:solidFill>
          <a:ln w="12700">
            <a:solidFill>
              <a:srgbClr val="EEF2F5"/>
            </a:solidFill>
            <a:prstDash val="solid"/>
          </a:ln>
        </p:spPr>
      </p:sp>
      <p:sp>
        <p:nvSpPr>
          <p:cNvPr id="12" name="Text 9"/>
          <p:cNvSpPr txBox="1"/>
          <p:nvPr/>
        </p:nvSpPr>
        <p:spPr>
          <a:xfrm>
            <a:off x="7818120" y="4892040"/>
            <a:ext cx="4233672"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Where this came from</a:t>
            </a:r>
            <a:endParaRPr lang="en-US" sz="1300" dirty="0"/>
          </a:p>
        </p:txBody>
      </p:sp>
      <p:sp>
        <p:nvSpPr>
          <p:cNvPr id="13" name="Text 10"/>
          <p:cNvSpPr txBox="1"/>
          <p:nvPr/>
        </p:nvSpPr>
        <p:spPr>
          <a:xfrm>
            <a:off x="7818120" y="5212080"/>
            <a:ext cx="4233672" cy="1371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 readonly-SQLite error during a live run. My own fault — but it exposed unguarded writes.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FRONTEND</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The web app: seven frame kinds and one viewer</a:t>
            </a:r>
            <a:endParaRPr lang="en-US" sz="2800" dirty="0"/>
          </a:p>
        </p:txBody>
      </p:sp>
      <p:sp>
        <p:nvSpPr>
          <p:cNvPr id="4" name="Shape 2"/>
          <p:cNvSpPr/>
          <p:nvPr/>
        </p:nvSpPr>
        <p:spPr>
          <a:xfrm>
            <a:off x="457200" y="1417320"/>
            <a:ext cx="1572768" cy="713232"/>
          </a:xfrm>
          <a:prstGeom prst="roundRect">
            <a:avLst>
              <a:gd name="adj" fmla="val 10256"/>
            </a:avLst>
          </a:prstGeom>
          <a:solidFill>
            <a:srgbClr val="FFFFFF"/>
          </a:solidFill>
          <a:ln w="19050">
            <a:solidFill>
              <a:srgbClr val="7A4A8C"/>
            </a:solidFill>
            <a:prstDash val="solid"/>
          </a:ln>
        </p:spPr>
      </p:sp>
      <p:sp>
        <p:nvSpPr>
          <p:cNvPr id="5" name="Text 3"/>
          <p:cNvSpPr txBox="1"/>
          <p:nvPr/>
        </p:nvSpPr>
        <p:spPr>
          <a:xfrm>
            <a:off x="548640" y="1472184"/>
            <a:ext cx="1389888" cy="603504"/>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token</a:t>
            </a:r>
            <a:endParaRPr lang="en-US" sz="1400" dirty="0"/>
          </a:p>
          <a:p>
            <a:pPr algn="ctr" indent="0" marL="0">
              <a:buNone/>
            </a:pP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LLM text delta</a:t>
            </a:r>
            <a:endParaRPr lang="en-US" sz="1400" dirty="0"/>
          </a:p>
        </p:txBody>
      </p:sp>
      <p:sp>
        <p:nvSpPr>
          <p:cNvPr id="6" name="Shape 4"/>
          <p:cNvSpPr/>
          <p:nvPr/>
        </p:nvSpPr>
        <p:spPr>
          <a:xfrm>
            <a:off x="2103120" y="1417320"/>
            <a:ext cx="1572768" cy="713232"/>
          </a:xfrm>
          <a:prstGeom prst="roundRect">
            <a:avLst>
              <a:gd name="adj" fmla="val 10256"/>
            </a:avLst>
          </a:prstGeom>
          <a:solidFill>
            <a:srgbClr val="FFFFFF"/>
          </a:solidFill>
          <a:ln w="19050">
            <a:solidFill>
              <a:srgbClr val="3B4E8C"/>
            </a:solidFill>
            <a:prstDash val="solid"/>
          </a:ln>
        </p:spPr>
      </p:sp>
      <p:sp>
        <p:nvSpPr>
          <p:cNvPr id="7" name="Text 5"/>
          <p:cNvSpPr txBox="1"/>
          <p:nvPr/>
        </p:nvSpPr>
        <p:spPr>
          <a:xfrm>
            <a:off x="2194560" y="1472184"/>
            <a:ext cx="1389888" cy="603504"/>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status</a:t>
            </a:r>
            <a:endParaRPr lang="en-US" sz="1400" dirty="0"/>
          </a:p>
          <a:p>
            <a:pPr algn="ctr" indent="0" marL="0">
              <a:buNone/>
            </a:pP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node progress line</a:t>
            </a:r>
            <a:endParaRPr lang="en-US" sz="1400" dirty="0"/>
          </a:p>
        </p:txBody>
      </p:sp>
      <p:sp>
        <p:nvSpPr>
          <p:cNvPr id="8" name="Shape 6"/>
          <p:cNvSpPr/>
          <p:nvPr/>
        </p:nvSpPr>
        <p:spPr>
          <a:xfrm>
            <a:off x="3749040" y="1417320"/>
            <a:ext cx="1572768" cy="713232"/>
          </a:xfrm>
          <a:prstGeom prst="roundRect">
            <a:avLst>
              <a:gd name="adj" fmla="val 10256"/>
            </a:avLst>
          </a:prstGeom>
          <a:solidFill>
            <a:srgbClr val="FFFFFF"/>
          </a:solidFill>
          <a:ln w="19050">
            <a:solidFill>
              <a:srgbClr val="D9731A"/>
            </a:solidFill>
            <a:prstDash val="solid"/>
          </a:ln>
        </p:spPr>
      </p:sp>
      <p:sp>
        <p:nvSpPr>
          <p:cNvPr id="9" name="Text 7"/>
          <p:cNvSpPr txBox="1"/>
          <p:nvPr/>
        </p:nvSpPr>
        <p:spPr>
          <a:xfrm>
            <a:off x="3840480" y="1472184"/>
            <a:ext cx="1389888" cy="603504"/>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task</a:t>
            </a:r>
            <a:endParaRPr lang="en-US" sz="1400" dirty="0"/>
          </a:p>
          <a:p>
            <a:pPr algn="ctr" indent="0" marL="0">
              <a:buNone/>
            </a:pP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submitted · log · state</a:t>
            </a:r>
            <a:endParaRPr lang="en-US" sz="1400" dirty="0"/>
          </a:p>
        </p:txBody>
      </p:sp>
      <p:sp>
        <p:nvSpPr>
          <p:cNvPr id="10" name="Shape 8"/>
          <p:cNvSpPr/>
          <p:nvPr/>
        </p:nvSpPr>
        <p:spPr>
          <a:xfrm>
            <a:off x="5394960" y="1417320"/>
            <a:ext cx="1572768" cy="713232"/>
          </a:xfrm>
          <a:prstGeom prst="roundRect">
            <a:avLst>
              <a:gd name="adj" fmla="val 10256"/>
            </a:avLst>
          </a:prstGeom>
          <a:solidFill>
            <a:srgbClr val="FFFFFF"/>
          </a:solidFill>
          <a:ln w="19050">
            <a:solidFill>
              <a:srgbClr val="3B4E8C"/>
            </a:solidFill>
            <a:prstDash val="solid"/>
          </a:ln>
        </p:spPr>
      </p:sp>
      <p:sp>
        <p:nvSpPr>
          <p:cNvPr id="11" name="Text 9"/>
          <p:cNvSpPr txBox="1"/>
          <p:nvPr/>
        </p:nvSpPr>
        <p:spPr>
          <a:xfrm>
            <a:off x="5486400" y="1472184"/>
            <a:ext cx="1389888" cy="603504"/>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state</a:t>
            </a:r>
            <a:endParaRPr lang="en-US" sz="1400" dirty="0"/>
          </a:p>
          <a:p>
            <a:pPr algn="ctr" indent="0" marL="0">
              <a:buNone/>
            </a:pP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UI_STATE_KEYS slice</a:t>
            </a:r>
            <a:endParaRPr lang="en-US" sz="1400" dirty="0"/>
          </a:p>
        </p:txBody>
      </p:sp>
      <p:sp>
        <p:nvSpPr>
          <p:cNvPr id="12" name="Shape 10"/>
          <p:cNvSpPr/>
          <p:nvPr/>
        </p:nvSpPr>
        <p:spPr>
          <a:xfrm>
            <a:off x="7040880" y="1417320"/>
            <a:ext cx="1572768" cy="713232"/>
          </a:xfrm>
          <a:prstGeom prst="roundRect">
            <a:avLst>
              <a:gd name="adj" fmla="val 10256"/>
            </a:avLst>
          </a:prstGeom>
          <a:solidFill>
            <a:srgbClr val="FFFFFF"/>
          </a:solidFill>
          <a:ln w="19050">
            <a:solidFill>
              <a:srgbClr val="7A4A8C"/>
            </a:solidFill>
            <a:prstDash val="solid"/>
          </a:ln>
        </p:spPr>
      </p:sp>
      <p:sp>
        <p:nvSpPr>
          <p:cNvPr id="13" name="Text 11"/>
          <p:cNvSpPr txBox="1"/>
          <p:nvPr/>
        </p:nvSpPr>
        <p:spPr>
          <a:xfrm>
            <a:off x="7132320" y="1472184"/>
            <a:ext cx="1389888" cy="603504"/>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message</a:t>
            </a:r>
            <a:endParaRPr lang="en-US" sz="1400" dirty="0"/>
          </a:p>
          <a:p>
            <a:pPr algn="ctr" indent="0" marL="0">
              <a:buNone/>
            </a:pP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a complete reply</a:t>
            </a:r>
            <a:endParaRPr lang="en-US" sz="1400" dirty="0"/>
          </a:p>
        </p:txBody>
      </p:sp>
      <p:sp>
        <p:nvSpPr>
          <p:cNvPr id="14" name="Shape 12"/>
          <p:cNvSpPr/>
          <p:nvPr/>
        </p:nvSpPr>
        <p:spPr>
          <a:xfrm>
            <a:off x="8686800" y="1417320"/>
            <a:ext cx="1572768" cy="713232"/>
          </a:xfrm>
          <a:prstGeom prst="roundRect">
            <a:avLst>
              <a:gd name="adj" fmla="val 10256"/>
            </a:avLst>
          </a:prstGeom>
          <a:solidFill>
            <a:srgbClr val="FFFFFF"/>
          </a:solidFill>
          <a:ln w="19050">
            <a:solidFill>
              <a:srgbClr val="C0392B"/>
            </a:solidFill>
            <a:prstDash val="solid"/>
          </a:ln>
        </p:spPr>
      </p:sp>
      <p:sp>
        <p:nvSpPr>
          <p:cNvPr id="15" name="Text 13"/>
          <p:cNvSpPr txBox="1"/>
          <p:nvPr/>
        </p:nvSpPr>
        <p:spPr>
          <a:xfrm>
            <a:off x="8778240" y="1472184"/>
            <a:ext cx="1389888" cy="603504"/>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error</a:t>
            </a:r>
            <a:endParaRPr lang="en-US" sz="1400" dirty="0"/>
          </a:p>
          <a:p>
            <a:pPr algn="ctr" indent="0" marL="0">
              <a:buNone/>
            </a:pP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stream-fatal</a:t>
            </a:r>
            <a:endParaRPr lang="en-US" sz="1400" dirty="0"/>
          </a:p>
        </p:txBody>
      </p:sp>
      <p:sp>
        <p:nvSpPr>
          <p:cNvPr id="16" name="Shape 14"/>
          <p:cNvSpPr/>
          <p:nvPr/>
        </p:nvSpPr>
        <p:spPr>
          <a:xfrm>
            <a:off x="10332720" y="1417320"/>
            <a:ext cx="1572768" cy="713232"/>
          </a:xfrm>
          <a:prstGeom prst="roundRect">
            <a:avLst>
              <a:gd name="adj" fmla="val 10256"/>
            </a:avLst>
          </a:prstGeom>
          <a:solidFill>
            <a:srgbClr val="FFFFFF"/>
          </a:solidFill>
          <a:ln w="19050">
            <a:solidFill>
              <a:srgbClr val="5E6B75"/>
            </a:solidFill>
            <a:prstDash val="solid"/>
          </a:ln>
        </p:spPr>
      </p:sp>
      <p:sp>
        <p:nvSpPr>
          <p:cNvPr id="17" name="Text 15"/>
          <p:cNvSpPr txBox="1"/>
          <p:nvPr/>
        </p:nvSpPr>
        <p:spPr>
          <a:xfrm>
            <a:off x="10424160" y="1472184"/>
            <a:ext cx="1389888" cy="603504"/>
          </a:xfrm>
          <a:prstGeom prst="rect">
            <a:avLst/>
          </a:prstGeom>
          <a:noFill/>
          <a:ln/>
        </p:spPr>
        <p:txBody>
          <a:bodyPr wrap="square" lIns="0" tIns="0" rIns="0" bIns="0" rtlCol="0" anchor="ctr"/>
          <a:lstStyle/>
          <a:p>
            <a:pPr algn="ctr" indent="0" marL="0">
              <a:buNone/>
            </a:pPr>
            <a:r>
              <a:rPr lang="en-US" sz="1200" b="1" dirty="0">
                <a:solidFill>
                  <a:srgbClr val="16222B"/>
                </a:solidFill>
                <a:latin typeface="Calibri" pitchFamily="34" charset="0"/>
                <a:ea typeface="Calibri" pitchFamily="34" charset="-122"/>
                <a:cs typeface="Calibri" pitchFamily="34" charset="-120"/>
              </a:rPr>
              <a:t>done</a:t>
            </a:r>
            <a:endParaRPr lang="en-US" sz="1400" dirty="0"/>
          </a:p>
          <a:p>
            <a:pPr algn="ctr" indent="0" marL="0">
              <a:buNone/>
            </a:pPr>
            <a:endParaRPr lang="en-US" sz="1400" dirty="0"/>
          </a:p>
          <a:p>
            <a:pPr algn="ctr" indent="0" marL="0">
              <a:buNone/>
            </a:pPr>
            <a:r>
              <a:rPr lang="en-US" sz="900" dirty="0">
                <a:solidFill>
                  <a:srgbClr val="5E6B75"/>
                </a:solidFill>
                <a:latin typeface="Calibri" pitchFamily="34" charset="0"/>
                <a:ea typeface="Calibri" pitchFamily="34" charset="-122"/>
                <a:cs typeface="Calibri" pitchFamily="34" charset="-120"/>
              </a:rPr>
              <a:t>end of turn</a:t>
            </a:r>
            <a:endParaRPr lang="en-US" sz="1400" dirty="0"/>
          </a:p>
        </p:txBody>
      </p:sp>
      <p:sp>
        <p:nvSpPr>
          <p:cNvPr id="18" name="Text 16"/>
          <p:cNvSpPr txBox="1"/>
          <p:nvPr/>
        </p:nvSpPr>
        <p:spPr>
          <a:xfrm>
            <a:off x="457200" y="2240280"/>
            <a:ext cx="11247120" cy="457200"/>
          </a:xfrm>
          <a:prstGeom prst="rect">
            <a:avLst/>
          </a:prstGeom>
          <a:noFill/>
          <a:ln/>
        </p:spPr>
        <p:txBody>
          <a:bodyPr wrap="square" lIns="0" tIns="0" rIns="0" bIns="0" rtlCol="0" anchor="t"/>
          <a:lstStyle/>
          <a:p>
            <a:pPr indent="0" marL="0">
              <a:buNone/>
            </a:pPr>
            <a:r>
              <a:rPr lang="en-US" sz="1150" dirty="0">
                <a:solidFill>
                  <a:srgbClr val="22303C"/>
                </a:solidFill>
                <a:latin typeface="Calibri" pitchFamily="34" charset="0"/>
                <a:ea typeface="Calibri" pitchFamily="34" charset="-122"/>
                <a:cs typeface="Calibri" pitchFamily="34" charset="-120"/>
              </a:rPr>
              <a:t>POST /api/chat returns text/event-stream. One asyncio.Queue merges the graph's own astream frames with TaskManager events, so task progress and node status share one ordered stream.</a:t>
            </a:r>
            <a:endParaRPr lang="en-US" sz="1150" dirty="0"/>
          </a:p>
        </p:txBody>
      </p:sp>
      <p:sp>
        <p:nvSpPr>
          <p:cNvPr id="19" name="Shape 17"/>
          <p:cNvSpPr/>
          <p:nvPr/>
        </p:nvSpPr>
        <p:spPr>
          <a:xfrm>
            <a:off x="457200" y="2788920"/>
            <a:ext cx="5577840" cy="1920240"/>
          </a:xfrm>
          <a:prstGeom prst="rect">
            <a:avLst/>
          </a:prstGeom>
          <a:solidFill>
            <a:srgbClr val="16222B"/>
          </a:solidFill>
          <a:ln w="12700">
            <a:solidFill>
              <a:srgbClr val="16222B"/>
            </a:solidFill>
            <a:prstDash val="solid"/>
          </a:ln>
        </p:spPr>
      </p:sp>
      <p:sp>
        <p:nvSpPr>
          <p:cNvPr id="20" name="Text 18"/>
          <p:cNvSpPr txBox="1"/>
          <p:nvPr/>
        </p:nvSpPr>
        <p:spPr>
          <a:xfrm>
            <a:off x="566928" y="2889504"/>
            <a:ext cx="5358384" cy="1719072"/>
          </a:xfrm>
          <a:prstGeom prst="rect">
            <a:avLst/>
          </a:prstGeom>
          <a:noFill/>
          <a:ln/>
        </p:spPr>
        <p:txBody>
          <a:bodyPr wrap="square" lIns="0" tIns="0" rIns="0" bIns="0" rtlCol="0" anchor="t"/>
          <a:lstStyle/>
          <a:p>
            <a:pPr indent="0" marL="0">
              <a:lnSpc>
                <a:spcPts val="1128"/>
              </a:lnSpc>
              <a:buNone/>
            </a:pPr>
            <a:r>
              <a:rPr lang="en-US" sz="902" dirty="0">
                <a:solidFill>
                  <a:srgbClr val="DCE5EC"/>
                </a:solidFill>
                <a:latin typeface="Consolas" pitchFamily="34" charset="0"/>
                <a:ea typeface="Consolas" pitchFamily="34" charset="-122"/>
                <a:cs typeface="Consolas" pitchFamily="34" charset="-120"/>
              </a:rPr>
              <a:t>let buffer = "";</a:t>
            </a:r>
            <a:endParaRPr lang="en-US" sz="902" dirty="0"/>
          </a:p>
          <a:p>
            <a:pPr indent="0" marL="0">
              <a:lnSpc>
                <a:spcPts val="1128"/>
              </a:lnSpc>
              <a:buNone/>
            </a:pPr>
            <a:r>
              <a:rPr lang="en-US" sz="902" dirty="0">
                <a:solidFill>
                  <a:srgbClr val="DCE5EC"/>
                </a:solidFill>
                <a:latin typeface="Consolas" pitchFamily="34" charset="0"/>
                <a:ea typeface="Consolas" pitchFamily="34" charset="-122"/>
                <a:cs typeface="Consolas" pitchFamily="34" charset="-120"/>
              </a:rPr>
              <a:t>while (true) {</a:t>
            </a:r>
            <a:endParaRPr lang="en-US" sz="902" dirty="0"/>
          </a:p>
          <a:p>
            <a:pPr indent="0" marL="0">
              <a:lnSpc>
                <a:spcPts val="1128"/>
              </a:lnSpc>
              <a:buNone/>
            </a:pPr>
            <a:r>
              <a:rPr lang="en-US" sz="902" dirty="0">
                <a:solidFill>
                  <a:srgbClr val="DCE5EC"/>
                </a:solidFill>
                <a:latin typeface="Consolas" pitchFamily="34" charset="0"/>
                <a:ea typeface="Consolas" pitchFamily="34" charset="-122"/>
                <a:cs typeface="Consolas" pitchFamily="34" charset="-120"/>
              </a:rPr>
              <a:t>  const { done, value } = await reader.read();</a:t>
            </a:r>
            <a:endParaRPr lang="en-US" sz="902" dirty="0"/>
          </a:p>
          <a:p>
            <a:pPr indent="0" marL="0">
              <a:lnSpc>
                <a:spcPts val="1128"/>
              </a:lnSpc>
              <a:buNone/>
            </a:pPr>
            <a:r>
              <a:rPr lang="en-US" sz="902" dirty="0">
                <a:solidFill>
                  <a:srgbClr val="DCE5EC"/>
                </a:solidFill>
                <a:latin typeface="Consolas" pitchFamily="34" charset="0"/>
                <a:ea typeface="Consolas" pitchFamily="34" charset="-122"/>
                <a:cs typeface="Consolas" pitchFamily="34" charset="-120"/>
              </a:rPr>
              <a:t>  if (done) break;</a:t>
            </a:r>
            <a:endParaRPr lang="en-US" sz="902" dirty="0"/>
          </a:p>
          <a:p>
            <a:pPr indent="0" marL="0">
              <a:lnSpc>
                <a:spcPts val="1128"/>
              </a:lnSpc>
              <a:buNone/>
            </a:pPr>
            <a:r>
              <a:rPr lang="en-US" sz="902" dirty="0">
                <a:solidFill>
                  <a:srgbClr val="DCE5EC"/>
                </a:solidFill>
                <a:latin typeface="Consolas" pitchFamily="34" charset="0"/>
                <a:ea typeface="Consolas" pitchFamily="34" charset="-122"/>
                <a:cs typeface="Consolas" pitchFamily="34" charset="-120"/>
              </a:rPr>
              <a:t>  buffer += decoder.decode(value, { stream: true });</a:t>
            </a:r>
            <a:endParaRPr lang="en-US" sz="902" dirty="0"/>
          </a:p>
          <a:p>
            <a:pPr indent="0" marL="0">
              <a:lnSpc>
                <a:spcPts val="1128"/>
              </a:lnSpc>
              <a:buNone/>
            </a:pPr>
            <a:r>
              <a:rPr lang="en-US" sz="902" dirty="0">
                <a:solidFill>
                  <a:srgbClr val="DCE5EC"/>
                </a:solidFill>
                <a:latin typeface="Consolas" pitchFamily="34" charset="0"/>
                <a:ea typeface="Consolas" pitchFamily="34" charset="-122"/>
                <a:cs typeface="Consolas" pitchFamily="34" charset="-120"/>
              </a:rPr>
              <a:t>  let split;</a:t>
            </a:r>
            <a:endParaRPr lang="en-US" sz="902" dirty="0"/>
          </a:p>
          <a:p>
            <a:pPr indent="0" marL="0">
              <a:lnSpc>
                <a:spcPts val="1128"/>
              </a:lnSpc>
              <a:buNone/>
            </a:pPr>
            <a:r>
              <a:rPr lang="en-US" sz="902" dirty="0">
                <a:solidFill>
                  <a:srgbClr val="DCE5EC"/>
                </a:solidFill>
                <a:latin typeface="Consolas" pitchFamily="34" charset="0"/>
                <a:ea typeface="Consolas" pitchFamily="34" charset="-122"/>
                <a:cs typeface="Consolas" pitchFamily="34" charset="-120"/>
              </a:rPr>
              <a:t>  while ((split = buffer.indexOf("\n\n")) !== -1) {</a:t>
            </a:r>
            <a:endParaRPr lang="en-US" sz="902" dirty="0"/>
          </a:p>
          <a:p>
            <a:pPr indent="0" marL="0">
              <a:lnSpc>
                <a:spcPts val="1128"/>
              </a:lnSpc>
              <a:buNone/>
            </a:pPr>
            <a:r>
              <a:rPr lang="en-US" sz="902" dirty="0">
                <a:solidFill>
                  <a:srgbClr val="DCE5EC"/>
                </a:solidFill>
                <a:latin typeface="Consolas" pitchFamily="34" charset="0"/>
                <a:ea typeface="Consolas" pitchFamily="34" charset="-122"/>
                <a:cs typeface="Consolas" pitchFamily="34" charset="-120"/>
              </a:rPr>
              <a:t>    const raw = buffer.slice(0, split);</a:t>
            </a:r>
            <a:endParaRPr lang="en-US" sz="902" dirty="0"/>
          </a:p>
          <a:p>
            <a:pPr indent="0" marL="0">
              <a:lnSpc>
                <a:spcPts val="1128"/>
              </a:lnSpc>
              <a:buNone/>
            </a:pPr>
            <a:r>
              <a:rPr lang="en-US" sz="902" dirty="0">
                <a:solidFill>
                  <a:srgbClr val="DCE5EC"/>
                </a:solidFill>
                <a:latin typeface="Consolas" pitchFamily="34" charset="0"/>
                <a:ea typeface="Consolas" pitchFamily="34" charset="-122"/>
                <a:cs typeface="Consolas" pitchFamily="34" charset="-120"/>
              </a:rPr>
              <a:t>    buffer = buffer.slice(split + 2);</a:t>
            </a:r>
            <a:endParaRPr lang="en-US" sz="902" dirty="0"/>
          </a:p>
          <a:p>
            <a:pPr indent="0" marL="0">
              <a:lnSpc>
                <a:spcPts val="1128"/>
              </a:lnSpc>
              <a:buNone/>
            </a:pPr>
            <a:r>
              <a:rPr lang="en-US" sz="902" dirty="0">
                <a:solidFill>
                  <a:srgbClr val="DCE5EC"/>
                </a:solidFill>
                <a:latin typeface="Consolas" pitchFamily="34" charset="0"/>
                <a:ea typeface="Consolas" pitchFamily="34" charset="-122"/>
                <a:cs typeface="Consolas" pitchFamily="34" charset="-120"/>
              </a:rPr>
              <a:t>    ...  yield JSON.parse(line.slice(6)) as Frame;</a:t>
            </a:r>
            <a:endParaRPr lang="en-US" sz="902" dirty="0"/>
          </a:p>
          <a:p>
            <a:pPr indent="0" marL="0">
              <a:lnSpc>
                <a:spcPts val="1128"/>
              </a:lnSpc>
              <a:buNone/>
            </a:pPr>
            <a:r>
              <a:rPr lang="en-US" sz="902" dirty="0">
                <a:solidFill>
                  <a:srgbClr val="DCE5EC"/>
                </a:solidFill>
                <a:latin typeface="Consolas" pitchFamily="34" charset="0"/>
                <a:ea typeface="Consolas" pitchFamily="34" charset="-122"/>
                <a:cs typeface="Consolas" pitchFamily="34" charset="-120"/>
              </a:rPr>
              <a:t>  }</a:t>
            </a:r>
            <a:endParaRPr lang="en-US" sz="902" dirty="0"/>
          </a:p>
          <a:p>
            <a:pPr indent="0" marL="0">
              <a:lnSpc>
                <a:spcPts val="1128"/>
              </a:lnSpc>
              <a:buNone/>
            </a:pPr>
            <a:r>
              <a:rPr lang="en-US" sz="902" dirty="0">
                <a:solidFill>
                  <a:srgbClr val="DCE5EC"/>
                </a:solidFill>
                <a:latin typeface="Consolas" pitchFamily="34" charset="0"/>
                <a:ea typeface="Consolas" pitchFamily="34" charset="-122"/>
                <a:cs typeface="Consolas" pitchFamily="34" charset="-120"/>
              </a:rPr>
              <a:t>}</a:t>
            </a:r>
            <a:endParaRPr lang="en-US" sz="902" dirty="0"/>
          </a:p>
        </p:txBody>
      </p:sp>
      <p:sp>
        <p:nvSpPr>
          <p:cNvPr id="21" name="Text 19"/>
          <p:cNvSpPr txBox="1"/>
          <p:nvPr/>
        </p:nvSpPr>
        <p:spPr>
          <a:xfrm>
            <a:off x="457200" y="4736592"/>
            <a:ext cx="5577840"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frontend/src/lib/api.ts:30–49  ·  TRIMMED</a:t>
            </a:r>
            <a:endParaRPr lang="en-US" sz="850" dirty="0"/>
          </a:p>
        </p:txBody>
      </p:sp>
      <p:sp>
        <p:nvSpPr>
          <p:cNvPr id="22" name="Text 20"/>
          <p:cNvSpPr txBox="1"/>
          <p:nvPr/>
        </p:nvSpPr>
        <p:spPr>
          <a:xfrm>
            <a:off x="457200" y="4800600"/>
            <a:ext cx="5577840" cy="457200"/>
          </a:xfrm>
          <a:prstGeom prst="rect">
            <a:avLst/>
          </a:prstGeom>
          <a:noFill/>
          <a:ln/>
        </p:spPr>
        <p:txBody>
          <a:bodyPr wrap="square" lIns="0" tIns="0" rIns="0" bIns="0" rtlCol="0" anchor="t"/>
          <a:lstStyle/>
          <a:p>
            <a:pPr indent="0" marL="0">
              <a:buNone/>
            </a:pPr>
            <a:r>
              <a:rPr lang="en-US" sz="1100" i="1" dirty="0">
                <a:solidFill>
                  <a:srgbClr val="5E6B75"/>
                </a:solidFill>
                <a:latin typeface="Calibri" pitchFamily="34" charset="0"/>
                <a:ea typeface="Calibri" pitchFamily="34" charset="-122"/>
                <a:cs typeface="Calibri" pitchFamily="34" charset="-120"/>
              </a:rPr>
              <a:t>A chunk boundary can land mid-frame, so partial frames are held in a buffer until a blank line. A malformed frame is skipped, never fatal.</a:t>
            </a:r>
            <a:endParaRPr lang="en-US" sz="1100" dirty="0"/>
          </a:p>
        </p:txBody>
      </p:sp>
      <p:sp>
        <p:nvSpPr>
          <p:cNvPr id="23" name="Shape 21"/>
          <p:cNvSpPr/>
          <p:nvPr/>
        </p:nvSpPr>
        <p:spPr>
          <a:xfrm>
            <a:off x="6309360" y="2788920"/>
            <a:ext cx="5879592" cy="1188720"/>
          </a:xfrm>
          <a:prstGeom prst="rect">
            <a:avLst/>
          </a:prstGeom>
          <a:solidFill>
            <a:srgbClr val="F3EAF6"/>
          </a:solidFill>
          <a:ln w="12700">
            <a:solidFill>
              <a:srgbClr val="F3EAF6"/>
            </a:solidFill>
            <a:prstDash val="solid"/>
          </a:ln>
        </p:spPr>
      </p:sp>
      <p:sp>
        <p:nvSpPr>
          <p:cNvPr id="24" name="Text 22"/>
          <p:cNvSpPr txBox="1"/>
          <p:nvPr/>
        </p:nvSpPr>
        <p:spPr>
          <a:xfrm>
            <a:off x="6446520" y="2880360"/>
            <a:ext cx="5605272" cy="274320"/>
          </a:xfrm>
          <a:prstGeom prst="rect">
            <a:avLst/>
          </a:prstGeom>
          <a:noFill/>
          <a:ln/>
        </p:spPr>
        <p:txBody>
          <a:bodyPr wrap="square" lIns="0" tIns="0" rIns="0" bIns="0" rtlCol="0" anchor="t"/>
          <a:lstStyle/>
          <a:p>
            <a:pPr indent="0" marL="0">
              <a:buNone/>
            </a:pPr>
            <a:r>
              <a:rPr lang="en-US" sz="1300" b="1" dirty="0">
                <a:solidFill>
                  <a:srgbClr val="7A4A8C"/>
                </a:solidFill>
                <a:latin typeface="Calibri" pitchFamily="34" charset="0"/>
                <a:ea typeface="Calibri" pitchFamily="34" charset="-122"/>
                <a:cs typeface="Calibri" pitchFamily="34" charset="-120"/>
              </a:rPr>
              <a:t>The Mol* viewer</a:t>
            </a:r>
            <a:endParaRPr lang="en-US" sz="1300" dirty="0"/>
          </a:p>
        </p:txBody>
      </p:sp>
      <p:sp>
        <p:nvSpPr>
          <p:cNvPr id="25" name="Text 23"/>
          <p:cNvSpPr txBox="1"/>
          <p:nvPr/>
        </p:nvSpPr>
        <p:spPr>
          <a:xfrm>
            <a:off x="6446520" y="3200400"/>
            <a:ext cx="5605272" cy="6858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rcsb-molstar 2.14.7 UMD from jsDelivr, loader cached on window.__molstarLoader so one fetch serves every mount.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One viewer per mount; the spec is re-applied on change; ResizeObserver → handleResize.</a:t>
            </a:r>
            <a:endParaRPr lang="en-US" sz="1050" dirty="0"/>
          </a:p>
        </p:txBody>
      </p:sp>
      <p:sp>
        <p:nvSpPr>
          <p:cNvPr id="26" name="Shape 24"/>
          <p:cNvSpPr/>
          <p:nvPr/>
        </p:nvSpPr>
        <p:spPr>
          <a:xfrm>
            <a:off x="6309360" y="4069080"/>
            <a:ext cx="5879592" cy="1188720"/>
          </a:xfrm>
          <a:prstGeom prst="rect">
            <a:avLst/>
          </a:prstGeom>
          <a:solidFill>
            <a:srgbClr val="F9E0DD"/>
          </a:solidFill>
          <a:ln w="12700">
            <a:solidFill>
              <a:srgbClr val="F9E0DD"/>
            </a:solidFill>
            <a:prstDash val="solid"/>
          </a:ln>
        </p:spPr>
      </p:sp>
      <p:sp>
        <p:nvSpPr>
          <p:cNvPr id="27" name="Text 25"/>
          <p:cNvSpPr txBox="1"/>
          <p:nvPr/>
        </p:nvSpPr>
        <p:spPr>
          <a:xfrm>
            <a:off x="6446520" y="4160520"/>
            <a:ext cx="5605272"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Two things that bit</a:t>
            </a:r>
            <a:endParaRPr lang="en-US" sz="1300" dirty="0"/>
          </a:p>
        </p:txBody>
      </p:sp>
      <p:sp>
        <p:nvSpPr>
          <p:cNvPr id="28" name="Text 26"/>
          <p:cNvSpPr txBox="1"/>
          <p:nvPr/>
        </p:nvSpPr>
        <p:spPr>
          <a:xfrm>
            <a:off x="6446520" y="4480560"/>
            <a:ext cx="5605272" cy="6858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createComponent takes no colour, so colours go through pluginCall → updateRepresentationsTheme.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Coordinates are inlined as a json artifact by the analyst, so the viewer needs no second authenticated fetch.</a:t>
            </a:r>
            <a:endParaRPr lang="en-US" sz="1050" dirty="0"/>
          </a:p>
        </p:txBody>
      </p:sp>
      <p:sp>
        <p:nvSpPr>
          <p:cNvPr id="29" name="Text 27"/>
          <p:cNvSpPr txBox="1"/>
          <p:nvPr/>
        </p:nvSpPr>
        <p:spPr>
          <a:xfrm>
            <a:off x="457200" y="5349240"/>
            <a:ext cx="11247120" cy="548640"/>
          </a:xfrm>
          <a:prstGeom prst="rect">
            <a:avLst/>
          </a:prstGeom>
          <a:noFill/>
          <a:ln/>
        </p:spPr>
        <p:txBody>
          <a:bodyPr wrap="square" lIns="0" tIns="0" rIns="0" bIns="0" rtlCol="0" anchor="t"/>
          <a:lstStyle/>
          <a:p>
            <a:pPr indent="0" marL="0">
              <a:buNone/>
            </a:pPr>
            <a:r>
              <a:rPr lang="en-US" sz="1250" b="1" dirty="0">
                <a:solidFill>
                  <a:srgbClr val="2E7D4F"/>
                </a:solidFill>
                <a:latin typeface="Calibri" pitchFamily="34" charset="0"/>
                <a:ea typeface="Calibri" pitchFamily="34" charset="-122"/>
                <a:cs typeface="Calibri" pitchFamily="34" charset="-120"/>
              </a:rPr>
              <a:t>Confirmed rendering </a:t>
            </a:r>
            <a:pPr indent="0" marL="0">
              <a:buNone/>
            </a:pPr>
            <a:r>
              <a:rPr lang="en-US" sz="1250" dirty="0">
                <a:solidFill>
                  <a:srgbClr val="22303C"/>
                </a:solidFill>
                <a:latin typeface="Calibri" pitchFamily="34" charset="0"/>
                <a:ea typeface="Calibri" pitchFamily="34" charset="-122"/>
                <a:cs typeface="Calibri" pitchFamily="34" charset="-120"/>
              </a:rPr>
              <a:t>in a browser on 2026-10-01. It was built without one — the dev server, the proxy, a real artifact through it and the CDN assets were all that could be checked at the time.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HOW TO RUN IT</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Running it, and what each test tier proves</a:t>
            </a:r>
            <a:endParaRPr lang="en-US" sz="2800" dirty="0"/>
          </a:p>
        </p:txBody>
      </p:sp>
      <p:sp>
        <p:nvSpPr>
          <p:cNvPr id="4" name="Shape 2"/>
          <p:cNvSpPr/>
          <p:nvPr/>
        </p:nvSpPr>
        <p:spPr>
          <a:xfrm>
            <a:off x="457200" y="1417320"/>
            <a:ext cx="6675120" cy="1234440"/>
          </a:xfrm>
          <a:prstGeom prst="rect">
            <a:avLst/>
          </a:prstGeom>
          <a:solidFill>
            <a:srgbClr val="16222B"/>
          </a:solidFill>
          <a:ln w="12700">
            <a:solidFill>
              <a:srgbClr val="16222B"/>
            </a:solidFill>
            <a:prstDash val="solid"/>
          </a:ln>
        </p:spPr>
      </p:sp>
      <p:sp>
        <p:nvSpPr>
          <p:cNvPr id="5" name="Text 3"/>
          <p:cNvSpPr txBox="1"/>
          <p:nvPr/>
        </p:nvSpPr>
        <p:spPr>
          <a:xfrm>
            <a:off x="566928" y="1517904"/>
            <a:ext cx="6455664" cy="1033272"/>
          </a:xfrm>
          <a:prstGeom prst="rect">
            <a:avLst/>
          </a:prstGeom>
          <a:noFill/>
          <a:ln/>
        </p:spPr>
        <p:txBody>
          <a:bodyPr wrap="square" lIns="0" tIns="0" rIns="0" bIns="0" rtlCol="0" anchor="t"/>
          <a:lstStyle/>
          <a:p>
            <a:pPr indent="0" marL="0">
              <a:lnSpc>
                <a:spcPts val="1162"/>
              </a:lnSpc>
              <a:buNone/>
            </a:pPr>
            <a:r>
              <a:rPr lang="en-US" sz="930" dirty="0">
                <a:solidFill>
                  <a:srgbClr val="DCE5EC"/>
                </a:solidFill>
                <a:latin typeface="Consolas" pitchFamily="34" charset="0"/>
                <a:ea typeface="Consolas" pitchFamily="34" charset="-122"/>
                <a:cs typeface="Consolas" pitchFamily="34" charset="-120"/>
              </a:rPr>
              <a:t>$ ./scripts/setup.sh                        # builds .venv, then verifies it</a:t>
            </a:r>
            <a:endParaRPr lang="en-US" sz="930" dirty="0"/>
          </a:p>
          <a:p>
            <a:pPr indent="0" marL="0">
              <a:lnSpc>
                <a:spcPts val="1162"/>
              </a:lnSpc>
              <a:buNone/>
            </a:pPr>
            <a:r>
              <a:rPr lang="en-US" sz="930" dirty="0">
                <a:solidFill>
                  <a:srgbClr val="DCE5EC"/>
                </a:solidFill>
                <a:latin typeface="Consolas" pitchFamily="34" charset="0"/>
                <a:ea typeface="Consolas" pitchFamily="34" charset="-122"/>
                <a:cs typeface="Consolas" pitchFamily="34" charset="-120"/>
              </a:rPr>
              <a:t>$ ./scripts/setup.sh --check                # verify only, install nothing</a:t>
            </a:r>
            <a:endParaRPr lang="en-US" sz="930" dirty="0"/>
          </a:p>
          <a:p>
            <a:pPr indent="0" marL="0">
              <a:lnSpc>
                <a:spcPts val="1162"/>
              </a:lnSpc>
              <a:buNone/>
            </a:pPr>
            <a:r>
              <a:rPr lang="en-US" sz="930" dirty="0">
                <a:solidFill>
                  <a:srgbClr val="DCE5EC"/>
                </a:solidFill>
                <a:latin typeface="Consolas" pitchFamily="34" charset="0"/>
                <a:ea typeface="Consolas" pitchFamily="34" charset="-122"/>
                <a:cs typeface="Consolas" pitchFamily="34" charset="-120"/>
              </a:rPr>
              <a:t>$ python -m designagent --reload            # :8000</a:t>
            </a:r>
            <a:endParaRPr lang="en-US" sz="930" dirty="0"/>
          </a:p>
          <a:p>
            <a:pPr indent="0" marL="0">
              <a:lnSpc>
                <a:spcPts val="1162"/>
              </a:lnSpc>
              <a:buNone/>
            </a:pPr>
            <a:r>
              <a:rPr lang="en-US" sz="930" dirty="0">
                <a:solidFill>
                  <a:srgbClr val="DCE5EC"/>
                </a:solidFill>
                <a:latin typeface="Consolas" pitchFamily="34" charset="0"/>
                <a:ea typeface="Consolas" pitchFamily="34" charset="-122"/>
                <a:cs typeface="Consolas" pitchFamily="34" charset="-120"/>
              </a:rPr>
              <a:t>$ cd frontend &amp;&amp; npm install &amp;&amp; npm run dev # :5173, proxies /api</a:t>
            </a:r>
            <a:endParaRPr lang="en-US" sz="930" dirty="0"/>
          </a:p>
          <a:p>
            <a:pPr indent="0" marL="0">
              <a:lnSpc>
                <a:spcPts val="1162"/>
              </a:lnSpc>
              <a:buNone/>
            </a:pPr>
            <a:endParaRPr lang="en-US" sz="930" dirty="0"/>
          </a:p>
          <a:p>
            <a:pPr indent="0" marL="0">
              <a:lnSpc>
                <a:spcPts val="1162"/>
              </a:lnSpc>
              <a:buNone/>
            </a:pPr>
            <a:r>
              <a:rPr lang="en-US" sz="930" dirty="0">
                <a:solidFill>
                  <a:srgbClr val="DCE5EC"/>
                </a:solidFill>
                <a:latin typeface="Consolas" pitchFamily="34" charset="0"/>
                <a:ea typeface="Consolas" pitchFamily="34" charset="-122"/>
                <a:cs typeface="Consolas" pitchFamily="34" charset="-120"/>
              </a:rPr>
              <a:t>$ pytest -q                                 # 93 tests, no network</a:t>
            </a:r>
            <a:endParaRPr lang="en-US" sz="930" dirty="0"/>
          </a:p>
          <a:p>
            <a:pPr indent="0" marL="0">
              <a:lnSpc>
                <a:spcPts val="1162"/>
              </a:lnSpc>
              <a:buNone/>
            </a:pPr>
            <a:r>
              <a:rPr lang="en-US" sz="930" dirty="0">
                <a:solidFill>
                  <a:srgbClr val="DCE5EC"/>
                </a:solidFill>
                <a:latin typeface="Consolas" pitchFamily="34" charset="0"/>
                <a:ea typeface="Consolas" pitchFamily="34" charset="-122"/>
                <a:cs typeface="Consolas" pitchFamily="34" charset="-120"/>
              </a:rPr>
              <a:t>$ pytest -q -m live                         # 6 tests, starts a real broker</a:t>
            </a:r>
            <a:endParaRPr lang="en-US" sz="930" dirty="0"/>
          </a:p>
        </p:txBody>
      </p:sp>
      <p:sp>
        <p:nvSpPr>
          <p:cNvPr id="6" name="Text 4"/>
          <p:cNvSpPr txBox="1"/>
          <p:nvPr/>
        </p:nvSpPr>
        <p:spPr>
          <a:xfrm>
            <a:off x="457200" y="2679192"/>
            <a:ext cx="6675120"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VERBATIM</a:t>
            </a:r>
            <a:endParaRPr lang="en-US" sz="850" dirty="0"/>
          </a:p>
        </p:txBody>
      </p:sp>
      <p:sp>
        <p:nvSpPr>
          <p:cNvPr id="7" name="Shape 5"/>
          <p:cNvSpPr/>
          <p:nvPr/>
        </p:nvSpPr>
        <p:spPr>
          <a:xfrm>
            <a:off x="7406640" y="1417320"/>
            <a:ext cx="4782312" cy="1463040"/>
          </a:xfrm>
          <a:prstGeom prst="rect">
            <a:avLst/>
          </a:prstGeom>
          <a:solidFill>
            <a:srgbClr val="EEF2F5"/>
          </a:solidFill>
          <a:ln w="12700">
            <a:solidFill>
              <a:srgbClr val="EEF2F5"/>
            </a:solidFill>
            <a:prstDash val="solid"/>
          </a:ln>
        </p:spPr>
      </p:sp>
      <p:sp>
        <p:nvSpPr>
          <p:cNvPr id="8" name="Text 6"/>
          <p:cNvSpPr txBox="1"/>
          <p:nvPr/>
        </p:nvSpPr>
        <p:spPr>
          <a:xfrm>
            <a:off x="7543800" y="1508760"/>
            <a:ext cx="4507992"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Two things to know</a:t>
            </a:r>
            <a:endParaRPr lang="en-US" sz="1300" dirty="0"/>
          </a:p>
        </p:txBody>
      </p:sp>
      <p:sp>
        <p:nvSpPr>
          <p:cNvPr id="9" name="Text 7"/>
          <p:cNvSpPr txBox="1"/>
          <p:nvPr/>
        </p:nvSpPr>
        <p:spPr>
          <a:xfrm>
            <a:off x="7543800" y="1828800"/>
            <a:ext cx="4507992" cy="9601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No key is required: every layer notes what it could not do on /api/health and keeps going.</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uv sync cannot work here: the three middleware packages are local editable installs from refcodes/, and flowgentic pins two of its own deps to git URLs. setup.sh encodes that, and --check fails loudly instead of letting an import die.</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11274552" cy="914400"/>
        </p:xfrm>
        <a:graphic>
          <a:graphicData uri="http://schemas.openxmlformats.org/drawingml/2006/table">
            <a:tbl>
              <a:tblPr/>
              <a:tblGrid>
                <a:gridCol w="2743200"/>
                <a:gridCol w="640080"/>
                <a:gridCol w="7891272"/>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file</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actually proves</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1E6470"/>
                    </a:solidFill>
                  </a:tcPr>
                </a:tc>
              </a:tr>
              <a:tr h="384048">
                <a:tc>
                  <a:txBody>
                    <a:bodyPr/>
                    <a:lstStyle/>
                    <a:p>
                      <a:pPr algn="l" indent="0" marL="0">
                        <a:buNone/>
                      </a:pPr>
                      <a:r>
                        <a:rPr lang="en-US" sz="1050" dirty="0">
                          <a:solidFill>
                            <a:srgbClr val="22303C"/>
                          </a:solidFill>
                          <a:latin typeface="Consolas" pitchFamily="34" charset="0"/>
                          <a:ea typeface="Consolas" pitchFamily="34" charset="-122"/>
                          <a:cs typeface="Consolas" pitchFamily="34" charset="-120"/>
                        </a:rPr>
                        <a:t>tests/test_lake.py</a:t>
                      </a:r>
                      <a:endParaRPr lang="en-US" sz="10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150" dirty="0">
                          <a:solidFill>
                            <a:srgbClr val="22303C"/>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50" dirty="0">
                          <a:solidFill>
                            <a:srgbClr val="22303C"/>
                          </a:solidFill>
                          <a:latin typeface="Calibri" pitchFamily="34" charset="0"/>
                          <a:ea typeface="Calibri" pitchFamily="34" charset="-122"/>
                          <a:cs typeface="Calibri" pitchFamily="34" charset="-120"/>
                        </a:rPr>
                        <a:t>all three tiers against a tmp_path lake: provenance, upserts, ranking, curation rules</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438912">
                <a:tc>
                  <a:txBody>
                    <a:bodyPr/>
                    <a:lstStyle/>
                    <a:p>
                      <a:pPr algn="l" indent="0" marL="0">
                        <a:buNone/>
                      </a:pPr>
                      <a:r>
                        <a:rPr lang="en-US" sz="1050" dirty="0">
                          <a:solidFill>
                            <a:srgbClr val="22303C"/>
                          </a:solidFill>
                          <a:latin typeface="Consolas" pitchFamily="34" charset="0"/>
                          <a:ea typeface="Consolas" pitchFamily="34" charset="-122"/>
                          <a:cs typeface="Consolas" pitchFamily="34" charset="-120"/>
                        </a:rPr>
                        <a:t>tests/test_tasks.py</a:t>
                      </a:r>
                      <a:endParaRPr lang="en-US" sz="10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303C"/>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C"/>
                          </a:solidFill>
                          <a:latin typeface="Calibri" pitchFamily="34" charset="0"/>
                          <a:ea typeface="Calibri" pitchFamily="34" charset="-122"/>
                          <a:cs typeface="Calibri" pitchFamily="34" charset="-120"/>
                        </a:rPr>
                        <a:t>the contract: futures resolve, failures settle, capability flags honoured, Globus with an injected executor</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22303C"/>
                          </a:solidFill>
                          <a:latin typeface="Consolas" pitchFamily="34" charset="0"/>
                          <a:ea typeface="Consolas" pitchFamily="34" charset="-122"/>
                          <a:cs typeface="Consolas" pitchFamily="34" charset="-120"/>
                        </a:rPr>
                        <a:t>tests/test_graph.py</a:t>
                      </a:r>
                      <a:endParaRPr lang="en-US" sz="10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150" dirty="0">
                          <a:solidFill>
                            <a:srgbClr val="22303C"/>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50" dirty="0">
                          <a:solidFill>
                            <a:srgbClr val="22303C"/>
                          </a:solidFill>
                          <a:latin typeface="Calibri" pitchFamily="34" charset="0"/>
                          <a:ea typeface="Calibri" pitchFamily="34" charset="-122"/>
                          <a:cs typeface="Calibri" pitchFamily="34" charset="-120"/>
                        </a:rPr>
                        <a:t>18 parametrized classifier cases, a full loop end to end, artifacts, lake-write failure, and the no-structures-in-state guard</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r h="384048">
                <a:tc>
                  <a:txBody>
                    <a:bodyPr/>
                    <a:lstStyle/>
                    <a:p>
                      <a:pPr algn="l" indent="0" marL="0">
                        <a:buNone/>
                      </a:pPr>
                      <a:r>
                        <a:rPr lang="en-US" sz="1050" dirty="0">
                          <a:solidFill>
                            <a:srgbClr val="22303C"/>
                          </a:solidFill>
                          <a:latin typeface="Consolas" pitchFamily="34" charset="0"/>
                          <a:ea typeface="Consolas" pitchFamily="34" charset="-122"/>
                          <a:cs typeface="Consolas" pitchFamily="34" charset="-120"/>
                        </a:rPr>
                        <a:t>tests/test_api.py</a:t>
                      </a:r>
                      <a:endParaRPr lang="en-US" sz="10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303C"/>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303C"/>
                          </a:solidFill>
                          <a:latin typeface="Calibri" pitchFamily="34" charset="0"/>
                          <a:ea typeface="Calibri" pitchFamily="34" charset="-122"/>
                          <a:cs typeface="Calibri" pitchFamily="34" charset="-120"/>
                        </a:rPr>
                        <a:t>SSE frames, artifact serving, task cancel returning 409 with a reason, health</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FFFFFF"/>
                    </a:solidFill>
                  </a:tcPr>
                </a:tc>
              </a:tr>
              <a:tr h="475488">
                <a:tc>
                  <a:txBody>
                    <a:bodyPr/>
                    <a:lstStyle/>
                    <a:p>
                      <a:pPr algn="l" indent="0" marL="0">
                        <a:buNone/>
                      </a:pPr>
                      <a:r>
                        <a:rPr lang="en-US" sz="1050" dirty="0">
                          <a:solidFill>
                            <a:srgbClr val="22303C"/>
                          </a:solidFill>
                          <a:latin typeface="Consolas" pitchFamily="34" charset="0"/>
                          <a:ea typeface="Consolas" pitchFamily="34" charset="-122"/>
                          <a:cs typeface="Consolas" pitchFamily="34" charset="-120"/>
                        </a:rPr>
                        <a:t>pytest -m live</a:t>
                      </a:r>
                      <a:endParaRPr lang="en-US" sz="1050" dirty="0">
                        <a:latin typeface="Consolas" charset="0"/>
                        <a:ea typeface="Consolas" charset="0"/>
                        <a:cs typeface="Consolas"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ctr" indent="0" marL="0">
                        <a:buNone/>
                      </a:pPr>
                      <a:r>
                        <a:rPr lang="en-US" sz="1150" dirty="0">
                          <a:solidFill>
                            <a:srgbClr val="22303C"/>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c>
                  <a:txBody>
                    <a:bodyPr/>
                    <a:lstStyle/>
                    <a:p>
                      <a:pPr algn="l" indent="0" marL="0">
                        <a:buNone/>
                      </a:pPr>
                      <a:r>
                        <a:rPr lang="en-US" sz="1150" dirty="0">
                          <a:solidFill>
                            <a:srgbClr val="22303C"/>
                          </a:solidFill>
                          <a:latin typeface="Calibri" pitchFamily="34" charset="0"/>
                          <a:ea typeface="Calibri" pitchFamily="34" charset="-122"/>
                          <a:cs typeface="Calibri" pitchFamily="34" charset="-120"/>
                        </a:rPr>
                        <a:t>a real broker + endpoint as subprocesses: push states, offset log tailing, a failing job, cancelling a running one</a:t>
                      </a:r>
                      <a:endParaRPr lang="en-US" sz="1150" dirty="0">
                        <a:latin typeface="Calibri" charset="0"/>
                        <a:ea typeface="Calibri" charset="0"/>
                        <a:cs typeface="Calibri" charset="0"/>
                      </a:endParaRPr>
                    </a:p>
                  </a:txBody>
                  <a:tcPr marL="64008" marR="64008" marT="64008" marB="64008" anchor="ctr">
                    <a:lnL w="9525" cap="flat" cmpd="sng" algn="ctr">
                      <a:solidFill>
                        <a:srgbClr val="C9D1D8"/>
                      </a:solidFill>
                      <a:prstDash val="solid"/>
                      <a:round/>
                      <a:headEnd type="none" w="med" len="med"/>
                      <a:tailEnd type="none" w="med" len="med"/>
                    </a:lnL>
                    <a:lnR w="9525" cap="flat" cmpd="sng" algn="ctr">
                      <a:solidFill>
                        <a:srgbClr val="C9D1D8"/>
                      </a:solidFill>
                      <a:prstDash val="solid"/>
                      <a:round/>
                      <a:headEnd type="none" w="med" len="med"/>
                      <a:tailEnd type="none" w="med" len="med"/>
                    </a:lnR>
                    <a:lnT w="9525" cap="flat" cmpd="sng" algn="ctr">
                      <a:solidFill>
                        <a:srgbClr val="C9D1D8"/>
                      </a:solidFill>
                      <a:prstDash val="solid"/>
                      <a:round/>
                      <a:headEnd type="none" w="med" len="med"/>
                      <a:tailEnd type="none" w="med" len="med"/>
                    </a:lnT>
                    <a:lnB w="9525" cap="flat" cmpd="sng" algn="ctr">
                      <a:solidFill>
                        <a:srgbClr val="C9D1D8"/>
                      </a:solidFill>
                      <a:prstDash val="solid"/>
                      <a:round/>
                      <a:headEnd type="none" w="med" len="med"/>
                      <a:tailEnd type="none" w="med" len="med"/>
                    </a:lnB>
                    <a:solidFill>
                      <a:srgbClr val="EEF2F5"/>
                    </a:solidFill>
                  </a:tcPr>
                </a:tc>
              </a:tr>
            </a:tbl>
          </a:graphicData>
        </a:graphic>
      </p:graphicFrame>
      <p:sp>
        <p:nvSpPr>
          <p:cNvPr id="11" name="Text 8"/>
          <p:cNvSpPr txBox="1"/>
          <p:nvPr/>
        </p:nvSpPr>
        <p:spPr>
          <a:xfrm>
            <a:off x="457200" y="5669280"/>
            <a:ext cx="11247120" cy="54864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The split that matters: </a:t>
            </a:r>
            <a:pPr indent="0" marL="0">
              <a:buNone/>
            </a:pPr>
            <a:r>
              <a:rPr lang="en-US" sz="1300" dirty="0">
                <a:solidFill>
                  <a:srgbClr val="22303C"/>
                </a:solidFill>
                <a:latin typeface="Calibri" pitchFamily="34" charset="0"/>
                <a:ea typeface="Calibri" pitchFamily="34" charset="-122"/>
                <a:cs typeface="Calibri" pitchFamily="34" charset="-120"/>
              </a:rPr>
              <a:t>93 tests need no network, no pool and no endpoint, because nodes only reach through Deps. The 6 that do are marked </a:t>
            </a:r>
            <a:pPr indent="0" marL="0">
              <a:buNone/>
            </a:pPr>
            <a:r>
              <a:rPr lang="en-US" sz="1300" dirty="0">
                <a:solidFill>
                  <a:srgbClr val="22303C"/>
                </a:solidFill>
                <a:latin typeface="Consolas" pitchFamily="34" charset="0"/>
                <a:ea typeface="Consolas" pitchFamily="34" charset="-122"/>
                <a:cs typeface="Consolas" pitchFamily="34" charset="-120"/>
              </a:rPr>
              <a:t>live</a:t>
            </a:r>
            <a:pPr indent="0" marL="0">
              <a:buNone/>
            </a:pPr>
            <a:r>
              <a:rPr lang="en-US" sz="1300" dirty="0">
                <a:solidFill>
                  <a:srgbClr val="22303C"/>
                </a:solidFill>
                <a:latin typeface="Calibri" pitchFamily="34" charset="0"/>
                <a:ea typeface="Calibri" pitchFamily="34" charset="-122"/>
                <a:cs typeface="Calibri" pitchFamily="34" charset="-120"/>
              </a:rPr>
              <a:t>, deselected by default, and start their own broker.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STATUS</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What is real, and what is not</a:t>
            </a:r>
            <a:endParaRPr lang="en-US" sz="2800" dirty="0"/>
          </a:p>
        </p:txBody>
      </p:sp>
      <p:sp>
        <p:nvSpPr>
          <p:cNvPr id="4" name="Shape 2"/>
          <p:cNvSpPr/>
          <p:nvPr/>
        </p:nvSpPr>
        <p:spPr>
          <a:xfrm>
            <a:off x="457200" y="1371600"/>
            <a:ext cx="5715000" cy="347472"/>
          </a:xfrm>
          <a:prstGeom prst="rect">
            <a:avLst/>
          </a:prstGeom>
          <a:solidFill>
            <a:srgbClr val="2E7D4F"/>
          </a:solidFill>
          <a:ln w="12700">
            <a:solidFill>
              <a:srgbClr val="2E7D4F"/>
            </a:solidFill>
            <a:prstDash val="solid"/>
          </a:ln>
        </p:spPr>
      </p:sp>
      <p:sp>
        <p:nvSpPr>
          <p:cNvPr id="5" name="Text 3"/>
          <p:cNvSpPr txBox="1"/>
          <p:nvPr/>
        </p:nvSpPr>
        <p:spPr>
          <a:xfrm>
            <a:off x="566928" y="1371600"/>
            <a:ext cx="54864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Runs end to end against something real</a:t>
            </a:r>
            <a:endParaRPr lang="en-US" sz="1300" dirty="0"/>
          </a:p>
        </p:txBody>
      </p:sp>
      <p:sp>
        <p:nvSpPr>
          <p:cNvPr id="6" name="Shape 4"/>
          <p:cNvSpPr/>
          <p:nvPr/>
        </p:nvSpPr>
        <p:spPr>
          <a:xfrm>
            <a:off x="457200" y="1810512"/>
            <a:ext cx="5715000" cy="502920"/>
          </a:xfrm>
          <a:prstGeom prst="rect">
            <a:avLst/>
          </a:prstGeom>
          <a:solidFill>
            <a:srgbClr val="EEF2F5"/>
          </a:solidFill>
          <a:ln w="6350">
            <a:solidFill>
              <a:srgbClr val="C9D1D8"/>
            </a:solidFill>
            <a:prstDash val="solid"/>
          </a:ln>
        </p:spPr>
      </p:sp>
      <p:sp>
        <p:nvSpPr>
          <p:cNvPr id="7" name="Text 5"/>
          <p:cNvSpPr txBox="1"/>
          <p:nvPr/>
        </p:nvSpPr>
        <p:spPr>
          <a:xfrm>
            <a:off x="566928" y="1828800"/>
            <a:ext cx="5486400" cy="228600"/>
          </a:xfrm>
          <a:prstGeom prst="rect">
            <a:avLst/>
          </a:prstGeom>
          <a:noFill/>
          <a:ln/>
        </p:spPr>
        <p:txBody>
          <a:bodyPr wrap="square" lIns="0" tIns="0" rIns="0" bIns="0" rtlCol="0" anchor="t"/>
          <a:lstStyle/>
          <a:p>
            <a:pPr indent="0" marL="0">
              <a:buNone/>
            </a:pPr>
            <a:r>
              <a:rPr lang="en-US" sz="1100" b="1" dirty="0">
                <a:solidFill>
                  <a:srgbClr val="16222B"/>
                </a:solidFill>
                <a:latin typeface="Calibri" pitchFamily="34" charset="0"/>
                <a:ea typeface="Calibri" pitchFamily="34" charset="-122"/>
                <a:cs typeface="Calibri" pitchFamily="34" charset="-120"/>
              </a:rPr>
              <a:t>The LangGraph loop, all five nodes</a:t>
            </a:r>
            <a:endParaRPr lang="en-US" sz="1100" dirty="0"/>
          </a:p>
        </p:txBody>
      </p:sp>
      <p:sp>
        <p:nvSpPr>
          <p:cNvPr id="8" name="Text 6"/>
          <p:cNvSpPr txBox="1"/>
          <p:nvPr/>
        </p:nvSpPr>
        <p:spPr>
          <a:xfrm>
            <a:off x="566928" y="2048256"/>
            <a:ext cx="5486400" cy="246888"/>
          </a:xfrm>
          <a:prstGeom prst="rect">
            <a:avLst/>
          </a:prstGeom>
          <a:noFill/>
          <a:ln/>
        </p:spPr>
        <p:txBody>
          <a:bodyPr wrap="square" lIns="0" tIns="0" rIns="0" bIns="0" rtlCol="0" anchor="t"/>
          <a:lstStyle/>
          <a:p>
            <a:pPr indent="0" marL="0">
              <a:buNone/>
            </a:pPr>
            <a:r>
              <a:rPr lang="en-US" sz="1000" dirty="0">
                <a:solidFill>
                  <a:srgbClr val="5E6B75"/>
                </a:solidFill>
                <a:latin typeface="Calibri" pitchFamily="34" charset="0"/>
                <a:ea typeface="Calibri" pitchFamily="34" charset="-122"/>
                <a:cs typeface="Calibri" pitchFamily="34" charset="-120"/>
              </a:rPr>
              <a:t>two rounds, routed by the improvement test, on a real target</a:t>
            </a:r>
            <a:endParaRPr lang="en-US" sz="1000" dirty="0"/>
          </a:p>
        </p:txBody>
      </p:sp>
      <p:sp>
        <p:nvSpPr>
          <p:cNvPr id="9" name="Shape 7"/>
          <p:cNvSpPr/>
          <p:nvPr/>
        </p:nvSpPr>
        <p:spPr>
          <a:xfrm>
            <a:off x="457200" y="2359152"/>
            <a:ext cx="5715000" cy="502920"/>
          </a:xfrm>
          <a:prstGeom prst="rect">
            <a:avLst/>
          </a:prstGeom>
          <a:solidFill>
            <a:srgbClr val="FFFFFF"/>
          </a:solidFill>
          <a:ln w="6350">
            <a:solidFill>
              <a:srgbClr val="C9D1D8"/>
            </a:solidFill>
            <a:prstDash val="solid"/>
          </a:ln>
        </p:spPr>
      </p:sp>
      <p:sp>
        <p:nvSpPr>
          <p:cNvPr id="10" name="Text 8"/>
          <p:cNvSpPr txBox="1"/>
          <p:nvPr/>
        </p:nvSpPr>
        <p:spPr>
          <a:xfrm>
            <a:off x="566928" y="2377440"/>
            <a:ext cx="5486400" cy="228600"/>
          </a:xfrm>
          <a:prstGeom prst="rect">
            <a:avLst/>
          </a:prstGeom>
          <a:noFill/>
          <a:ln/>
        </p:spPr>
        <p:txBody>
          <a:bodyPr wrap="square" lIns="0" tIns="0" rIns="0" bIns="0" rtlCol="0" anchor="t"/>
          <a:lstStyle/>
          <a:p>
            <a:pPr indent="0" marL="0">
              <a:buNone/>
            </a:pPr>
            <a:r>
              <a:rPr lang="en-US" sz="1100" b="1" dirty="0">
                <a:solidFill>
                  <a:srgbClr val="16222B"/>
                </a:solidFill>
                <a:latin typeface="Calibri" pitchFamily="34" charset="0"/>
                <a:ea typeface="Calibri" pitchFamily="34" charset="-122"/>
                <a:cs typeface="Calibri" pitchFamily="34" charset="-120"/>
              </a:rPr>
              <a:t>Query interface</a:t>
            </a:r>
            <a:endParaRPr lang="en-US" sz="1100" dirty="0"/>
          </a:p>
        </p:txBody>
      </p:sp>
      <p:sp>
        <p:nvSpPr>
          <p:cNvPr id="11" name="Text 9"/>
          <p:cNvSpPr txBox="1"/>
          <p:nvPr/>
        </p:nvSpPr>
        <p:spPr>
          <a:xfrm>
            <a:off x="566928" y="2596896"/>
            <a:ext cx="5486400" cy="246888"/>
          </a:xfrm>
          <a:prstGeom prst="rect">
            <a:avLst/>
          </a:prstGeom>
          <a:noFill/>
          <a:ln/>
        </p:spPr>
        <p:txBody>
          <a:bodyPr wrap="square" lIns="0" tIns="0" rIns="0" bIns="0" rtlCol="0" anchor="t"/>
          <a:lstStyle/>
          <a:p>
            <a:pPr indent="0" marL="0">
              <a:buNone/>
            </a:pPr>
            <a:r>
              <a:rPr lang="en-US" sz="1000" dirty="0">
                <a:solidFill>
                  <a:srgbClr val="5E6B75"/>
                </a:solidFill>
                <a:latin typeface="Calibri" pitchFamily="34" charset="0"/>
                <a:ea typeface="Calibri" pitchFamily="34" charset="-122"/>
                <a:cs typeface="Calibri" pitchFamily="34" charset="-120"/>
              </a:rPr>
              <a:t>RCSB, UniProt, Europe PMC — live, with cross-referencing both directions</a:t>
            </a:r>
            <a:endParaRPr lang="en-US" sz="1000" dirty="0"/>
          </a:p>
        </p:txBody>
      </p:sp>
      <p:sp>
        <p:nvSpPr>
          <p:cNvPr id="12" name="Shape 10"/>
          <p:cNvSpPr/>
          <p:nvPr/>
        </p:nvSpPr>
        <p:spPr>
          <a:xfrm>
            <a:off x="457200" y="2907792"/>
            <a:ext cx="5715000" cy="502920"/>
          </a:xfrm>
          <a:prstGeom prst="rect">
            <a:avLst/>
          </a:prstGeom>
          <a:solidFill>
            <a:srgbClr val="EEF2F5"/>
          </a:solidFill>
          <a:ln w="6350">
            <a:solidFill>
              <a:srgbClr val="C9D1D8"/>
            </a:solidFill>
            <a:prstDash val="solid"/>
          </a:ln>
        </p:spPr>
      </p:sp>
      <p:sp>
        <p:nvSpPr>
          <p:cNvPr id="13" name="Text 11"/>
          <p:cNvSpPr txBox="1"/>
          <p:nvPr/>
        </p:nvSpPr>
        <p:spPr>
          <a:xfrm>
            <a:off x="566928" y="2926080"/>
            <a:ext cx="5486400" cy="228600"/>
          </a:xfrm>
          <a:prstGeom prst="rect">
            <a:avLst/>
          </a:prstGeom>
          <a:noFill/>
          <a:ln/>
        </p:spPr>
        <p:txBody>
          <a:bodyPr wrap="square" lIns="0" tIns="0" rIns="0" bIns="0" rtlCol="0" anchor="t"/>
          <a:lstStyle/>
          <a:p>
            <a:pPr indent="0" marL="0">
              <a:buNone/>
            </a:pPr>
            <a:r>
              <a:rPr lang="en-US" sz="1100" b="1" dirty="0">
                <a:solidFill>
                  <a:srgbClr val="16222B"/>
                </a:solidFill>
                <a:latin typeface="Calibri" pitchFamily="34" charset="0"/>
                <a:ea typeface="Calibri" pitchFamily="34" charset="-122"/>
                <a:cs typeface="Calibri" pitchFamily="34" charset="-120"/>
              </a:rPr>
              <a:t>Local interface on the rhapsody pool</a:t>
            </a:r>
            <a:endParaRPr lang="en-US" sz="1100" dirty="0"/>
          </a:p>
        </p:txBody>
      </p:sp>
      <p:sp>
        <p:nvSpPr>
          <p:cNvPr id="14" name="Text 12"/>
          <p:cNvSpPr txBox="1"/>
          <p:nvPr/>
        </p:nvSpPr>
        <p:spPr>
          <a:xfrm>
            <a:off x="566928" y="3145536"/>
            <a:ext cx="5486400" cy="246888"/>
          </a:xfrm>
          <a:prstGeom prst="rect">
            <a:avLst/>
          </a:prstGeom>
          <a:noFill/>
          <a:ln/>
        </p:spPr>
        <p:txBody>
          <a:bodyPr wrap="square" lIns="0" tIns="0" rIns="0" bIns="0" rtlCol="0" anchor="t"/>
          <a:lstStyle/>
          <a:p>
            <a:pPr indent="0" marL="0">
              <a:buNone/>
            </a:pPr>
            <a:r>
              <a:rPr lang="en-US" sz="1000" dirty="0">
                <a:solidFill>
                  <a:srgbClr val="5E6B75"/>
                </a:solidFill>
                <a:latin typeface="Calibri" pitchFamily="34" charset="0"/>
                <a:ea typeface="Calibri" pitchFamily="34" charset="-122"/>
                <a:cs typeface="Calibri" pitchFamily="34" charset="-120"/>
              </a:rPr>
              <a:t>12 real ESMFold predictions, 6 at a time, reaped out of order</a:t>
            </a:r>
            <a:endParaRPr lang="en-US" sz="1000" dirty="0"/>
          </a:p>
        </p:txBody>
      </p:sp>
      <p:sp>
        <p:nvSpPr>
          <p:cNvPr id="15" name="Shape 13"/>
          <p:cNvSpPr/>
          <p:nvPr/>
        </p:nvSpPr>
        <p:spPr>
          <a:xfrm>
            <a:off x="457200" y="3456432"/>
            <a:ext cx="5715000" cy="502920"/>
          </a:xfrm>
          <a:prstGeom prst="rect">
            <a:avLst/>
          </a:prstGeom>
          <a:solidFill>
            <a:srgbClr val="FFFFFF"/>
          </a:solidFill>
          <a:ln w="6350">
            <a:solidFill>
              <a:srgbClr val="C9D1D8"/>
            </a:solidFill>
            <a:prstDash val="solid"/>
          </a:ln>
        </p:spPr>
      </p:sp>
      <p:sp>
        <p:nvSpPr>
          <p:cNvPr id="16" name="Text 14"/>
          <p:cNvSpPr txBox="1"/>
          <p:nvPr/>
        </p:nvSpPr>
        <p:spPr>
          <a:xfrm>
            <a:off x="566928" y="3474720"/>
            <a:ext cx="5486400" cy="228600"/>
          </a:xfrm>
          <a:prstGeom prst="rect">
            <a:avLst/>
          </a:prstGeom>
          <a:noFill/>
          <a:ln/>
        </p:spPr>
        <p:txBody>
          <a:bodyPr wrap="square" lIns="0" tIns="0" rIns="0" bIns="0" rtlCol="0" anchor="t"/>
          <a:lstStyle/>
          <a:p>
            <a:pPr indent="0" marL="0">
              <a:buNone/>
            </a:pPr>
            <a:r>
              <a:rPr lang="en-US" sz="1100" b="1" dirty="0">
                <a:solidFill>
                  <a:srgbClr val="16222B"/>
                </a:solidFill>
                <a:latin typeface="Calibri" pitchFamily="34" charset="0"/>
                <a:ea typeface="Calibri" pitchFamily="34" charset="-122"/>
                <a:cs typeface="Calibri" pitchFamily="34" charset="-120"/>
              </a:rPr>
              <a:t>All three lake tiers</a:t>
            </a:r>
            <a:endParaRPr lang="en-US" sz="1100" dirty="0"/>
          </a:p>
        </p:txBody>
      </p:sp>
      <p:sp>
        <p:nvSpPr>
          <p:cNvPr id="17" name="Text 15"/>
          <p:cNvSpPr txBox="1"/>
          <p:nvPr/>
        </p:nvSpPr>
        <p:spPr>
          <a:xfrm>
            <a:off x="566928" y="3694176"/>
            <a:ext cx="5486400" cy="246888"/>
          </a:xfrm>
          <a:prstGeom prst="rect">
            <a:avLst/>
          </a:prstGeom>
          <a:noFill/>
          <a:ln/>
        </p:spPr>
        <p:txBody>
          <a:bodyPr wrap="square" lIns="0" tIns="0" rIns="0" bIns="0" rtlCol="0" anchor="t"/>
          <a:lstStyle/>
          <a:p>
            <a:pPr indent="0" marL="0">
              <a:buNone/>
            </a:pPr>
            <a:r>
              <a:rPr lang="en-US" sz="1000" dirty="0">
                <a:solidFill>
                  <a:srgbClr val="5E6B75"/>
                </a:solidFill>
                <a:latin typeface="Calibri" pitchFamily="34" charset="0"/>
                <a:ea typeface="Calibri" pitchFamily="34" charset="-122"/>
                <a:cs typeface="Calibri" pitchFamily="34" charset="-120"/>
              </a:rPr>
              <a:t>114 scores, 37 task nodes, an 11-row Parquet set</a:t>
            </a:r>
            <a:endParaRPr lang="en-US" sz="1000" dirty="0"/>
          </a:p>
        </p:txBody>
      </p:sp>
      <p:sp>
        <p:nvSpPr>
          <p:cNvPr id="18" name="Shape 16"/>
          <p:cNvSpPr/>
          <p:nvPr/>
        </p:nvSpPr>
        <p:spPr>
          <a:xfrm>
            <a:off x="457200" y="4005072"/>
            <a:ext cx="5715000" cy="502920"/>
          </a:xfrm>
          <a:prstGeom prst="rect">
            <a:avLst/>
          </a:prstGeom>
          <a:solidFill>
            <a:srgbClr val="EEF2F5"/>
          </a:solidFill>
          <a:ln w="6350">
            <a:solidFill>
              <a:srgbClr val="C9D1D8"/>
            </a:solidFill>
            <a:prstDash val="solid"/>
          </a:ln>
        </p:spPr>
      </p:sp>
      <p:sp>
        <p:nvSpPr>
          <p:cNvPr id="19" name="Text 17"/>
          <p:cNvSpPr txBox="1"/>
          <p:nvPr/>
        </p:nvSpPr>
        <p:spPr>
          <a:xfrm>
            <a:off x="566928" y="4023360"/>
            <a:ext cx="5486400" cy="228600"/>
          </a:xfrm>
          <a:prstGeom prst="rect">
            <a:avLst/>
          </a:prstGeom>
          <a:noFill/>
          <a:ln/>
        </p:spPr>
        <p:txBody>
          <a:bodyPr wrap="square" lIns="0" tIns="0" rIns="0" bIns="0" rtlCol="0" anchor="t"/>
          <a:lstStyle/>
          <a:p>
            <a:pPr indent="0" marL="0">
              <a:buNone/>
            </a:pPr>
            <a:r>
              <a:rPr lang="en-US" sz="1100" b="1" dirty="0">
                <a:solidFill>
                  <a:srgbClr val="16222B"/>
                </a:solidFill>
                <a:latin typeface="Calibri" pitchFamily="34" charset="0"/>
                <a:ea typeface="Calibri" pitchFamily="34" charset="-122"/>
                <a:cs typeface="Calibri" pitchFamily="34" charset="-120"/>
              </a:rPr>
              <a:t>Artifacts</a:t>
            </a:r>
            <a:endParaRPr lang="en-US" sz="1100" dirty="0"/>
          </a:p>
        </p:txBody>
      </p:sp>
      <p:sp>
        <p:nvSpPr>
          <p:cNvPr id="20" name="Text 18"/>
          <p:cNvSpPr txBox="1"/>
          <p:nvPr/>
        </p:nvSpPr>
        <p:spPr>
          <a:xfrm>
            <a:off x="566928" y="4242816"/>
            <a:ext cx="5486400" cy="246888"/>
          </a:xfrm>
          <a:prstGeom prst="rect">
            <a:avLst/>
          </a:prstGeom>
          <a:noFill/>
          <a:ln/>
        </p:spPr>
        <p:txBody>
          <a:bodyPr wrap="square" lIns="0" tIns="0" rIns="0" bIns="0" rtlCol="0" anchor="t"/>
          <a:lstStyle/>
          <a:p>
            <a:pPr indent="0" marL="0">
              <a:buNone/>
            </a:pPr>
            <a:r>
              <a:rPr lang="en-US" sz="1000" dirty="0">
                <a:solidFill>
                  <a:srgbClr val="5E6B75"/>
                </a:solidFill>
                <a:latin typeface="Calibri" pitchFamily="34" charset="0"/>
                <a:ea typeface="Calibri" pitchFamily="34" charset="-122"/>
                <a:cs typeface="Calibri" pitchFamily="34" charset="-120"/>
              </a:rPr>
              <a:t>Markdown, .docx, a sortable table, two Mol* specs — all on disk</a:t>
            </a:r>
            <a:endParaRPr lang="en-US" sz="1000" dirty="0"/>
          </a:p>
        </p:txBody>
      </p:sp>
      <p:sp>
        <p:nvSpPr>
          <p:cNvPr id="21" name="Shape 19"/>
          <p:cNvSpPr/>
          <p:nvPr/>
        </p:nvSpPr>
        <p:spPr>
          <a:xfrm>
            <a:off x="457200" y="4553712"/>
            <a:ext cx="5715000" cy="502920"/>
          </a:xfrm>
          <a:prstGeom prst="rect">
            <a:avLst/>
          </a:prstGeom>
          <a:solidFill>
            <a:srgbClr val="FFFFFF"/>
          </a:solidFill>
          <a:ln w="6350">
            <a:solidFill>
              <a:srgbClr val="C9D1D8"/>
            </a:solidFill>
            <a:prstDash val="solid"/>
          </a:ln>
        </p:spPr>
      </p:sp>
      <p:sp>
        <p:nvSpPr>
          <p:cNvPr id="22" name="Text 20"/>
          <p:cNvSpPr txBox="1"/>
          <p:nvPr/>
        </p:nvSpPr>
        <p:spPr>
          <a:xfrm>
            <a:off x="566928" y="4572000"/>
            <a:ext cx="5486400" cy="228600"/>
          </a:xfrm>
          <a:prstGeom prst="rect">
            <a:avLst/>
          </a:prstGeom>
          <a:noFill/>
          <a:ln/>
        </p:spPr>
        <p:txBody>
          <a:bodyPr wrap="square" lIns="0" tIns="0" rIns="0" bIns="0" rtlCol="0" anchor="t"/>
          <a:lstStyle/>
          <a:p>
            <a:pPr indent="0" marL="0">
              <a:buNone/>
            </a:pPr>
            <a:r>
              <a:rPr lang="en-US" sz="1100" b="1" dirty="0">
                <a:solidFill>
                  <a:srgbClr val="16222B"/>
                </a:solidFill>
                <a:latin typeface="Calibri" pitchFamily="34" charset="0"/>
                <a:ea typeface="Calibri" pitchFamily="34" charset="-122"/>
                <a:cs typeface="Calibri" pitchFamily="34" charset="-120"/>
              </a:rPr>
              <a:t>Streaming</a:t>
            </a:r>
            <a:endParaRPr lang="en-US" sz="1100" dirty="0"/>
          </a:p>
        </p:txBody>
      </p:sp>
      <p:sp>
        <p:nvSpPr>
          <p:cNvPr id="23" name="Text 21"/>
          <p:cNvSpPr txBox="1"/>
          <p:nvPr/>
        </p:nvSpPr>
        <p:spPr>
          <a:xfrm>
            <a:off x="566928" y="4791456"/>
            <a:ext cx="5486400" cy="246888"/>
          </a:xfrm>
          <a:prstGeom prst="rect">
            <a:avLst/>
          </a:prstGeom>
          <a:noFill/>
          <a:ln/>
        </p:spPr>
        <p:txBody>
          <a:bodyPr wrap="square" lIns="0" tIns="0" rIns="0" bIns="0" rtlCol="0" anchor="t"/>
          <a:lstStyle/>
          <a:p>
            <a:pPr indent="0" marL="0">
              <a:buNone/>
            </a:pPr>
            <a:r>
              <a:rPr lang="en-US" sz="1000" dirty="0">
                <a:solidFill>
                  <a:srgbClr val="5E6B75"/>
                </a:solidFill>
                <a:latin typeface="Calibri" pitchFamily="34" charset="0"/>
                <a:ea typeface="Calibri" pitchFamily="34" charset="-122"/>
                <a:cs typeface="Calibri" pitchFamily="34" charset="-120"/>
              </a:rPr>
              <a:t>11 status lines plus task chips over one SSE stream</a:t>
            </a:r>
            <a:endParaRPr lang="en-US" sz="1000" dirty="0"/>
          </a:p>
        </p:txBody>
      </p:sp>
      <p:sp>
        <p:nvSpPr>
          <p:cNvPr id="24" name="Shape 22"/>
          <p:cNvSpPr/>
          <p:nvPr/>
        </p:nvSpPr>
        <p:spPr>
          <a:xfrm>
            <a:off x="457200" y="5102352"/>
            <a:ext cx="5715000" cy="502920"/>
          </a:xfrm>
          <a:prstGeom prst="rect">
            <a:avLst/>
          </a:prstGeom>
          <a:solidFill>
            <a:srgbClr val="EEF2F5"/>
          </a:solidFill>
          <a:ln w="6350">
            <a:solidFill>
              <a:srgbClr val="C9D1D8"/>
            </a:solidFill>
            <a:prstDash val="solid"/>
          </a:ln>
        </p:spPr>
      </p:sp>
      <p:sp>
        <p:nvSpPr>
          <p:cNvPr id="25" name="Text 23"/>
          <p:cNvSpPr txBox="1"/>
          <p:nvPr/>
        </p:nvSpPr>
        <p:spPr>
          <a:xfrm>
            <a:off x="566928" y="5120640"/>
            <a:ext cx="5486400" cy="228600"/>
          </a:xfrm>
          <a:prstGeom prst="rect">
            <a:avLst/>
          </a:prstGeom>
          <a:noFill/>
          <a:ln/>
        </p:spPr>
        <p:txBody>
          <a:bodyPr wrap="square" lIns="0" tIns="0" rIns="0" bIns="0" rtlCol="0" anchor="t"/>
          <a:lstStyle/>
          <a:p>
            <a:pPr indent="0" marL="0">
              <a:buNone/>
            </a:pPr>
            <a:r>
              <a:rPr lang="en-US" sz="1100" b="1" dirty="0">
                <a:solidFill>
                  <a:srgbClr val="16222B"/>
                </a:solidFill>
                <a:latin typeface="Calibri" pitchFamily="34" charset="0"/>
                <a:ea typeface="Calibri" pitchFamily="34" charset="-122"/>
                <a:cs typeface="Calibri" pitchFamily="34" charset="-120"/>
              </a:rPr>
              <a:t>The Mol* artifact pane</a:t>
            </a:r>
            <a:endParaRPr lang="en-US" sz="1100" dirty="0"/>
          </a:p>
        </p:txBody>
      </p:sp>
      <p:sp>
        <p:nvSpPr>
          <p:cNvPr id="26" name="Text 24"/>
          <p:cNvSpPr txBox="1"/>
          <p:nvPr/>
        </p:nvSpPr>
        <p:spPr>
          <a:xfrm>
            <a:off x="566928" y="5340096"/>
            <a:ext cx="5486400" cy="246888"/>
          </a:xfrm>
          <a:prstGeom prst="rect">
            <a:avLst/>
          </a:prstGeom>
          <a:noFill/>
          <a:ln/>
        </p:spPr>
        <p:txBody>
          <a:bodyPr wrap="square" lIns="0" tIns="0" rIns="0" bIns="0" rtlCol="0" anchor="t"/>
          <a:lstStyle/>
          <a:p>
            <a:pPr indent="0" marL="0">
              <a:buNone/>
            </a:pPr>
            <a:r>
              <a:rPr lang="en-US" sz="1000" dirty="0">
                <a:solidFill>
                  <a:srgbClr val="5E6B75"/>
                </a:solidFill>
                <a:latin typeface="Calibri" pitchFamily="34" charset="0"/>
                <a:ea typeface="Calibri" pitchFamily="34" charset="-122"/>
                <a:cs typeface="Calibri" pitchFamily="34" charset="-120"/>
              </a:rPr>
              <a:t>confirmed rendering in a browser, 2026-10-01</a:t>
            </a:r>
            <a:endParaRPr lang="en-US" sz="1000" dirty="0"/>
          </a:p>
        </p:txBody>
      </p:sp>
      <p:sp>
        <p:nvSpPr>
          <p:cNvPr id="27" name="Shape 25"/>
          <p:cNvSpPr/>
          <p:nvPr/>
        </p:nvSpPr>
        <p:spPr>
          <a:xfrm>
            <a:off x="6473952" y="1371600"/>
            <a:ext cx="5715000" cy="347472"/>
          </a:xfrm>
          <a:prstGeom prst="rect">
            <a:avLst/>
          </a:prstGeom>
          <a:solidFill>
            <a:srgbClr val="C0392B"/>
          </a:solidFill>
          <a:ln w="12700">
            <a:solidFill>
              <a:srgbClr val="C0392B"/>
            </a:solidFill>
            <a:prstDash val="solid"/>
          </a:ln>
        </p:spPr>
      </p:sp>
      <p:sp>
        <p:nvSpPr>
          <p:cNvPr id="28" name="Text 26"/>
          <p:cNvSpPr txBox="1"/>
          <p:nvPr/>
        </p:nvSpPr>
        <p:spPr>
          <a:xfrm>
            <a:off x="6583680" y="1371600"/>
            <a:ext cx="54864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Built, but has never run for real</a:t>
            </a:r>
            <a:endParaRPr lang="en-US" sz="1300" dirty="0"/>
          </a:p>
        </p:txBody>
      </p:sp>
      <p:sp>
        <p:nvSpPr>
          <p:cNvPr id="29" name="Shape 27"/>
          <p:cNvSpPr/>
          <p:nvPr/>
        </p:nvSpPr>
        <p:spPr>
          <a:xfrm>
            <a:off x="6473952" y="1810512"/>
            <a:ext cx="5715000" cy="502920"/>
          </a:xfrm>
          <a:prstGeom prst="rect">
            <a:avLst/>
          </a:prstGeom>
          <a:solidFill>
            <a:srgbClr val="F9E0DD"/>
          </a:solidFill>
          <a:ln w="6350">
            <a:solidFill>
              <a:srgbClr val="C9D1D8"/>
            </a:solidFill>
            <a:prstDash val="solid"/>
          </a:ln>
        </p:spPr>
      </p:sp>
      <p:sp>
        <p:nvSpPr>
          <p:cNvPr id="30" name="Text 28"/>
          <p:cNvSpPr txBox="1"/>
          <p:nvPr/>
        </p:nvSpPr>
        <p:spPr>
          <a:xfrm>
            <a:off x="6583680" y="1828800"/>
            <a:ext cx="5486400" cy="228600"/>
          </a:xfrm>
          <a:prstGeom prst="rect">
            <a:avLst/>
          </a:prstGeom>
          <a:noFill/>
          <a:ln/>
        </p:spPr>
        <p:txBody>
          <a:bodyPr wrap="square" lIns="0" tIns="0" rIns="0" bIns="0" rtlCol="0" anchor="t"/>
          <a:lstStyle/>
          <a:p>
            <a:pPr indent="0" marL="0">
              <a:buNone/>
            </a:pPr>
            <a:r>
              <a:rPr lang="en-US" sz="1100" b="1" dirty="0">
                <a:solidFill>
                  <a:srgbClr val="16222B"/>
                </a:solidFill>
                <a:latin typeface="Calibri" pitchFamily="34" charset="0"/>
                <a:ea typeface="Calibri" pitchFamily="34" charset="-122"/>
                <a:cs typeface="Calibri" pitchFamily="34" charset="-120"/>
              </a:rPr>
              <a:t>ProteinMPNN</a:t>
            </a:r>
            <a:endParaRPr lang="en-US" sz="1100" dirty="0"/>
          </a:p>
        </p:txBody>
      </p:sp>
      <p:sp>
        <p:nvSpPr>
          <p:cNvPr id="31" name="Text 29"/>
          <p:cNvSpPr txBox="1"/>
          <p:nvPr/>
        </p:nvSpPr>
        <p:spPr>
          <a:xfrm>
            <a:off x="6583680" y="2048256"/>
            <a:ext cx="5486400" cy="246888"/>
          </a:xfrm>
          <a:prstGeom prst="rect">
            <a:avLst/>
          </a:prstGeom>
          <a:noFill/>
          <a:ln/>
        </p:spPr>
        <p:txBody>
          <a:bodyPr wrap="square" lIns="0" tIns="0" rIns="0" bIns="0" rtlCol="0" anchor="t"/>
          <a:lstStyle/>
          <a:p>
            <a:pPr indent="0" marL="0">
              <a:buNone/>
            </a:pPr>
            <a:r>
              <a:rPr lang="en-US" sz="1000" dirty="0">
                <a:solidFill>
                  <a:srgbClr val="5E6B75"/>
                </a:solidFill>
                <a:latin typeface="Calibri" pitchFamily="34" charset="0"/>
                <a:ea typeface="Calibri" pitchFamily="34" charset="-122"/>
                <a:cs typeface="Calibri" pitchFamily="34" charset="-120"/>
              </a:rPr>
              <a:t>a job spec and a parser. No endpoint → a heuristic proposer, labelled as such</a:t>
            </a:r>
            <a:endParaRPr lang="en-US" sz="1000" dirty="0"/>
          </a:p>
        </p:txBody>
      </p:sp>
      <p:sp>
        <p:nvSpPr>
          <p:cNvPr id="32" name="Shape 30"/>
          <p:cNvSpPr/>
          <p:nvPr/>
        </p:nvSpPr>
        <p:spPr>
          <a:xfrm>
            <a:off x="6473952" y="2359152"/>
            <a:ext cx="5715000" cy="502920"/>
          </a:xfrm>
          <a:prstGeom prst="rect">
            <a:avLst/>
          </a:prstGeom>
          <a:solidFill>
            <a:srgbClr val="FFFFFF"/>
          </a:solidFill>
          <a:ln w="6350">
            <a:solidFill>
              <a:srgbClr val="C9D1D8"/>
            </a:solidFill>
            <a:prstDash val="solid"/>
          </a:ln>
        </p:spPr>
      </p:sp>
      <p:sp>
        <p:nvSpPr>
          <p:cNvPr id="33" name="Text 31"/>
          <p:cNvSpPr txBox="1"/>
          <p:nvPr/>
        </p:nvSpPr>
        <p:spPr>
          <a:xfrm>
            <a:off x="6583680" y="2377440"/>
            <a:ext cx="5486400" cy="228600"/>
          </a:xfrm>
          <a:prstGeom prst="rect">
            <a:avLst/>
          </a:prstGeom>
          <a:noFill/>
          <a:ln/>
        </p:spPr>
        <p:txBody>
          <a:bodyPr wrap="square" lIns="0" tIns="0" rIns="0" bIns="0" rtlCol="0" anchor="t"/>
          <a:lstStyle/>
          <a:p>
            <a:pPr indent="0" marL="0">
              <a:buNone/>
            </a:pPr>
            <a:r>
              <a:rPr lang="en-US" sz="1100" b="1" dirty="0">
                <a:solidFill>
                  <a:srgbClr val="16222B"/>
                </a:solidFill>
                <a:latin typeface="Calibri" pitchFamily="34" charset="0"/>
                <a:ea typeface="Calibri" pitchFamily="34" charset="-122"/>
                <a:cs typeface="Calibri" pitchFamily="34" charset="-120"/>
              </a:rPr>
              <a:t>The Globus adapter</a:t>
            </a:r>
            <a:endParaRPr lang="en-US" sz="1100" dirty="0"/>
          </a:p>
        </p:txBody>
      </p:sp>
      <p:sp>
        <p:nvSpPr>
          <p:cNvPr id="34" name="Text 32"/>
          <p:cNvSpPr txBox="1"/>
          <p:nvPr/>
        </p:nvSpPr>
        <p:spPr>
          <a:xfrm>
            <a:off x="6583680" y="2596896"/>
            <a:ext cx="5486400" cy="246888"/>
          </a:xfrm>
          <a:prstGeom prst="rect">
            <a:avLst/>
          </a:prstGeom>
          <a:noFill/>
          <a:ln/>
        </p:spPr>
        <p:txBody>
          <a:bodyPr wrap="square" lIns="0" tIns="0" rIns="0" bIns="0" rtlCol="0" anchor="t"/>
          <a:lstStyle/>
          <a:p>
            <a:pPr indent="0" marL="0">
              <a:buNone/>
            </a:pPr>
            <a:r>
              <a:rPr lang="en-US" sz="1000" dirty="0">
                <a:solidFill>
                  <a:srgbClr val="5E6B75"/>
                </a:solidFill>
                <a:latin typeface="Calibri" pitchFamily="34" charset="0"/>
                <a:ea typeface="Calibri" pitchFamily="34" charset="-122"/>
                <a:cs typeface="Calibri" pitchFamily="34" charset="-120"/>
              </a:rPr>
              <a:t>structurally complete, tested with an injected executor, never met a live endpoint</a:t>
            </a:r>
            <a:endParaRPr lang="en-US" sz="1000" dirty="0"/>
          </a:p>
        </p:txBody>
      </p:sp>
      <p:sp>
        <p:nvSpPr>
          <p:cNvPr id="35" name="Shape 33"/>
          <p:cNvSpPr/>
          <p:nvPr/>
        </p:nvSpPr>
        <p:spPr>
          <a:xfrm>
            <a:off x="6473952" y="2907792"/>
            <a:ext cx="5715000" cy="502920"/>
          </a:xfrm>
          <a:prstGeom prst="rect">
            <a:avLst/>
          </a:prstGeom>
          <a:solidFill>
            <a:srgbClr val="F9E0DD"/>
          </a:solidFill>
          <a:ln w="6350">
            <a:solidFill>
              <a:srgbClr val="C9D1D8"/>
            </a:solidFill>
            <a:prstDash val="solid"/>
          </a:ln>
        </p:spPr>
      </p:sp>
      <p:sp>
        <p:nvSpPr>
          <p:cNvPr id="36" name="Text 34"/>
          <p:cNvSpPr txBox="1"/>
          <p:nvPr/>
        </p:nvSpPr>
        <p:spPr>
          <a:xfrm>
            <a:off x="6583680" y="2926080"/>
            <a:ext cx="5486400" cy="228600"/>
          </a:xfrm>
          <a:prstGeom prst="rect">
            <a:avLst/>
          </a:prstGeom>
          <a:noFill/>
          <a:ln/>
        </p:spPr>
        <p:txBody>
          <a:bodyPr wrap="square" lIns="0" tIns="0" rIns="0" bIns="0" rtlCol="0" anchor="t"/>
          <a:lstStyle/>
          <a:p>
            <a:pPr indent="0" marL="0">
              <a:buNone/>
            </a:pPr>
            <a:r>
              <a:rPr lang="en-US" sz="1100" b="1" dirty="0">
                <a:solidFill>
                  <a:srgbClr val="16222B"/>
                </a:solidFill>
                <a:latin typeface="Calibri" pitchFamily="34" charset="0"/>
                <a:ea typeface="Calibri" pitchFamily="34" charset="-122"/>
                <a:cs typeface="Calibri" pitchFamily="34" charset="-120"/>
              </a:rPr>
              <a:t>Orbit</a:t>
            </a:r>
            <a:endParaRPr lang="en-US" sz="1100" dirty="0"/>
          </a:p>
        </p:txBody>
      </p:sp>
      <p:sp>
        <p:nvSpPr>
          <p:cNvPr id="37" name="Text 35"/>
          <p:cNvSpPr txBox="1"/>
          <p:nvPr/>
        </p:nvSpPr>
        <p:spPr>
          <a:xfrm>
            <a:off x="6583680" y="3145536"/>
            <a:ext cx="5486400" cy="246888"/>
          </a:xfrm>
          <a:prstGeom prst="rect">
            <a:avLst/>
          </a:prstGeom>
          <a:noFill/>
          <a:ln/>
        </p:spPr>
        <p:txBody>
          <a:bodyPr wrap="square" lIns="0" tIns="0" rIns="0" bIns="0" rtlCol="0" anchor="t"/>
          <a:lstStyle/>
          <a:p>
            <a:pPr indent="0" marL="0">
              <a:buNone/>
            </a:pPr>
            <a:r>
              <a:rPr lang="en-US" sz="1000" dirty="0">
                <a:solidFill>
                  <a:srgbClr val="5E6B75"/>
                </a:solidFill>
                <a:latin typeface="Calibri" pitchFamily="34" charset="0"/>
                <a:ea typeface="Calibri" pitchFamily="34" charset="-122"/>
                <a:cs typeface="Calibri" pitchFamily="34" charset="-120"/>
              </a:rPr>
              <a:t>works — against a localhost broker only. Never seen a scheduler or a queue</a:t>
            </a:r>
            <a:endParaRPr lang="en-US" sz="1000" dirty="0"/>
          </a:p>
        </p:txBody>
      </p:sp>
      <p:sp>
        <p:nvSpPr>
          <p:cNvPr id="38" name="Shape 36"/>
          <p:cNvSpPr/>
          <p:nvPr/>
        </p:nvSpPr>
        <p:spPr>
          <a:xfrm>
            <a:off x="6473952" y="3456432"/>
            <a:ext cx="5715000" cy="502920"/>
          </a:xfrm>
          <a:prstGeom prst="rect">
            <a:avLst/>
          </a:prstGeom>
          <a:solidFill>
            <a:srgbClr val="FFFFFF"/>
          </a:solidFill>
          <a:ln w="6350">
            <a:solidFill>
              <a:srgbClr val="C9D1D8"/>
            </a:solidFill>
            <a:prstDash val="solid"/>
          </a:ln>
        </p:spPr>
      </p:sp>
      <p:sp>
        <p:nvSpPr>
          <p:cNvPr id="39" name="Text 37"/>
          <p:cNvSpPr txBox="1"/>
          <p:nvPr/>
        </p:nvSpPr>
        <p:spPr>
          <a:xfrm>
            <a:off x="6583680" y="3474720"/>
            <a:ext cx="5486400" cy="228600"/>
          </a:xfrm>
          <a:prstGeom prst="rect">
            <a:avLst/>
          </a:prstGeom>
          <a:noFill/>
          <a:ln/>
        </p:spPr>
        <p:txBody>
          <a:bodyPr wrap="square" lIns="0" tIns="0" rIns="0" bIns="0" rtlCol="0" anchor="t"/>
          <a:lstStyle/>
          <a:p>
            <a:pPr indent="0" marL="0">
              <a:buNone/>
            </a:pPr>
            <a:r>
              <a:rPr lang="en-US" sz="1100" b="1" dirty="0">
                <a:solidFill>
                  <a:srgbClr val="16222B"/>
                </a:solidFill>
                <a:latin typeface="Calibri" pitchFamily="34" charset="0"/>
                <a:ea typeface="Calibri" pitchFamily="34" charset="-122"/>
                <a:cs typeface="Calibri" pitchFamily="34" charset="-120"/>
              </a:rPr>
              <a:t>ChemGraph</a:t>
            </a:r>
            <a:endParaRPr lang="en-US" sz="1100" dirty="0"/>
          </a:p>
        </p:txBody>
      </p:sp>
      <p:sp>
        <p:nvSpPr>
          <p:cNvPr id="40" name="Text 38"/>
          <p:cNvSpPr txBox="1"/>
          <p:nvPr/>
        </p:nvSpPr>
        <p:spPr>
          <a:xfrm>
            <a:off x="6583680" y="3694176"/>
            <a:ext cx="5486400" cy="246888"/>
          </a:xfrm>
          <a:prstGeom prst="rect">
            <a:avLst/>
          </a:prstGeom>
          <a:noFill/>
          <a:ln/>
        </p:spPr>
        <p:txBody>
          <a:bodyPr wrap="square" lIns="0" tIns="0" rIns="0" bIns="0" rtlCol="0" anchor="t"/>
          <a:lstStyle/>
          <a:p>
            <a:pPr indent="0" marL="0">
              <a:buNone/>
            </a:pPr>
            <a:r>
              <a:rPr lang="en-US" sz="1000" dirty="0">
                <a:solidFill>
                  <a:srgbClr val="5E6B75"/>
                </a:solidFill>
                <a:latin typeface="Calibri" pitchFamily="34" charset="0"/>
                <a:ea typeface="Calibri" pitchFamily="34" charset="-122"/>
                <a:cs typeface="Calibri" pitchFamily="34" charset="-120"/>
              </a:rPr>
              <a:t>wired behind the interface; exercised by tests, never by a campaign</a:t>
            </a:r>
            <a:endParaRPr lang="en-US" sz="1000" dirty="0"/>
          </a:p>
        </p:txBody>
      </p:sp>
      <p:sp>
        <p:nvSpPr>
          <p:cNvPr id="41" name="Shape 39"/>
          <p:cNvSpPr/>
          <p:nvPr/>
        </p:nvSpPr>
        <p:spPr>
          <a:xfrm>
            <a:off x="6473952" y="4005072"/>
            <a:ext cx="5715000" cy="502920"/>
          </a:xfrm>
          <a:prstGeom prst="rect">
            <a:avLst/>
          </a:prstGeom>
          <a:solidFill>
            <a:srgbClr val="F9E0DD"/>
          </a:solidFill>
          <a:ln w="6350">
            <a:solidFill>
              <a:srgbClr val="C9D1D8"/>
            </a:solidFill>
            <a:prstDash val="solid"/>
          </a:ln>
        </p:spPr>
      </p:sp>
      <p:sp>
        <p:nvSpPr>
          <p:cNvPr id="42" name="Text 40"/>
          <p:cNvSpPr txBox="1"/>
          <p:nvPr/>
        </p:nvSpPr>
        <p:spPr>
          <a:xfrm>
            <a:off x="6583680" y="4023360"/>
            <a:ext cx="5486400" cy="228600"/>
          </a:xfrm>
          <a:prstGeom prst="rect">
            <a:avLst/>
          </a:prstGeom>
          <a:noFill/>
          <a:ln/>
        </p:spPr>
        <p:txBody>
          <a:bodyPr wrap="square" lIns="0" tIns="0" rIns="0" bIns="0" rtlCol="0" anchor="t"/>
          <a:lstStyle/>
          <a:p>
            <a:pPr indent="0" marL="0">
              <a:buNone/>
            </a:pPr>
            <a:r>
              <a:rPr lang="en-US" sz="1100" b="1" dirty="0">
                <a:solidFill>
                  <a:srgbClr val="16222B"/>
                </a:solidFill>
                <a:latin typeface="Calibri" pitchFamily="34" charset="0"/>
                <a:ea typeface="Calibri" pitchFamily="34" charset="-122"/>
                <a:cs typeface="Calibri" pitchFamily="34" charset="-120"/>
              </a:rPr>
              <a:t>wrap_nodes</a:t>
            </a:r>
            <a:endParaRPr lang="en-US" sz="1100" dirty="0"/>
          </a:p>
        </p:txBody>
      </p:sp>
      <p:sp>
        <p:nvSpPr>
          <p:cNvPr id="43" name="Text 41"/>
          <p:cNvSpPr txBox="1"/>
          <p:nvPr/>
        </p:nvSpPr>
        <p:spPr>
          <a:xfrm>
            <a:off x="6583680" y="4242816"/>
            <a:ext cx="5486400" cy="246888"/>
          </a:xfrm>
          <a:prstGeom prst="rect">
            <a:avLst/>
          </a:prstGeom>
          <a:noFill/>
          <a:ln/>
        </p:spPr>
        <p:txBody>
          <a:bodyPr wrap="square" lIns="0" tIns="0" rIns="0" bIns="0" rtlCol="0" anchor="t"/>
          <a:lstStyle/>
          <a:p>
            <a:pPr indent="0" marL="0">
              <a:buNone/>
            </a:pPr>
            <a:r>
              <a:rPr lang="en-US" sz="1000" dirty="0">
                <a:solidFill>
                  <a:srgbClr val="5E6B75"/>
                </a:solidFill>
                <a:latin typeface="Calibri" pitchFamily="34" charset="0"/>
                <a:ea typeface="Calibri" pitchFamily="34" charset="-122"/>
                <a:cs typeface="Calibri" pitchFamily="34" charset="-120"/>
              </a:rPr>
              <a:t>ships off, against the approved design. Next slide</a:t>
            </a:r>
            <a:endParaRPr lang="en-US" sz="1000" dirty="0"/>
          </a:p>
        </p:txBody>
      </p:sp>
      <p:sp>
        <p:nvSpPr>
          <p:cNvPr id="44" name="Text 42"/>
          <p:cNvSpPr txBox="1"/>
          <p:nvPr/>
        </p:nvSpPr>
        <p:spPr>
          <a:xfrm>
            <a:off x="457200" y="5669280"/>
            <a:ext cx="11247120" cy="54864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The single most load-bearing caveat: </a:t>
            </a:r>
            <a:pPr indent="0" marL="0">
              <a:buNone/>
            </a:pPr>
            <a:r>
              <a:rPr lang="en-US" sz="1300" dirty="0">
                <a:solidFill>
                  <a:srgbClr val="22303C"/>
                </a:solidFill>
                <a:latin typeface="Calibri" pitchFamily="34" charset="0"/>
                <a:ea typeface="Calibri" pitchFamily="34" charset="-122"/>
                <a:cs typeface="Calibri" pitchFamily="34" charset="-120"/>
              </a:rPr>
              <a:t>no HPC endpoint has ever run a task for this agent. The remote interface is proven against a localhost broker, which proves the client path and nothing about a scheduler.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22B"/>
        </a:solidFill>
      </p:bgPr>
    </p:bg>
    <p:spTree>
      <p:nvGrpSpPr>
        <p:cNvPr id="1" name=""/>
        <p:cNvGrpSpPr/>
        <p:nvPr/>
      </p:nvGrpSpPr>
      <p:grpSpPr>
        <a:xfrm>
          <a:off x="0" y="0"/>
          <a:ext cx="0" cy="0"/>
          <a:chOff x="0" y="0"/>
          <a:chExt cx="0" cy="0"/>
        </a:xfrm>
      </p:grpSpPr>
      <p:sp>
        <p:nvSpPr>
          <p:cNvPr id="2" name="Text 0"/>
          <p:cNvSpPr txBox="1"/>
          <p:nvPr/>
        </p:nvSpPr>
        <p:spPr>
          <a:xfrm>
            <a:off x="457200" y="411480"/>
            <a:ext cx="8229600" cy="274320"/>
          </a:xfrm>
          <a:prstGeom prst="rect">
            <a:avLst/>
          </a:prstGeom>
          <a:noFill/>
          <a:ln/>
        </p:spPr>
        <p:txBody>
          <a:bodyPr wrap="square" lIns="0" tIns="0" rIns="0" bIns="0" rtlCol="0" anchor="t"/>
          <a:lstStyle/>
          <a:p>
            <a:pPr indent="0" marL="0">
              <a:buNone/>
            </a:pPr>
            <a:r>
              <a:rPr lang="en-US" sz="1200" b="1" spc="200" kern="0" dirty="0">
                <a:solidFill>
                  <a:srgbClr val="8FB8C9"/>
                </a:solidFill>
                <a:latin typeface="Calibri" pitchFamily="34" charset="0"/>
                <a:ea typeface="Calibri" pitchFamily="34" charset="-122"/>
                <a:cs typeface="Calibri" pitchFamily="34" charset="-120"/>
              </a:rPr>
              <a:t>FINDINGS AND ASKS</a:t>
            </a:r>
            <a:endParaRPr lang="en-US" sz="1200" dirty="0"/>
          </a:p>
        </p:txBody>
      </p:sp>
      <p:sp>
        <p:nvSpPr>
          <p:cNvPr id="3" name="Text 1"/>
          <p:cNvSpPr txBox="1"/>
          <p:nvPr/>
        </p:nvSpPr>
        <p:spPr>
          <a:xfrm>
            <a:off x="457200" y="685800"/>
            <a:ext cx="10058400" cy="5486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Six reproducibles, and one question</a:t>
            </a:r>
            <a:endParaRPr lang="en-US" sz="2800" dirty="0"/>
          </a:p>
        </p:txBody>
      </p:sp>
      <p:sp>
        <p:nvSpPr>
          <p:cNvPr id="4" name="Shape 2"/>
          <p:cNvSpPr/>
          <p:nvPr/>
        </p:nvSpPr>
        <p:spPr>
          <a:xfrm>
            <a:off x="457200" y="1463040"/>
            <a:ext cx="310896" cy="310896"/>
          </a:xfrm>
          <a:prstGeom prst="ellipse">
            <a:avLst/>
          </a:prstGeom>
          <a:solidFill>
            <a:srgbClr val="D9731A"/>
          </a:solidFill>
          <a:ln w="12700">
            <a:solidFill>
              <a:srgbClr val="D9731A"/>
            </a:solidFill>
            <a:prstDash val="solid"/>
          </a:ln>
        </p:spPr>
      </p:sp>
      <p:sp>
        <p:nvSpPr>
          <p:cNvPr id="5" name="Text 3"/>
          <p:cNvSpPr txBox="1"/>
          <p:nvPr/>
        </p:nvSpPr>
        <p:spPr>
          <a:xfrm>
            <a:off x="457200" y="1463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877824" y="1444752"/>
            <a:ext cx="5212080" cy="274320"/>
          </a:xfrm>
          <a:prstGeom prst="rect">
            <a:avLst/>
          </a:prstGeom>
          <a:noFill/>
          <a:ln/>
        </p:spPr>
        <p:txBody>
          <a:bodyPr wrap="square" lIns="0" tIns="0" rIns="0" bIns="0" rtlCol="0" anchor="t"/>
          <a:lstStyle/>
          <a:p>
            <a:pPr indent="0" marL="0">
              <a:buNone/>
            </a:pPr>
            <a:r>
              <a:rPr lang="en-US" sz="1300" b="1" dirty="0">
                <a:solidFill>
                  <a:srgbClr val="F0C898"/>
                </a:solidFill>
                <a:latin typeface="Calibri" pitchFamily="34" charset="0"/>
                <a:ea typeface="Calibri" pitchFamily="34" charset="-122"/>
                <a:cs typeface="Calibri" pitchFamily="34" charset="-120"/>
              </a:rPr>
              <a:t>flowgentic hard-imports aiohttp — and httpx</a:t>
            </a:r>
            <a:endParaRPr lang="en-US" sz="1300" dirty="0"/>
          </a:p>
        </p:txBody>
      </p:sp>
      <p:sp>
        <p:nvSpPr>
          <p:cNvPr id="7" name="Text 5"/>
          <p:cNvSpPr txBox="1"/>
          <p:nvPr/>
        </p:nvSpPr>
        <p:spPr>
          <a:xfrm>
            <a:off x="877824" y="1737360"/>
            <a:ext cx="5212080" cy="777240"/>
          </a:xfrm>
          <a:prstGeom prst="rect">
            <a:avLst/>
          </a:prstGeom>
          <a:noFill/>
          <a:ln/>
        </p:spPr>
        <p:txBody>
          <a:bodyPr wrap="square" lIns="0" tIns="0" rIns="0" bIns="0" rtlCol="0" anchor="t"/>
          <a:lstStyle/>
          <a:p>
            <a:pPr indent="0" marL="0">
              <a:buNone/>
            </a:pPr>
            <a:r>
              <a:rPr lang="en-US" sz="1050" dirty="0">
                <a:solidFill>
                  <a:srgbClr val="C8D4DD"/>
                </a:solidFill>
                <a:latin typeface="Calibri" pitchFamily="34" charset="0"/>
                <a:ea typeface="Calibri" pitchFamily="34" charset="-122"/>
                <a:cs typeface="Calibri" pitchFamily="34" charset="-120"/>
              </a:rPr>
              <a:t>fault_tolerance.py:71–72 and :83–84 are except Exception: raise where the comment says "if present". Both become hard requirements. Fires whenever retryable_exceptions is left at its default ().</a:t>
            </a:r>
            <a:endParaRPr lang="en-US" sz="1050" dirty="0"/>
          </a:p>
        </p:txBody>
      </p:sp>
      <p:sp>
        <p:nvSpPr>
          <p:cNvPr id="8" name="Shape 6"/>
          <p:cNvSpPr/>
          <p:nvPr/>
        </p:nvSpPr>
        <p:spPr>
          <a:xfrm>
            <a:off x="457200" y="2606040"/>
            <a:ext cx="310896" cy="310896"/>
          </a:xfrm>
          <a:prstGeom prst="ellipse">
            <a:avLst/>
          </a:prstGeom>
          <a:solidFill>
            <a:srgbClr val="D9731A"/>
          </a:solidFill>
          <a:ln w="12700">
            <a:solidFill>
              <a:srgbClr val="D9731A"/>
            </a:solidFill>
            <a:prstDash val="solid"/>
          </a:ln>
        </p:spPr>
      </p:sp>
      <p:sp>
        <p:nvSpPr>
          <p:cNvPr id="9" name="Text 7"/>
          <p:cNvSpPr txBox="1"/>
          <p:nvPr/>
        </p:nvSpPr>
        <p:spPr>
          <a:xfrm>
            <a:off x="457200" y="2606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877824" y="2587752"/>
            <a:ext cx="5212080" cy="274320"/>
          </a:xfrm>
          <a:prstGeom prst="rect">
            <a:avLst/>
          </a:prstGeom>
          <a:noFill/>
          <a:ln/>
        </p:spPr>
        <p:txBody>
          <a:bodyPr wrap="square" lIns="0" tIns="0" rIns="0" bIns="0" rtlCol="0" anchor="t"/>
          <a:lstStyle/>
          <a:p>
            <a:pPr indent="0" marL="0">
              <a:buNone/>
            </a:pPr>
            <a:r>
              <a:rPr lang="en-US" sz="1300" b="1" dirty="0">
                <a:solidFill>
                  <a:srgbClr val="F0C898"/>
                </a:solidFill>
                <a:latin typeface="Calibri" pitchFamily="34" charset="0"/>
                <a:ea typeface="Calibri" pitchFamily="34" charset="-122"/>
                <a:cs typeface="Calibri" pitchFamily="34" charset="-120"/>
              </a:rPr>
              <a:t>RetryConfig defaults cancel long tasks silently</a:t>
            </a:r>
            <a:endParaRPr lang="en-US" sz="1300" dirty="0"/>
          </a:p>
        </p:txBody>
      </p:sp>
      <p:sp>
        <p:nvSpPr>
          <p:cNvPr id="11" name="Text 9"/>
          <p:cNvSpPr txBox="1"/>
          <p:nvPr/>
        </p:nvSpPr>
        <p:spPr>
          <a:xfrm>
            <a:off x="877824" y="2880360"/>
            <a:ext cx="5212080" cy="777240"/>
          </a:xfrm>
          <a:prstGeom prst="rect">
            <a:avLst/>
          </a:prstGeom>
          <a:noFill/>
          <a:ln/>
        </p:spPr>
        <p:txBody>
          <a:bodyPr wrap="square" lIns="0" tIns="0" rIns="0" bIns="0" rtlCol="0" anchor="t"/>
          <a:lstStyle/>
          <a:p>
            <a:pPr indent="0" marL="0">
              <a:buNone/>
            </a:pPr>
            <a:r>
              <a:rPr lang="en-US" sz="1050" dirty="0">
                <a:solidFill>
                  <a:srgbClr val="C8D4DD"/>
                </a:solidFill>
                <a:latin typeface="Calibri" pitchFamily="34" charset="0"/>
                <a:ea typeface="Calibri" pitchFamily="34" charset="-122"/>
                <a:cs typeface="Calibri" pitchFamily="34" charset="-120"/>
              </a:rPr>
              <a:t>30 s per attempt, 3 attempts. Measured against this repo's own folds: 13–42 s, so roughly half of round 2 would be cancelled and re-run. Long work must pass timeout_sec=None.</a:t>
            </a:r>
            <a:endParaRPr lang="en-US" sz="1050" dirty="0"/>
          </a:p>
        </p:txBody>
      </p:sp>
      <p:sp>
        <p:nvSpPr>
          <p:cNvPr id="12" name="Shape 10"/>
          <p:cNvSpPr/>
          <p:nvPr/>
        </p:nvSpPr>
        <p:spPr>
          <a:xfrm>
            <a:off x="457200" y="3749040"/>
            <a:ext cx="310896" cy="310896"/>
          </a:xfrm>
          <a:prstGeom prst="ellipse">
            <a:avLst/>
          </a:prstGeom>
          <a:solidFill>
            <a:srgbClr val="D9731A"/>
          </a:solidFill>
          <a:ln w="12700">
            <a:solidFill>
              <a:srgbClr val="D9731A"/>
            </a:solidFill>
            <a:prstDash val="solid"/>
          </a:ln>
        </p:spPr>
      </p:sp>
      <p:sp>
        <p:nvSpPr>
          <p:cNvPr id="13" name="Text 11"/>
          <p:cNvSpPr txBox="1"/>
          <p:nvPr/>
        </p:nvSpPr>
        <p:spPr>
          <a:xfrm>
            <a:off x="457200" y="3749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877824" y="3730752"/>
            <a:ext cx="5212080" cy="274320"/>
          </a:xfrm>
          <a:prstGeom prst="rect">
            <a:avLst/>
          </a:prstGeom>
          <a:noFill/>
          <a:ln/>
        </p:spPr>
        <p:txBody>
          <a:bodyPr wrap="square" lIns="0" tIns="0" rIns="0" bIns="0" rtlCol="0" anchor="t"/>
          <a:lstStyle/>
          <a:p>
            <a:pPr indent="0" marL="0">
              <a:buNone/>
            </a:pPr>
            <a:r>
              <a:rPr lang="en-US" sz="1300" b="1" dirty="0">
                <a:solidFill>
                  <a:srgbClr val="F0C898"/>
                </a:solidFill>
                <a:latin typeface="Calibri" pitchFamily="34" charset="0"/>
                <a:ea typeface="Calibri" pitchFamily="34" charset="-122"/>
                <a:cs typeface="Calibri" pitchFamily="34" charset="-120"/>
              </a:rPr>
              <a:t>Orbit's terminal task event omits stdout</a:t>
            </a:r>
            <a:endParaRPr lang="en-US" sz="1300" dirty="0"/>
          </a:p>
        </p:txBody>
      </p:sp>
      <p:sp>
        <p:nvSpPr>
          <p:cNvPr id="15" name="Text 13"/>
          <p:cNvSpPr txBox="1"/>
          <p:nvPr/>
        </p:nvSpPr>
        <p:spPr>
          <a:xfrm>
            <a:off x="877824" y="4023360"/>
            <a:ext cx="5212080" cy="777240"/>
          </a:xfrm>
          <a:prstGeom prst="rect">
            <a:avLst/>
          </a:prstGeom>
          <a:noFill/>
          <a:ln/>
        </p:spPr>
        <p:txBody>
          <a:bodyPr wrap="square" lIns="0" tIns="0" rIns="0" bIns="0" rtlCol="0" anchor="t"/>
          <a:lstStyle/>
          <a:p>
            <a:pPr indent="0" marL="0">
              <a:buNone/>
            </a:pPr>
            <a:r>
              <a:rPr lang="en-US" sz="1050" dirty="0">
                <a:solidFill>
                  <a:srgbClr val="C8D4DD"/>
                </a:solidFill>
                <a:latin typeface="Calibri" pitchFamily="34" charset="0"/>
                <a:ea typeface="Calibri" pitchFamily="34" charset="-122"/>
                <a:cs typeface="Calibri" pitchFamily="34" charset="-120"/>
              </a:rPr>
              <a:t>A completed task resolves with an empty result until get_task is called again. Worked around in _finish_task_enriched.</a:t>
            </a:r>
            <a:endParaRPr lang="en-US" sz="1050" dirty="0"/>
          </a:p>
        </p:txBody>
      </p:sp>
      <p:sp>
        <p:nvSpPr>
          <p:cNvPr id="16" name="Shape 14"/>
          <p:cNvSpPr/>
          <p:nvPr/>
        </p:nvSpPr>
        <p:spPr>
          <a:xfrm>
            <a:off x="6400800" y="1463040"/>
            <a:ext cx="310896" cy="310896"/>
          </a:xfrm>
          <a:prstGeom prst="ellipse">
            <a:avLst/>
          </a:prstGeom>
          <a:solidFill>
            <a:srgbClr val="D9731A"/>
          </a:solidFill>
          <a:ln w="12700">
            <a:solidFill>
              <a:srgbClr val="D9731A"/>
            </a:solidFill>
            <a:prstDash val="solid"/>
          </a:ln>
        </p:spPr>
      </p:sp>
      <p:sp>
        <p:nvSpPr>
          <p:cNvPr id="17" name="Text 15"/>
          <p:cNvSpPr txBox="1"/>
          <p:nvPr/>
        </p:nvSpPr>
        <p:spPr>
          <a:xfrm>
            <a:off x="6400800" y="1463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6821424" y="1444752"/>
            <a:ext cx="5212080" cy="274320"/>
          </a:xfrm>
          <a:prstGeom prst="rect">
            <a:avLst/>
          </a:prstGeom>
          <a:noFill/>
          <a:ln/>
        </p:spPr>
        <p:txBody>
          <a:bodyPr wrap="square" lIns="0" tIns="0" rIns="0" bIns="0" rtlCol="0" anchor="t"/>
          <a:lstStyle/>
          <a:p>
            <a:pPr indent="0" marL="0">
              <a:buNone/>
            </a:pPr>
            <a:r>
              <a:rPr lang="en-US" sz="1300" b="1" dirty="0">
                <a:solidFill>
                  <a:srgbClr val="F0C898"/>
                </a:solidFill>
                <a:latin typeface="Calibri" pitchFamily="34" charset="0"/>
                <a:ea typeface="Calibri" pitchFamily="34" charset="-122"/>
                <a:cs typeface="Calibri" pitchFamily="34" charset="-120"/>
              </a:rPr>
              <a:t>A FAILED Orbit job carries no reason</a:t>
            </a:r>
            <a:endParaRPr lang="en-US" sz="1300" dirty="0"/>
          </a:p>
        </p:txBody>
      </p:sp>
      <p:sp>
        <p:nvSpPr>
          <p:cNvPr id="19" name="Text 17"/>
          <p:cNvSpPr txBox="1"/>
          <p:nvPr/>
        </p:nvSpPr>
        <p:spPr>
          <a:xfrm>
            <a:off x="6821424" y="1737360"/>
            <a:ext cx="5212080" cy="777240"/>
          </a:xfrm>
          <a:prstGeom prst="rect">
            <a:avLst/>
          </a:prstGeom>
          <a:noFill/>
          <a:ln/>
        </p:spPr>
        <p:txBody>
          <a:bodyPr wrap="square" lIns="0" tIns="0" rIns="0" bIns="0" rtlCol="0" anchor="t"/>
          <a:lstStyle/>
          <a:p>
            <a:pPr indent="0" marL="0">
              <a:buNone/>
            </a:pPr>
            <a:r>
              <a:rPr lang="en-US" sz="1050" dirty="0">
                <a:solidFill>
                  <a:srgbClr val="C8D4DD"/>
                </a:solidFill>
                <a:latin typeface="Calibri" pitchFamily="34" charset="0"/>
                <a:ea typeface="Calibri" pitchFamily="34" charset="-122"/>
                <a:cs typeface="Calibri" pitchFamily="34" charset="-120"/>
              </a:rPr>
              <a:t>Only a non-zero exit code reaches the client. We synthesise an explanation from exit code, then stderr, then the log tail.</a:t>
            </a:r>
            <a:endParaRPr lang="en-US" sz="1050" dirty="0"/>
          </a:p>
        </p:txBody>
      </p:sp>
      <p:sp>
        <p:nvSpPr>
          <p:cNvPr id="20" name="Shape 18"/>
          <p:cNvSpPr/>
          <p:nvPr/>
        </p:nvSpPr>
        <p:spPr>
          <a:xfrm>
            <a:off x="6400800" y="2606040"/>
            <a:ext cx="310896" cy="310896"/>
          </a:xfrm>
          <a:prstGeom prst="ellipse">
            <a:avLst/>
          </a:prstGeom>
          <a:solidFill>
            <a:srgbClr val="D9731A"/>
          </a:solidFill>
          <a:ln w="12700">
            <a:solidFill>
              <a:srgbClr val="D9731A"/>
            </a:solidFill>
            <a:prstDash val="solid"/>
          </a:ln>
        </p:spPr>
      </p:sp>
      <p:sp>
        <p:nvSpPr>
          <p:cNvPr id="21" name="Text 19"/>
          <p:cNvSpPr txBox="1"/>
          <p:nvPr/>
        </p:nvSpPr>
        <p:spPr>
          <a:xfrm>
            <a:off x="6400800" y="2606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txBox="1"/>
          <p:nvPr/>
        </p:nvSpPr>
        <p:spPr>
          <a:xfrm>
            <a:off x="6821424" y="2587752"/>
            <a:ext cx="5212080" cy="274320"/>
          </a:xfrm>
          <a:prstGeom prst="rect">
            <a:avLst/>
          </a:prstGeom>
          <a:noFill/>
          <a:ln/>
        </p:spPr>
        <p:txBody>
          <a:bodyPr wrap="square" lIns="0" tIns="0" rIns="0" bIns="0" rtlCol="0" anchor="t"/>
          <a:lstStyle/>
          <a:p>
            <a:pPr indent="0" marL="0">
              <a:buNone/>
            </a:pPr>
            <a:r>
              <a:rPr lang="en-US" sz="1300" b="1" dirty="0">
                <a:solidFill>
                  <a:srgbClr val="F0C898"/>
                </a:solidFill>
                <a:latin typeface="Calibri" pitchFamily="34" charset="0"/>
                <a:ea typeface="Calibri" pitchFamily="34" charset="-122"/>
                <a:cs typeface="Calibri" pitchFamily="34" charset="-120"/>
              </a:rPr>
              <a:t>The broker has no HTTP topology route</a:t>
            </a:r>
            <a:endParaRPr lang="en-US" sz="1300" dirty="0"/>
          </a:p>
        </p:txBody>
      </p:sp>
      <p:sp>
        <p:nvSpPr>
          <p:cNvPr id="23" name="Text 21"/>
          <p:cNvSpPr txBox="1"/>
          <p:nvPr/>
        </p:nvSpPr>
        <p:spPr>
          <a:xfrm>
            <a:off x="6821424" y="2880360"/>
            <a:ext cx="5212080" cy="777240"/>
          </a:xfrm>
          <a:prstGeom prst="rect">
            <a:avLst/>
          </a:prstGeom>
          <a:noFill/>
          <a:ln/>
        </p:spPr>
        <p:txBody>
          <a:bodyPr wrap="square" lIns="0" tIns="0" rIns="0" bIns="0" rtlCol="0" anchor="t"/>
          <a:lstStyle/>
          <a:p>
            <a:pPr indent="0" marL="0">
              <a:buNone/>
            </a:pPr>
            <a:r>
              <a:rPr lang="en-US" sz="1050" dirty="0">
                <a:solidFill>
                  <a:srgbClr val="C8D4DD"/>
                </a:solidFill>
                <a:latin typeface="Calibri" pitchFamily="34" charset="0"/>
                <a:ea typeface="Calibri" pitchFamily="34" charset="-122"/>
                <a:cs typeface="Calibri" pitchFamily="34" charset="-120"/>
              </a:rPr>
              <a:t>/topology → 307 → 404, read as a plugin name. Readiness has to come from the client's rt.topology(), which propagates asynchronously.</a:t>
            </a:r>
            <a:endParaRPr lang="en-US" sz="1050" dirty="0"/>
          </a:p>
        </p:txBody>
      </p:sp>
      <p:sp>
        <p:nvSpPr>
          <p:cNvPr id="24" name="Shape 22"/>
          <p:cNvSpPr/>
          <p:nvPr/>
        </p:nvSpPr>
        <p:spPr>
          <a:xfrm>
            <a:off x="6400800" y="3749040"/>
            <a:ext cx="310896" cy="310896"/>
          </a:xfrm>
          <a:prstGeom prst="ellipse">
            <a:avLst/>
          </a:prstGeom>
          <a:solidFill>
            <a:srgbClr val="D9731A"/>
          </a:solidFill>
          <a:ln w="12700">
            <a:solidFill>
              <a:srgbClr val="D9731A"/>
            </a:solidFill>
            <a:prstDash val="solid"/>
          </a:ln>
        </p:spPr>
      </p:sp>
      <p:sp>
        <p:nvSpPr>
          <p:cNvPr id="25" name="Text 23"/>
          <p:cNvSpPr txBox="1"/>
          <p:nvPr/>
        </p:nvSpPr>
        <p:spPr>
          <a:xfrm>
            <a:off x="6400800" y="3749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4"/>
          <p:cNvSpPr txBox="1"/>
          <p:nvPr/>
        </p:nvSpPr>
        <p:spPr>
          <a:xfrm>
            <a:off x="6821424" y="3730752"/>
            <a:ext cx="5212080" cy="274320"/>
          </a:xfrm>
          <a:prstGeom prst="rect">
            <a:avLst/>
          </a:prstGeom>
          <a:noFill/>
          <a:ln/>
        </p:spPr>
        <p:txBody>
          <a:bodyPr wrap="square" lIns="0" tIns="0" rIns="0" bIns="0" rtlCol="0" anchor="t"/>
          <a:lstStyle/>
          <a:p>
            <a:pPr indent="0" marL="0">
              <a:buNone/>
            </a:pPr>
            <a:r>
              <a:rPr lang="en-US" sz="1300" b="1" dirty="0">
                <a:solidFill>
                  <a:srgbClr val="F0C898"/>
                </a:solidFill>
                <a:latin typeface="Calibri" pitchFamily="34" charset="0"/>
                <a:ea typeface="Calibri" pitchFamily="34" charset="-122"/>
                <a:cs typeface="Calibri" pitchFamily="34" charset="-120"/>
              </a:rPr>
              <a:t>--no-auth still requires cert and key</a:t>
            </a:r>
            <a:endParaRPr lang="en-US" sz="1300" dirty="0"/>
          </a:p>
        </p:txBody>
      </p:sp>
      <p:sp>
        <p:nvSpPr>
          <p:cNvPr id="27" name="Text 25"/>
          <p:cNvSpPr txBox="1"/>
          <p:nvPr/>
        </p:nvSpPr>
        <p:spPr>
          <a:xfrm>
            <a:off x="6821424" y="4023360"/>
            <a:ext cx="5212080" cy="777240"/>
          </a:xfrm>
          <a:prstGeom prst="rect">
            <a:avLst/>
          </a:prstGeom>
          <a:noFill/>
          <a:ln/>
        </p:spPr>
        <p:txBody>
          <a:bodyPr wrap="square" lIns="0" tIns="0" rIns="0" bIns="0" rtlCol="0" anchor="t"/>
          <a:lstStyle/>
          <a:p>
            <a:pPr indent="0" marL="0">
              <a:buNone/>
            </a:pPr>
            <a:r>
              <a:rPr lang="en-US" sz="1050" dirty="0">
                <a:solidFill>
                  <a:srgbClr val="C8D4DD"/>
                </a:solidFill>
                <a:latin typeface="Calibri" pitchFamily="34" charset="0"/>
                <a:ea typeface="Calibri" pitchFamily="34" charset="-122"/>
                <a:cs typeface="Calibri" pitchFamily="34" charset="-120"/>
              </a:rPr>
              <a:t>It disables ingress auth only; the broker always serves TLS and refuses to start without a pair. Worth one line in the docs.</a:t>
            </a:r>
            <a:endParaRPr lang="en-US" sz="1050" dirty="0"/>
          </a:p>
        </p:txBody>
      </p:sp>
      <p:sp>
        <p:nvSpPr>
          <p:cNvPr id="28" name="Shape 26"/>
          <p:cNvSpPr/>
          <p:nvPr/>
        </p:nvSpPr>
        <p:spPr>
          <a:xfrm>
            <a:off x="457200" y="4956048"/>
            <a:ext cx="11274552" cy="1234440"/>
          </a:xfrm>
          <a:prstGeom prst="rect">
            <a:avLst/>
          </a:prstGeom>
          <a:solidFill>
            <a:srgbClr val="2A3A47"/>
          </a:solidFill>
          <a:ln w="25400">
            <a:solidFill>
              <a:srgbClr val="D9731A"/>
            </a:solidFill>
            <a:prstDash val="solid"/>
          </a:ln>
        </p:spPr>
      </p:sp>
      <p:sp>
        <p:nvSpPr>
          <p:cNvPr id="29" name="Text 27"/>
          <p:cNvSpPr txBox="1"/>
          <p:nvPr/>
        </p:nvSpPr>
        <p:spPr>
          <a:xfrm>
            <a:off x="640080" y="5047488"/>
            <a:ext cx="10881360" cy="1097280"/>
          </a:xfrm>
          <a:prstGeom prst="rect">
            <a:avLst/>
          </a:prstGeom>
          <a:noFill/>
          <a:ln/>
        </p:spPr>
        <p:txBody>
          <a:bodyPr wrap="square" lIns="0" tIns="0" rIns="0" bIns="0" rtlCol="0" anchor="t"/>
          <a:lstStyle/>
          <a:p>
            <a:pPr indent="0" marL="0">
              <a:buNone/>
            </a:pPr>
            <a:r>
              <a:rPr lang="en-US" sz="1500" b="1" dirty="0">
                <a:solidFill>
                  <a:srgbClr val="D9731A"/>
                </a:solidFill>
                <a:latin typeface="Calibri" pitchFamily="34" charset="0"/>
                <a:ea typeface="Calibri" pitchFamily="34" charset="-122"/>
                <a:cs typeface="Calibri" pitchFamily="34" charset="-120"/>
              </a:rPr>
              <a:t>The question:  </a:t>
            </a:r>
            <a:pPr indent="0" marL="0">
              <a:buNone/>
            </a:pPr>
            <a:r>
              <a:rPr lang="en-US" sz="1500" b="1" dirty="0">
                <a:solidFill>
                  <a:srgbClr val="FFFFFF"/>
                </a:solidFill>
                <a:latin typeface="Calibri" pitchFamily="34" charset="0"/>
                <a:ea typeface="Calibri" pitchFamily="34" charset="-122"/>
                <a:cs typeface="Calibri" pitchFamily="34" charset="-120"/>
              </a:rPr>
              <a:t>is flowgentic's EXECUTION_BLOCK meant to preserve the caller's context?</a:t>
            </a:r>
            <a:endParaRPr lang="en-US" sz="1200" dirty="0"/>
          </a:p>
          <a:p>
            <a:pPr indent="0" marL="0">
              <a:buNone/>
            </a:pPr>
            <a:r>
              <a:rPr lang="en-US" sz="1150" dirty="0">
                <a:solidFill>
                  <a:srgbClr val="C8D4DD"/>
                </a:solidFill>
                <a:latin typeface="Calibri" pitchFamily="34" charset="0"/>
                <a:ea typeface="Calibri" pitchFamily="34" charset="-122"/>
                <a:cs typeface="Calibri" pitchFamily="34" charset="-120"/>
              </a:rPr>
              <a:t>A node wrapped as one runs on asyncflow's loop, outside LangGraph's runnable context. get_stream_writer() raises "Called get_config outside of a runnable context" and every custom event is dropped silently — the graph completes, the chat just goes quiet. If yes, it is a bug and wrap_nodes=True becomes our default. If no, flowgentic's node wrapping and LangGraph's streaming are mutually exclusive, and that belongs in the README.</a:t>
            </a:r>
            <a:endParaRPr lang="en-US" sz="1200" dirty="0"/>
          </a:p>
        </p:txBody>
      </p:sp>
      <p:sp>
        <p:nvSpPr>
          <p:cNvPr id="30" name="Text 28"/>
          <p:cNvSpPr txBox="1"/>
          <p:nvPr/>
        </p:nvSpPr>
        <p:spPr>
          <a:xfrm>
            <a:off x="457200" y="6446520"/>
            <a:ext cx="11247120" cy="274320"/>
          </a:xfrm>
          <a:prstGeom prst="rect">
            <a:avLst/>
          </a:prstGeom>
          <a:noFill/>
          <a:ln/>
        </p:spPr>
        <p:txBody>
          <a:bodyPr wrap="square" lIns="0" tIns="0" rIns="0" bIns="0" rtlCol="0" anchor="t"/>
          <a:lstStyle/>
          <a:p>
            <a:pPr indent="0" marL="0">
              <a:buNone/>
            </a:pPr>
            <a:r>
              <a:rPr lang="en-US" sz="1050" i="1" dirty="0">
                <a:solidFill>
                  <a:srgbClr val="7E8F9C"/>
                </a:solidFill>
                <a:latin typeface="Calibri" pitchFamily="34" charset="0"/>
                <a:ea typeface="Calibri" pitchFamily="34" charset="-122"/>
                <a:cs typeface="Calibri" pitchFamily="34" charset="-120"/>
              </a:rPr>
              <a:t>Thanks. Repo: main @ e8467e6 · slides/CODE_FOR_DECK.md carries every anchor and the reproduction for each finding.</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BACKUP</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The streaming experiment, in full</a:t>
            </a:r>
            <a:endParaRPr lang="en-US" sz="2800" dirty="0"/>
          </a:p>
        </p:txBody>
      </p:sp>
      <p:sp>
        <p:nvSpPr>
          <p:cNvPr id="4" name="Shape 2"/>
          <p:cNvSpPr/>
          <p:nvPr/>
        </p:nvSpPr>
        <p:spPr>
          <a:xfrm>
            <a:off x="457200" y="1417320"/>
            <a:ext cx="5669280" cy="2487168"/>
          </a:xfrm>
          <a:prstGeom prst="rect">
            <a:avLst/>
          </a:prstGeom>
          <a:solidFill>
            <a:srgbClr val="EEF2F5"/>
          </a:solidFill>
          <a:ln w="12700">
            <a:solidFill>
              <a:srgbClr val="EEF2F5"/>
            </a:solidFill>
            <a:prstDash val="solid"/>
          </a:ln>
        </p:spPr>
      </p:sp>
      <p:sp>
        <p:nvSpPr>
          <p:cNvPr id="5" name="Text 3"/>
          <p:cNvSpPr txBox="1"/>
          <p:nvPr/>
        </p:nvSpPr>
        <p:spPr>
          <a:xfrm>
            <a:off x="594360" y="1508760"/>
            <a:ext cx="5394960"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What was tried</a:t>
            </a:r>
            <a:endParaRPr lang="en-US" sz="1300" dirty="0"/>
          </a:p>
        </p:txBody>
      </p:sp>
      <p:sp>
        <p:nvSpPr>
          <p:cNvPr id="6" name="Text 4"/>
          <p:cNvSpPr txBox="1"/>
          <p:nvPr/>
        </p:nvSpPr>
        <p:spPr>
          <a:xfrm>
            <a:off x="594360" y="1828800"/>
            <a:ext cx="5394960" cy="19842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approved design: wrap every node as AsyncFlowType.EXECUTION_BLOCK with RetryConfig(timeout_sec=None, max_attempts=1), same as tasks.</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Symptom: the graph completed correctly and the chat showed no status lines at all. No error surfaced anywhere.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Isolation: one plain node and one wrapped node, each calling get_stream_writer() and emitting one event.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Plain node: writer obtained, event received by astream(stream_mode=["custom"]).</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Wrapped node: RuntimeError "Called get_config outside of a runnable context"; zero events.</a:t>
            </a:r>
            <a:endParaRPr lang="en-US" sz="1050" dirty="0"/>
          </a:p>
        </p:txBody>
      </p:sp>
      <p:sp>
        <p:nvSpPr>
          <p:cNvPr id="7" name="Shape 5"/>
          <p:cNvSpPr/>
          <p:nvPr/>
        </p:nvSpPr>
        <p:spPr>
          <a:xfrm>
            <a:off x="6400800" y="1417320"/>
            <a:ext cx="5788152" cy="2487168"/>
          </a:xfrm>
          <a:prstGeom prst="rect">
            <a:avLst/>
          </a:prstGeom>
          <a:solidFill>
            <a:srgbClr val="E9EDF7"/>
          </a:solidFill>
          <a:ln w="12700">
            <a:solidFill>
              <a:srgbClr val="E9EDF7"/>
            </a:solidFill>
            <a:prstDash val="solid"/>
          </a:ln>
        </p:spPr>
      </p:sp>
      <p:sp>
        <p:nvSpPr>
          <p:cNvPr id="8" name="Text 6"/>
          <p:cNvSpPr txBox="1"/>
          <p:nvPr/>
        </p:nvSpPr>
        <p:spPr>
          <a:xfrm>
            <a:off x="6537960" y="1508760"/>
            <a:ext cx="5513832" cy="274320"/>
          </a:xfrm>
          <a:prstGeom prst="rect">
            <a:avLst/>
          </a:prstGeom>
          <a:noFill/>
          <a:ln/>
        </p:spPr>
        <p:txBody>
          <a:bodyPr wrap="square" lIns="0" tIns="0" rIns="0" bIns="0" rtlCol="0" anchor="t"/>
          <a:lstStyle/>
          <a:p>
            <a:pPr indent="0" marL="0">
              <a:buNone/>
            </a:pPr>
            <a:r>
              <a:rPr lang="en-US" sz="1300" b="1" dirty="0">
                <a:solidFill>
                  <a:srgbClr val="3B4E8C"/>
                </a:solidFill>
                <a:latin typeface="Calibri" pitchFamily="34" charset="0"/>
                <a:ea typeface="Calibri" pitchFamily="34" charset="-122"/>
                <a:cs typeface="Calibri" pitchFamily="34" charset="-120"/>
              </a:rPr>
              <a:t>Why</a:t>
            </a:r>
            <a:endParaRPr lang="en-US" sz="1300" dirty="0"/>
          </a:p>
        </p:txBody>
      </p:sp>
      <p:sp>
        <p:nvSpPr>
          <p:cNvPr id="9" name="Text 7"/>
          <p:cNvSpPr txBox="1"/>
          <p:nvPr/>
        </p:nvSpPr>
        <p:spPr>
          <a:xfrm>
            <a:off x="6537960" y="1828800"/>
            <a:ext cx="5513832" cy="1984248"/>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flowgentic's EXECUTION_BLOCK submits the body to the asyncflow WorkflowEngine, which runs it on its own loop.</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LangGraph's get_stream_writer() reads the runnable context, which is a contextvar set by the LangGraph executor around the node call.</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Crossing to another loop loses the contextvar. The writer cannot be found, and LangGraph's own helper degrades to a no-op rather than raising — which is why it is silent.</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This is not a flowgentic bug unless EXECUTION_BLOCK intends to propagate context. Hence the question, not the accusation.</a:t>
            </a:r>
            <a:endParaRPr lang="en-US" sz="1050" dirty="0"/>
          </a:p>
        </p:txBody>
      </p:sp>
      <p:sp>
        <p:nvSpPr>
          <p:cNvPr id="10" name="Shape 8"/>
          <p:cNvSpPr/>
          <p:nvPr/>
        </p:nvSpPr>
        <p:spPr>
          <a:xfrm>
            <a:off x="457200" y="4069080"/>
            <a:ext cx="6949440" cy="1371600"/>
          </a:xfrm>
          <a:prstGeom prst="rect">
            <a:avLst/>
          </a:prstGeom>
          <a:solidFill>
            <a:srgbClr val="16222B"/>
          </a:solidFill>
          <a:ln w="12700">
            <a:solidFill>
              <a:srgbClr val="16222B"/>
            </a:solidFill>
            <a:prstDash val="solid"/>
          </a:ln>
        </p:spPr>
      </p:sp>
      <p:sp>
        <p:nvSpPr>
          <p:cNvPr id="11" name="Text 9"/>
          <p:cNvSpPr txBox="1"/>
          <p:nvPr/>
        </p:nvSpPr>
        <p:spPr>
          <a:xfrm>
            <a:off x="566928" y="4169664"/>
            <a:ext cx="6729984" cy="1170432"/>
          </a:xfrm>
          <a:prstGeom prst="rect">
            <a:avLst/>
          </a:prstGeom>
          <a:noFill/>
          <a:ln/>
        </p:spPr>
        <p:txBody>
          <a:bodyPr wrap="square" lIns="0" tIns="0" rIns="0" bIns="0" rtlCol="0" anchor="t"/>
          <a:lstStyle/>
          <a:p>
            <a:pPr indent="0" marL="0">
              <a:lnSpc>
                <a:spcPts val="1152"/>
              </a:lnSpc>
              <a:buNone/>
            </a:pPr>
            <a:r>
              <a:rPr lang="en-US" sz="922" dirty="0">
                <a:solidFill>
                  <a:srgbClr val="DCE5EC"/>
                </a:solidFill>
                <a:latin typeface="Consolas" pitchFamily="34" charset="0"/>
                <a:ea typeface="Consolas" pitchFamily="34" charset="-122"/>
                <a:cs typeface="Consolas" pitchFamily="34" charset="-120"/>
              </a:rPr>
              <a:t>def wrap_node(integration, fn):</a:t>
            </a:r>
            <a:endParaRPr lang="en-US" sz="922" dirty="0"/>
          </a:p>
          <a:p>
            <a:pPr indent="0" marL="0">
              <a:lnSpc>
                <a:spcPts val="1152"/>
              </a:lnSpc>
              <a:buNone/>
            </a:pPr>
            <a:r>
              <a:rPr lang="en-US" sz="922" dirty="0">
                <a:solidFill>
                  <a:srgbClr val="DCE5EC"/>
                </a:solidFill>
                <a:latin typeface="Consolas" pitchFamily="34" charset="0"/>
                <a:ea typeface="Consolas" pitchFamily="34" charset="-122"/>
                <a:cs typeface="Consolas" pitchFamily="34" charset="-120"/>
              </a:rPr>
              <a:t>    """Wrap a node body as a flowgentic EXECUTION_BLOCK, if enabled."""</a:t>
            </a:r>
            <a:endParaRPr lang="en-US" sz="922" dirty="0"/>
          </a:p>
          <a:p>
            <a:pPr indent="0" marL="0">
              <a:lnSpc>
                <a:spcPts val="1152"/>
              </a:lnSpc>
              <a:buNone/>
            </a:pPr>
            <a:r>
              <a:rPr lang="en-US" sz="922" dirty="0">
                <a:solidFill>
                  <a:srgbClr val="DCE5EC"/>
                </a:solidFill>
                <a:latin typeface="Consolas" pitchFamily="34" charset="0"/>
                <a:ea typeface="Consolas" pitchFamily="34" charset="-122"/>
                <a:cs typeface="Consolas" pitchFamily="34" charset="-120"/>
              </a:rPr>
              <a:t>    if integration is None:</a:t>
            </a:r>
            <a:endParaRPr lang="en-US" sz="922" dirty="0"/>
          </a:p>
          <a:p>
            <a:pPr indent="0" marL="0">
              <a:lnSpc>
                <a:spcPts val="1152"/>
              </a:lnSpc>
              <a:buNone/>
            </a:pPr>
            <a:r>
              <a:rPr lang="en-US" sz="922" dirty="0">
                <a:solidFill>
                  <a:srgbClr val="DCE5EC"/>
                </a:solidFill>
                <a:latin typeface="Consolas" pitchFamily="34" charset="0"/>
                <a:ea typeface="Consolas" pitchFamily="34" charset="-122"/>
                <a:cs typeface="Consolas" pitchFamily="34" charset="-120"/>
              </a:rPr>
              <a:t>        return fn</a:t>
            </a:r>
            <a:endParaRPr lang="en-US" sz="922" dirty="0"/>
          </a:p>
          <a:p>
            <a:pPr indent="0" marL="0">
              <a:lnSpc>
                <a:spcPts val="1152"/>
              </a:lnSpc>
              <a:buNone/>
            </a:pPr>
            <a:r>
              <a:rPr lang="en-US" sz="922" dirty="0">
                <a:solidFill>
                  <a:srgbClr val="DCE5EC"/>
                </a:solidFill>
                <a:latin typeface="Consolas" pitchFamily="34" charset="0"/>
                <a:ea typeface="Consolas" pitchFamily="34" charset="-122"/>
                <a:cs typeface="Consolas" pitchFamily="34" charset="-120"/>
              </a:rPr>
              <a:t>    return integration.execution_wrappers.asyncflow(</a:t>
            </a:r>
            <a:endParaRPr lang="en-US" sz="922" dirty="0"/>
          </a:p>
          <a:p>
            <a:pPr indent="0" marL="0">
              <a:lnSpc>
                <a:spcPts val="1152"/>
              </a:lnSpc>
              <a:buNone/>
            </a:pPr>
            <a:r>
              <a:rPr lang="en-US" sz="922" dirty="0">
                <a:solidFill>
                  <a:srgbClr val="DCE5EC"/>
                </a:solidFill>
                <a:latin typeface="Consolas" pitchFamily="34" charset="0"/>
                <a:ea typeface="Consolas" pitchFamily="34" charset="-122"/>
                <a:cs typeface="Consolas" pitchFamily="34" charset="-120"/>
              </a:rPr>
              <a:t>        fn, flow_type=AsyncFlowType.EXECUTION_BLOCK, retry=node_retry_config())</a:t>
            </a:r>
            <a:endParaRPr lang="en-US" sz="922" dirty="0"/>
          </a:p>
          <a:p>
            <a:pPr indent="0" marL="0">
              <a:lnSpc>
                <a:spcPts val="1152"/>
              </a:lnSpc>
              <a:buNone/>
            </a:pPr>
            <a:endParaRPr lang="en-US" sz="922" dirty="0"/>
          </a:p>
          <a:p>
            <a:pPr indent="0" marL="0">
              <a:lnSpc>
                <a:spcPts val="1152"/>
              </a:lnSpc>
              <a:buNone/>
            </a:pPr>
            <a:r>
              <a:rPr lang="en-US" sz="922" dirty="0">
                <a:solidFill>
                  <a:srgbClr val="DCE5EC"/>
                </a:solidFill>
                <a:latin typeface="Consolas" pitchFamily="34" charset="0"/>
                <a:ea typeface="Consolas" pitchFamily="34" charset="-122"/>
                <a:cs typeface="Consolas" pitchFamily="34" charset="-120"/>
              </a:rPr>
              <a:t># build_graph(): integration is set to None unless settings.wrap_nodes</a:t>
            </a:r>
            <a:endParaRPr lang="en-US" sz="922" dirty="0"/>
          </a:p>
        </p:txBody>
      </p:sp>
      <p:sp>
        <p:nvSpPr>
          <p:cNvPr id="12" name="Text 10"/>
          <p:cNvSpPr txBox="1"/>
          <p:nvPr/>
        </p:nvSpPr>
        <p:spPr>
          <a:xfrm>
            <a:off x="457200" y="5468112"/>
            <a:ext cx="6949440"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graph/build.py:38–87  ·  TRIMMED</a:t>
            </a:r>
            <a:endParaRPr lang="en-US" sz="850" dirty="0"/>
          </a:p>
        </p:txBody>
      </p:sp>
      <p:sp>
        <p:nvSpPr>
          <p:cNvPr id="13" name="Shape 11"/>
          <p:cNvSpPr/>
          <p:nvPr/>
        </p:nvSpPr>
        <p:spPr>
          <a:xfrm>
            <a:off x="7680960" y="4069080"/>
            <a:ext cx="4507992" cy="1371600"/>
          </a:xfrm>
          <a:prstGeom prst="rect">
            <a:avLst/>
          </a:prstGeom>
          <a:solidFill>
            <a:srgbClr val="F9E0DD"/>
          </a:solidFill>
          <a:ln w="12700">
            <a:solidFill>
              <a:srgbClr val="F9E0DD"/>
            </a:solidFill>
            <a:prstDash val="solid"/>
          </a:ln>
        </p:spPr>
      </p:sp>
      <p:sp>
        <p:nvSpPr>
          <p:cNvPr id="14" name="Text 12"/>
          <p:cNvSpPr txBox="1"/>
          <p:nvPr/>
        </p:nvSpPr>
        <p:spPr>
          <a:xfrm>
            <a:off x="7818120" y="4160520"/>
            <a:ext cx="4233672"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What ships</a:t>
            </a:r>
            <a:endParaRPr lang="en-US" sz="1300" dirty="0"/>
          </a:p>
        </p:txBody>
      </p:sp>
      <p:sp>
        <p:nvSpPr>
          <p:cNvPr id="15" name="Text 13"/>
          <p:cNvSpPr txBox="1"/>
          <p:nvPr/>
        </p:nvSpPr>
        <p:spPr>
          <a:xfrm>
            <a:off x="7818120" y="4480560"/>
            <a:ext cx="4233672" cy="8686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wrap_nodes=False, the code path kept and documented.</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Tasks are still wrapped — FUNCTION_TASK runs task bodies, which never touch the stream writer.</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So the pool is genuinely used; only node bodies stayed in-process.</a:t>
            </a:r>
            <a:endParaRPr lang="en-US" sz="1050" dirty="0"/>
          </a:p>
        </p:txBody>
      </p:sp>
      <p:sp>
        <p:nvSpPr>
          <p:cNvPr id="16" name="Text 14"/>
          <p:cNvSpPr txBox="1"/>
          <p:nvPr/>
        </p:nvSpPr>
        <p:spPr>
          <a:xfrm>
            <a:off x="457200" y="5623560"/>
            <a:ext cx="11247120" cy="365760"/>
          </a:xfrm>
          <a:prstGeom prst="rect">
            <a:avLst/>
          </a:prstGeom>
          <a:noFill/>
          <a:ln/>
        </p:spPr>
        <p:txBody>
          <a:bodyPr wrap="square" lIns="0" tIns="0" rIns="0" bIns="0" rtlCol="0" anchor="t"/>
          <a:lstStyle/>
          <a:p>
            <a:pPr indent="0" marL="0">
              <a:buNone/>
            </a:pPr>
            <a:r>
              <a:rPr lang="en-US" sz="1250" i="1" dirty="0">
                <a:solidFill>
                  <a:srgbClr val="2E7D4F"/>
                </a:solidFill>
                <a:latin typeface="Calibri" pitchFamily="34" charset="0"/>
                <a:ea typeface="Calibri" pitchFamily="34" charset="-122"/>
                <a:cs typeface="Calibri" pitchFamily="34" charset="-120"/>
              </a:rPr>
              <a:t>Verified after the change: 11 status lines stream for one redesign turn.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274320"/>
          </a:xfrm>
          <a:prstGeom prst="rect">
            <a:avLst/>
          </a:prstGeom>
          <a:noFill/>
          <a:ln/>
        </p:spPr>
        <p:txBody>
          <a:bodyPr wrap="square" lIns="0" tIns="0" rIns="0" bIns="0" rtlCol="0" anchor="t"/>
          <a:lstStyle/>
          <a:p>
            <a:pPr indent="0" marL="0">
              <a:buNone/>
            </a:pPr>
            <a:r>
              <a:rPr lang="en-US" sz="1200" b="1" spc="200" kern="0" dirty="0">
                <a:solidFill>
                  <a:srgbClr val="1E6470"/>
                </a:solidFill>
                <a:latin typeface="Calibri" pitchFamily="34" charset="0"/>
                <a:ea typeface="Calibri" pitchFamily="34" charset="-122"/>
                <a:cs typeface="Calibri" pitchFamily="34" charset="-120"/>
              </a:rPr>
              <a:t>BACKUP</a:t>
            </a:r>
            <a:endParaRPr lang="en-US" sz="1200" dirty="0"/>
          </a:p>
        </p:txBody>
      </p:sp>
      <p:sp>
        <p:nvSpPr>
          <p:cNvPr id="3" name="Text 1"/>
          <p:cNvSpPr txBox="1"/>
          <p:nvPr/>
        </p:nvSpPr>
        <p:spPr>
          <a:xfrm>
            <a:off x="457200" y="566928"/>
            <a:ext cx="11277295" cy="731520"/>
          </a:xfrm>
          <a:prstGeom prst="rect">
            <a:avLst/>
          </a:prstGeom>
          <a:noFill/>
          <a:ln/>
        </p:spPr>
        <p:txBody>
          <a:bodyPr wrap="square" lIns="0" tIns="0" rIns="0" bIns="0" rtlCol="0" anchor="t"/>
          <a:lstStyle/>
          <a:p>
            <a:pPr indent="0" marL="0">
              <a:buNone/>
            </a:pPr>
            <a:r>
              <a:rPr lang="en-US" sz="2800" b="1" dirty="0">
                <a:solidFill>
                  <a:srgbClr val="16222B"/>
                </a:solidFill>
                <a:latin typeface="Cambria" pitchFamily="34" charset="0"/>
                <a:ea typeface="Cambria" pitchFamily="34" charset="-122"/>
                <a:cs typeface="Cambria" pitchFamily="34" charset="-120"/>
              </a:rPr>
              <a:t>Standing up a local Orbit stack</a:t>
            </a:r>
            <a:endParaRPr lang="en-US" sz="2800" dirty="0"/>
          </a:p>
        </p:txBody>
      </p:sp>
      <p:sp>
        <p:nvSpPr>
          <p:cNvPr id="4" name="Shape 2"/>
          <p:cNvSpPr/>
          <p:nvPr/>
        </p:nvSpPr>
        <p:spPr>
          <a:xfrm>
            <a:off x="457200" y="1417320"/>
            <a:ext cx="6949440" cy="2286000"/>
          </a:xfrm>
          <a:prstGeom prst="rect">
            <a:avLst/>
          </a:prstGeom>
          <a:solidFill>
            <a:srgbClr val="16222B"/>
          </a:solidFill>
          <a:ln w="12700">
            <a:solidFill>
              <a:srgbClr val="16222B"/>
            </a:solidFill>
            <a:prstDash val="solid"/>
          </a:ln>
        </p:spPr>
      </p:sp>
      <p:sp>
        <p:nvSpPr>
          <p:cNvPr id="5" name="Text 3"/>
          <p:cNvSpPr txBox="1"/>
          <p:nvPr/>
        </p:nvSpPr>
        <p:spPr>
          <a:xfrm>
            <a:off x="566928" y="1517904"/>
            <a:ext cx="6729984" cy="2084832"/>
          </a:xfrm>
          <a:prstGeom prst="rect">
            <a:avLst/>
          </a:prstGeom>
          <a:noFill/>
          <a:ln/>
        </p:spPr>
        <p:txBody>
          <a:bodyPr wrap="square" lIns="0" tIns="0" rIns="0" bIns="0" rtlCol="0" anchor="t"/>
          <a:lstStyle/>
          <a:p>
            <a:pPr indent="0" marL="0">
              <a:lnSpc>
                <a:spcPts val="1263"/>
              </a:lnSpc>
              <a:buNone/>
            </a:pPr>
            <a:r>
              <a:rPr lang="en-US" sz="1000" dirty="0">
                <a:solidFill>
                  <a:srgbClr val="DCE5EC"/>
                </a:solidFill>
                <a:latin typeface="Consolas" pitchFamily="34" charset="0"/>
                <a:ea typeface="Consolas" pitchFamily="34" charset="-122"/>
                <a:cs typeface="Consolas" pitchFamily="34" charset="-120"/>
              </a:rPr>
              <a:t># broker: --no-auth disables INGRESS AUTH ONLY. TLS is always served,</a:t>
            </a:r>
            <a:endParaRPr lang="en-US" sz="1000" dirty="0"/>
          </a:p>
          <a:p>
            <a:pPr indent="0" marL="0">
              <a:lnSpc>
                <a:spcPts val="1263"/>
              </a:lnSpc>
              <a:buNone/>
            </a:pPr>
            <a:r>
              <a:rPr lang="en-US" sz="1000" dirty="0">
                <a:solidFill>
                  <a:srgbClr val="DCE5EC"/>
                </a:solidFill>
                <a:latin typeface="Consolas" pitchFamily="34" charset="0"/>
                <a:ea typeface="Consolas" pitchFamily="34" charset="-122"/>
                <a:cs typeface="Consolas" pitchFamily="34" charset="-120"/>
              </a:rPr>
              <a:t># and it refuses to start without a cert and key.</a:t>
            </a:r>
            <a:endParaRPr lang="en-US" sz="1000" dirty="0"/>
          </a:p>
          <a:p>
            <a:pPr indent="0" marL="0">
              <a:lnSpc>
                <a:spcPts val="1263"/>
              </a:lnSpc>
              <a:buNone/>
            </a:pPr>
            <a:r>
              <a:rPr lang="en-US" sz="1000" dirty="0">
                <a:solidFill>
                  <a:srgbClr val="DCE5EC"/>
                </a:solidFill>
                <a:latin typeface="Consolas" pitchFamily="34" charset="0"/>
                <a:ea typeface="Consolas" pitchFamily="34" charset="-122"/>
                <a:cs typeface="Consolas" pitchFamily="34" charset="-120"/>
              </a:rPr>
              <a:t>openssl req -x509 -newkey rsa:2048 -nodes -keyout key.pem -out cert.pem \</a:t>
            </a:r>
            <a:endParaRPr lang="en-US" sz="1000" dirty="0"/>
          </a:p>
          <a:p>
            <a:pPr indent="0" marL="0">
              <a:lnSpc>
                <a:spcPts val="1263"/>
              </a:lnSpc>
              <a:buNone/>
            </a:pPr>
            <a:r>
              <a:rPr lang="en-US" sz="1000" dirty="0">
                <a:solidFill>
                  <a:srgbClr val="DCE5EC"/>
                </a:solidFill>
                <a:latin typeface="Consolas" pitchFamily="34" charset="0"/>
                <a:ea typeface="Consolas" pitchFamily="34" charset="-122"/>
                <a:cs typeface="Consolas" pitchFamily="34" charset="-120"/>
              </a:rPr>
              <a:t>  -days 3 -subj /CN=127.0.0.1 \</a:t>
            </a:r>
            <a:endParaRPr lang="en-US" sz="1000" dirty="0"/>
          </a:p>
          <a:p>
            <a:pPr indent="0" marL="0">
              <a:lnSpc>
                <a:spcPts val="1263"/>
              </a:lnSpc>
              <a:buNone/>
            </a:pPr>
            <a:r>
              <a:rPr lang="en-US" sz="1000" dirty="0">
                <a:solidFill>
                  <a:srgbClr val="DCE5EC"/>
                </a:solidFill>
                <a:latin typeface="Consolas" pitchFamily="34" charset="0"/>
                <a:ea typeface="Consolas" pitchFamily="34" charset="-122"/>
                <a:cs typeface="Consolas" pitchFamily="34" charset="-120"/>
              </a:rPr>
              <a:t>  -addext subjectAltName=IP:127.0.0.1,DNS:localhost     # SAN must cover 127.0.0.1</a:t>
            </a:r>
            <a:endParaRPr lang="en-US" sz="1000" dirty="0"/>
          </a:p>
          <a:p>
            <a:pPr indent="0" marL="0">
              <a:lnSpc>
                <a:spcPts val="1263"/>
              </a:lnSpc>
              <a:buNone/>
            </a:pPr>
            <a:r>
              <a:rPr lang="en-US" sz="1000" dirty="0">
                <a:solidFill>
                  <a:srgbClr val="DCE5EC"/>
                </a:solidFill>
                <a:latin typeface="Consolas" pitchFamily="34" charset="0"/>
                <a:ea typeface="Consolas" pitchFamily="34" charset="-122"/>
                <a:cs typeface="Consolas" pitchFamily="34" charset="-120"/>
              </a:rPr>
              <a:t>chmod 600 key.pem                                        # refuses a looser mode</a:t>
            </a:r>
            <a:endParaRPr lang="en-US" sz="1000" dirty="0"/>
          </a:p>
          <a:p>
            <a:pPr indent="0" marL="0">
              <a:lnSpc>
                <a:spcPts val="1263"/>
              </a:lnSpc>
              <a:buNone/>
            </a:pPr>
            <a:endParaRPr lang="en-US" sz="1000" dirty="0"/>
          </a:p>
          <a:p>
            <a:pPr indent="0" marL="0">
              <a:lnSpc>
                <a:spcPts val="1263"/>
              </a:lnSpc>
              <a:buNone/>
            </a:pPr>
            <a:r>
              <a:rPr lang="en-US" sz="1000" dirty="0">
                <a:solidFill>
                  <a:srgbClr val="DCE5EC"/>
                </a:solidFill>
                <a:latin typeface="Consolas" pitchFamily="34" charset="0"/>
                <a:ea typeface="Consolas" pitchFamily="34" charset="-122"/>
                <a:cs typeface="Consolas" pitchFamily="34" charset="-120"/>
              </a:rPr>
              <a:t>radical-orbit-broker.py --no-auth --host 127.0.0.1 --port N \</a:t>
            </a:r>
            <a:endParaRPr lang="en-US" sz="1000" dirty="0"/>
          </a:p>
          <a:p>
            <a:pPr indent="0" marL="0">
              <a:lnSpc>
                <a:spcPts val="1263"/>
              </a:lnSpc>
              <a:buNone/>
            </a:pPr>
            <a:r>
              <a:rPr lang="en-US" sz="1000" dirty="0">
                <a:solidFill>
                  <a:srgbClr val="DCE5EC"/>
                </a:solidFill>
                <a:latin typeface="Consolas" pitchFamily="34" charset="0"/>
                <a:ea typeface="Consolas" pitchFamily="34" charset="-122"/>
                <a:cs typeface="Consolas" pitchFamily="34" charset="-120"/>
              </a:rPr>
              <a:t>    --cert cert.pem --key key.pem</a:t>
            </a:r>
            <a:endParaRPr lang="en-US" sz="1000" dirty="0"/>
          </a:p>
          <a:p>
            <a:pPr indent="0" marL="0">
              <a:lnSpc>
                <a:spcPts val="1263"/>
              </a:lnSpc>
              <a:buNone/>
            </a:pPr>
            <a:endParaRPr lang="en-US" sz="1000" dirty="0"/>
          </a:p>
          <a:p>
            <a:pPr indent="0" marL="0">
              <a:lnSpc>
                <a:spcPts val="1263"/>
              </a:lnSpc>
              <a:buNone/>
            </a:pPr>
            <a:r>
              <a:rPr lang="en-US" sz="1000" dirty="0">
                <a:solidFill>
                  <a:srgbClr val="DCE5EC"/>
                </a:solidFill>
                <a:latin typeface="Consolas" pitchFamily="34" charset="0"/>
                <a:ea typeface="Consolas" pitchFamily="34" charset="-122"/>
                <a:cs typeface="Consolas" pitchFamily="34" charset="-120"/>
              </a:rPr>
              <a:t>RADICAL_ORBIT_RHAPSODY_BACKEND=concurrent \</a:t>
            </a:r>
            <a:endParaRPr lang="en-US" sz="1000" dirty="0"/>
          </a:p>
          <a:p>
            <a:pPr indent="0" marL="0">
              <a:lnSpc>
                <a:spcPts val="1263"/>
              </a:lnSpc>
              <a:buNone/>
            </a:pPr>
            <a:r>
              <a:rPr lang="en-US" sz="1000" dirty="0">
                <a:solidFill>
                  <a:srgbClr val="DCE5EC"/>
                </a:solidFill>
                <a:latin typeface="Consolas" pitchFamily="34" charset="0"/>
                <a:ea typeface="Consolas" pitchFamily="34" charset="-122"/>
                <a:cs typeface="Consolas" pitchFamily="34" charset="-120"/>
              </a:rPr>
              <a:t>radical-orbit-endpoint.py --name local -p rhapsody,psij \</a:t>
            </a:r>
            <a:endParaRPr lang="en-US" sz="1000" dirty="0"/>
          </a:p>
          <a:p>
            <a:pPr indent="0" marL="0">
              <a:lnSpc>
                <a:spcPts val="1263"/>
              </a:lnSpc>
              <a:buNone/>
            </a:pPr>
            <a:r>
              <a:rPr lang="en-US" sz="1000" dirty="0">
                <a:solidFill>
                  <a:srgbClr val="DCE5EC"/>
                </a:solidFill>
                <a:latin typeface="Consolas" pitchFamily="34" charset="0"/>
                <a:ea typeface="Consolas" pitchFamily="34" charset="-122"/>
                <a:cs typeface="Consolas" pitchFamily="34" charset="-120"/>
              </a:rPr>
              <a:t>    --url https://127.0.0.1:N --cert cert.pem</a:t>
            </a:r>
            <a:endParaRPr lang="en-US" sz="1000" dirty="0"/>
          </a:p>
        </p:txBody>
      </p:sp>
      <p:sp>
        <p:nvSpPr>
          <p:cNvPr id="6" name="Text 4"/>
          <p:cNvSpPr txBox="1"/>
          <p:nvPr/>
        </p:nvSpPr>
        <p:spPr>
          <a:xfrm>
            <a:off x="457200" y="3730752"/>
            <a:ext cx="6949440" cy="201168"/>
          </a:xfrm>
          <a:prstGeom prst="rect">
            <a:avLst/>
          </a:prstGeom>
          <a:noFill/>
          <a:ln/>
        </p:spPr>
        <p:txBody>
          <a:bodyPr wrap="square" lIns="0" tIns="0" rIns="0" bIns="0" rtlCol="0" anchor="t"/>
          <a:lstStyle/>
          <a:p>
            <a:pPr algn="r" indent="0" marL="0">
              <a:buNone/>
            </a:pPr>
            <a:r>
              <a:rPr lang="en-US" sz="850" dirty="0">
                <a:solidFill>
                  <a:srgbClr val="5E6B75"/>
                </a:solidFill>
                <a:latin typeface="Consolas" pitchFamily="34" charset="0"/>
                <a:ea typeface="Consolas" pitchFamily="34" charset="-122"/>
                <a:cs typeface="Consolas" pitchFamily="34" charset="-120"/>
              </a:rPr>
              <a:t>tasks/hpc/local_orbit.py  ·  EDITED for the slide</a:t>
            </a:r>
            <a:endParaRPr lang="en-US" sz="850" dirty="0"/>
          </a:p>
        </p:txBody>
      </p:sp>
      <p:sp>
        <p:nvSpPr>
          <p:cNvPr id="7" name="Shape 5"/>
          <p:cNvSpPr/>
          <p:nvPr/>
        </p:nvSpPr>
        <p:spPr>
          <a:xfrm>
            <a:off x="7680960" y="1417320"/>
            <a:ext cx="4507992" cy="1097280"/>
          </a:xfrm>
          <a:prstGeom prst="rect">
            <a:avLst/>
          </a:prstGeom>
          <a:solidFill>
            <a:srgbClr val="F9E0DD"/>
          </a:solidFill>
          <a:ln w="12700">
            <a:solidFill>
              <a:srgbClr val="F9E0DD"/>
            </a:solidFill>
            <a:prstDash val="solid"/>
          </a:ln>
        </p:spPr>
      </p:sp>
      <p:sp>
        <p:nvSpPr>
          <p:cNvPr id="8" name="Text 6"/>
          <p:cNvSpPr txBox="1"/>
          <p:nvPr/>
        </p:nvSpPr>
        <p:spPr>
          <a:xfrm>
            <a:off x="7818120" y="1508760"/>
            <a:ext cx="4233672" cy="274320"/>
          </a:xfrm>
          <a:prstGeom prst="rect">
            <a:avLst/>
          </a:prstGeom>
          <a:noFill/>
          <a:ln/>
        </p:spPr>
        <p:txBody>
          <a:bodyPr wrap="square" lIns="0" tIns="0" rIns="0" bIns="0" rtlCol="0" anchor="t"/>
          <a:lstStyle/>
          <a:p>
            <a:pPr indent="0" marL="0">
              <a:buNone/>
            </a:pPr>
            <a:r>
              <a:rPr lang="en-US" sz="1300" b="1" dirty="0">
                <a:solidFill>
                  <a:srgbClr val="C0392B"/>
                </a:solidFill>
                <a:latin typeface="Calibri" pitchFamily="34" charset="0"/>
                <a:ea typeface="Calibri" pitchFamily="34" charset="-122"/>
                <a:cs typeface="Calibri" pitchFamily="34" charset="-120"/>
              </a:rPr>
              <a:t>Readiness</a:t>
            </a:r>
            <a:endParaRPr lang="en-US" sz="1300" dirty="0"/>
          </a:p>
        </p:txBody>
      </p:sp>
      <p:sp>
        <p:nvSpPr>
          <p:cNvPr id="9" name="Text 7"/>
          <p:cNvSpPr txBox="1"/>
          <p:nvPr/>
        </p:nvSpPr>
        <p:spPr>
          <a:xfrm>
            <a:off x="7818120" y="1828800"/>
            <a:ext cx="4233672" cy="5943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There is no HTTP topology route — /topology reads as a plugin name and 404s.</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stack greps the endpoint's own log for registered as '&lt;name&gt;'.</a:t>
            </a:r>
            <a:endParaRPr lang="en-US" sz="1050" dirty="0"/>
          </a:p>
        </p:txBody>
      </p:sp>
      <p:sp>
        <p:nvSpPr>
          <p:cNvPr id="10" name="Shape 8"/>
          <p:cNvSpPr/>
          <p:nvPr/>
        </p:nvSpPr>
        <p:spPr>
          <a:xfrm>
            <a:off x="7680960" y="2651760"/>
            <a:ext cx="4507992" cy="1051560"/>
          </a:xfrm>
          <a:prstGeom prst="rect">
            <a:avLst/>
          </a:prstGeom>
          <a:solidFill>
            <a:srgbClr val="EEF2F5"/>
          </a:solidFill>
          <a:ln w="12700">
            <a:solidFill>
              <a:srgbClr val="EEF2F5"/>
            </a:solidFill>
            <a:prstDash val="solid"/>
          </a:ln>
        </p:spPr>
      </p:sp>
      <p:sp>
        <p:nvSpPr>
          <p:cNvPr id="11" name="Text 9"/>
          <p:cNvSpPr txBox="1"/>
          <p:nvPr/>
        </p:nvSpPr>
        <p:spPr>
          <a:xfrm>
            <a:off x="7818120" y="2743200"/>
            <a:ext cx="4233672"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Then the client decides</a:t>
            </a:r>
            <a:endParaRPr lang="en-US" sz="1300" dirty="0"/>
          </a:p>
        </p:txBody>
      </p:sp>
      <p:sp>
        <p:nvSpPr>
          <p:cNvPr id="12" name="Text 10"/>
          <p:cNvSpPr txBox="1"/>
          <p:nvPr/>
        </p:nvSpPr>
        <p:spPr>
          <a:xfrm>
            <a:off x="7818120" y="3063240"/>
            <a:ext cx="4233672" cy="5486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OrbitInterface.connect() polls rt.topology() until the endpoint appears, bounded by connect_timeout — topology propagates asynchronously.</a:t>
            </a:r>
            <a:endParaRPr lang="en-US" sz="1050" dirty="0"/>
          </a:p>
        </p:txBody>
      </p:sp>
      <p:sp>
        <p:nvSpPr>
          <p:cNvPr id="13" name="Shape 11"/>
          <p:cNvSpPr/>
          <p:nvPr/>
        </p:nvSpPr>
        <p:spPr>
          <a:xfrm>
            <a:off x="457200" y="3931920"/>
            <a:ext cx="5669280" cy="1554480"/>
          </a:xfrm>
          <a:prstGeom prst="rect">
            <a:avLst/>
          </a:prstGeom>
          <a:solidFill>
            <a:srgbClr val="FCEBDD"/>
          </a:solidFill>
          <a:ln w="12700">
            <a:solidFill>
              <a:srgbClr val="FCEBDD"/>
            </a:solidFill>
            <a:prstDash val="solid"/>
          </a:ln>
        </p:spPr>
      </p:sp>
      <p:sp>
        <p:nvSpPr>
          <p:cNvPr id="14" name="Text 12"/>
          <p:cNvSpPr txBox="1"/>
          <p:nvPr/>
        </p:nvSpPr>
        <p:spPr>
          <a:xfrm>
            <a:off x="594360" y="4023360"/>
            <a:ext cx="5394960" cy="274320"/>
          </a:xfrm>
          <a:prstGeom prst="rect">
            <a:avLst/>
          </a:prstGeom>
          <a:noFill/>
          <a:ln/>
        </p:spPr>
        <p:txBody>
          <a:bodyPr wrap="square" lIns="0" tIns="0" rIns="0" bIns="0" rtlCol="0" anchor="t"/>
          <a:lstStyle/>
          <a:p>
            <a:pPr indent="0" marL="0">
              <a:buNone/>
            </a:pPr>
            <a:r>
              <a:rPr lang="en-US" sz="1300" b="1" dirty="0">
                <a:solidFill>
                  <a:srgbClr val="D9731A"/>
                </a:solidFill>
                <a:latin typeface="Calibri" pitchFamily="34" charset="0"/>
                <a:ea typeface="Calibri" pitchFamily="34" charset="-122"/>
                <a:cs typeface="Calibri" pitchFamily="34" charset="-120"/>
              </a:rPr>
              <a:t>Why subprocesses, not EmbeddedBroker</a:t>
            </a:r>
            <a:endParaRPr lang="en-US" sz="1300" dirty="0"/>
          </a:p>
        </p:txBody>
      </p:sp>
      <p:sp>
        <p:nvSpPr>
          <p:cNvPr id="15" name="Text 13"/>
          <p:cNvSpPr txBox="1"/>
          <p:nvPr/>
        </p:nvSpPr>
        <p:spPr>
          <a:xfrm>
            <a:off x="594360" y="4343400"/>
            <a:ext cx="5394960" cy="10515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The embedded broker expects operator-placed credentials in ~/.radical/orbit, which a test must not create or touch.</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Subprocesses with a throwaway cert keep the whole thing inside tmp_path and leave no state behind.</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Cost: the stack has to detect readiness from logs, which is the fragile part of the fixture.</a:t>
            </a:r>
            <a:endParaRPr lang="en-US" sz="1050" dirty="0"/>
          </a:p>
        </p:txBody>
      </p:sp>
      <p:sp>
        <p:nvSpPr>
          <p:cNvPr id="16" name="Shape 14"/>
          <p:cNvSpPr/>
          <p:nvPr/>
        </p:nvSpPr>
        <p:spPr>
          <a:xfrm>
            <a:off x="6400800" y="3931920"/>
            <a:ext cx="5788152" cy="1554480"/>
          </a:xfrm>
          <a:prstGeom prst="rect">
            <a:avLst/>
          </a:prstGeom>
          <a:solidFill>
            <a:srgbClr val="EEF2F5"/>
          </a:solidFill>
          <a:ln w="12700">
            <a:solidFill>
              <a:srgbClr val="EEF2F5"/>
            </a:solidFill>
            <a:prstDash val="solid"/>
          </a:ln>
        </p:spPr>
      </p:sp>
      <p:sp>
        <p:nvSpPr>
          <p:cNvPr id="17" name="Text 15"/>
          <p:cNvSpPr txBox="1"/>
          <p:nvPr/>
        </p:nvSpPr>
        <p:spPr>
          <a:xfrm>
            <a:off x="6537960" y="4023360"/>
            <a:ext cx="5513832" cy="274320"/>
          </a:xfrm>
          <a:prstGeom prst="rect">
            <a:avLst/>
          </a:prstGeom>
          <a:noFill/>
          <a:ln/>
        </p:spPr>
        <p:txBody>
          <a:bodyPr wrap="square" lIns="0" tIns="0" rIns="0" bIns="0" rtlCol="0" anchor="t"/>
          <a:lstStyle/>
          <a:p>
            <a:pPr indent="0" marL="0">
              <a:buNone/>
            </a:pPr>
            <a:r>
              <a:rPr lang="en-US" sz="1300" b="1" dirty="0">
                <a:solidFill>
                  <a:srgbClr val="16222B"/>
                </a:solidFill>
                <a:latin typeface="Calibri" pitchFamily="34" charset="0"/>
                <a:ea typeface="Calibri" pitchFamily="34" charset="-122"/>
                <a:cs typeface="Calibri" pitchFamily="34" charset="-120"/>
              </a:rPr>
              <a:t>What the fixture then proves</a:t>
            </a:r>
            <a:endParaRPr lang="en-US" sz="1300" dirty="0"/>
          </a:p>
        </p:txBody>
      </p:sp>
      <p:sp>
        <p:nvSpPr>
          <p:cNvPr id="18" name="Text 16"/>
          <p:cNvSpPr txBox="1"/>
          <p:nvPr/>
        </p:nvSpPr>
        <p:spPr>
          <a:xfrm>
            <a:off x="6537960" y="4343400"/>
            <a:ext cx="5513832" cy="10515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An executable task runs and its stdout comes back (after the get_task re-fetch).</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 bash loop's output tails incrementally — log_offset advances, so it is not refetched whole.</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 job exiting 3 lands FAILED with a non-empty error.</a:t>
            </a:r>
            <a:endParaRPr lang="en-US" sz="1050" dirty="0"/>
          </a:p>
          <a:p>
            <a:pPr marL="342900" indent="-342900">
              <a:spcAft>
                <a:spcPts val="400"/>
              </a:spcAft>
              <a:buSzPct val="100000"/>
              <a:buChar char="•"/>
            </a:pPr>
            <a:r>
              <a:rPr lang="en-US" sz="1050" dirty="0">
                <a:solidFill>
                  <a:srgbClr val="22303C"/>
                </a:solidFill>
                <a:latin typeface="Calibri" pitchFamily="34" charset="0"/>
                <a:ea typeface="Calibri" pitchFamily="34" charset="-122"/>
                <a:cs typeface="Calibri" pitchFamily="34" charset="-120"/>
              </a:rPr>
              <a:t>A sleeping job cancels while running, and reports CANCELED.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chat agent that runs real redesign campaigns</dc:title>
  <dc:subject>PptxGenJS Presentation</dc:subject>
  <dc:creator>designagent</dc:creator>
  <cp:lastModifiedBy>designagent</cp:lastModifiedBy>
  <cp:revision>1</cp:revision>
  <dcterms:created xsi:type="dcterms:W3CDTF">2026-10-02T03:27:39Z</dcterms:created>
  <dcterms:modified xsi:type="dcterms:W3CDTF">2026-10-02T03:27:39Z</dcterms:modified>
</cp:coreProperties>
</file>