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is a code walk, not a results talk. The thing I built is a chatbot for protein redesign: you type a prompt, and behind it a LangGraph loop goes and runs an actual campaign — structure lookups, folds, scoring, a provenance lake, and artifacts you can open.
The reason it's worth your time is the seam in the middle. Long work leaves this process: it goes onto a rhapsody process pool through flowgentic and asyncflow, or off the box entirely through ORBIT. Everything about the design follows from one constraint, which is that a chat interface cannot block on a protein fold.
Every number on these slides comes from a real campaign that is still on disk. I'll be explicit about what has never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Five nodes, matching the spec: coordinator, design initializer, redesign orchestrator, analyst, interpreter.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which is flowgentic over asyncflow over a rhapsody concurrent backend on a four-worker process pool. Then remote: ORBIT solid-but-dotted, meaning it genuinely works and has only ever met a localhost broker; Globus dashed, meaning designed for and not implemented against anything live. Then the three lake tiers.
Two things in the rail. The rule that nodes only ever reach through Deps is what makes 83 of the 89 tests run with no network and no pool. And the band that crosses into asyncflow is exactly one: the local task interface. Everything above it is ordinary async Python, which is deliberate — I wanted the middleware dependency confined to a layer I could swap or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in your favour and against a default. Round two ran from 13.2 to 42.4 seconds. flowgentic's RetryConfig defaults to a 30-second per-attempt timeout with three attempts, so with the defaults roughly half of these folds would have been cancelled and silently retried. I'll come back to that.
The blue lookups show the initializer's concurrency: PDB and UniProt together, a cross-reference follow-up, then structure and literature together.
And the bottom right is not a contrived example. ESM Atlas genuinely dropped one of six requests. That design came through as sequence-only, got four metrics instead of eleven, the other five scored normally, and the user saw a warning. I did not have to construct a failure to talk about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the flowgentic wrapper for FUNCTION_TASK is a coroutine function rather than a future factory, so we wrap it in ensure_future. That comment exists because I got it wrong first and blocked the loop.
Top right: the pool imposes three real constraints. Bodies at module level, clients built inside the body, and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Every client method is synchronous and blocking, so all 23 call sites go through to_thread. And push callbacks arrive on Orbit's own listener thread, so _dispatch hops them onto our loop with call_soon_threadsafe. Neither is a complaint; they are just facts you need to know before you build on this.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six tests against a real localhost broker and endpoint, covering push states, incremental tailing, a failing job and cancelling a running one. It has never met a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 rows, two round analyses. The method I would point at is best_designs, which can exclude the current campaign — that is how the interpreter finds comparable prior work without rediscovering its own designs.
Tier three is Parquet plus a manifest. Eleven rows from twelve designs, because the curation rules deduplicate sequences, and the manifest records the rules so the set is reproducible rather than just present.
The bottom line is a small thing I only noticed when building this deck: only tier one needs a running process to read. Tiers two and three are just files, which is why the script that produced these numbers could read them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one I want to dwell on is the fifth row. During a live run I hit "attempt to write a readonly database" from SQLite. The cause was mine — I deleted a data directory under a running server — so it was not a product bug. But it exposed something real: the analyst was writing to the lake unguarded, which meant a storage problem could lose a round of work the user had already waited two minutes for.
The fix is the code at the bottom. Each tier write is guarded independently, a failure falls back to ranking in memory, and the error goes into a warnings channel that survives the turn. The interpreter then appends a "Caveats from this run" section to its reply, so the user is told rather than silently given a thinner answer. There is a test that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because of a bug class people hit constantly: a network chunk boundary lands in the middle of an SSE frame, so you hold partial frames in a buffer until you see a blank line. And a malformed frame is skipped rather than killing the stream.
The viewer: rcsb-molstar from the CDN, loader cached on window so one fetch serves every mount, one viewer per mount, resize observed. Two things bit me — createComponent takes no colour, so colours have to go through a plugin call to update the representation theme; and the analyst inlines coordinates as a JSON artifact so the viewer does not need a second authenticated fetch.
Last line is the honest one. I had no browser in the session where I built this. I verified the dev server, the proxy, a real artifact fetched through it, and that the Mol* assets return 200 with CORS. Whether the canvas draws is the one thing I am asking someone to eyeball.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Three commands to run it, two to test it, and no configuration step that has to succeed first.
The test split is the part I would defend. 83 of the 89 tests need no network, no process pool and no endpoint. That is a direct consequence of the rule from the architecture slide — nodes only reach the outside through Deps — so the suite hands them an in-process task manager and a temp-directory lake and the whole graph runs in under a second.
The six that genuinely need a substrate are marked live and bring up their own broker and endpoint as subprocesses. They are not mocks of ORBIT; they are ORBIT, on localhost.
What I would call out in the middle column is that test_graph covers the classifier with eighteen parametrized cases. That is there because two real bugs hid in it: "what is the lead design?" classified as a design request because it contains the word design, and "make it more stable" classified as chat because it matched nothing at all. Both are the kind of bug an LLM path would have masked and the rule path makes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Two columns. Left is what runs end to end against something real, right is what is built and has never run for real.
Left, briefly: the loop, two rounds, routed by the improvement test. The query interface against live RCSB, UniProt and Europe PMC. Twelve real folds on the rhapsody pool, six at a time, reaped out of order. All three lake tiers with the counts you saw. Four artifacts on disk. Streaming working.
Right is the column that matters. ProteinMPNN is a job spec and a FASTA parser; with no endpoint, the orchestrator falls back to a heuristic proposer, and the output says so in a note field rather than quietly implying ProteinMPNN ran. The Globus adapter has never met a live endpoint. ORBIT works, against localhost only — which proves the client path and proves nothing about a queue. ChemGraph has been exercised by tests and never by a campaign. The Mol* canvas has not been looked at by a human.
And the bottom line is the one I would put on a slide even if nobody asked: no HPC endpoint has ever run a task for this agent. Everything I have said about the remote path is a statement about the client, not about HPC.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I built on your stack for two weeks and these are the six things I had to work around. Each one names a file and a line, and the deck's CODE_FOR_DECK.md has the reproduction, so none of this needs to be taken on my word.
One and two are flowgentic. The aiohttp import is, I think, a one-character fix: raise wants to be pass. The retry defaults are a judgement call rather than a bug, but I would argue the default is wrong for the workload flowgentic is most likely to be used for — if you are wrapping agent tasks, some of them are models.
Three through six are ORBIT, and three and four are the ones I would most like fixed, because both of them produce a silent wrong answer rather than an error: an empty result, and a failure with no reason.
Five and six are documentation. I lost an afternoon to --no-auth, because it is a reasonable reading that no auth means no TLS.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DESIGNAGENT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Text 24"/>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e8467e6 · ~7.6k lines backend, 1291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tasks/base.py:146</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app.py:78</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orchestrator.py:249</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analyst.py:154</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nodes, and the nodes do their own routing</a:t>
            </a:r>
            <a:endParaRPr lang="en-US" sz="2800" dirty="0"/>
          </a:p>
        </p:txBody>
      </p:sp>
      <p:sp>
        <p:nvSpPr>
          <p:cNvPr id="4" name="Shape 2"/>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5" name="Text 3"/>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6" name="Shape 4"/>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7" name="Text 5"/>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8" name="Shape 6"/>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0" name="Shape 8"/>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1" name="Text 9"/>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2" name="Shape 10"/>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3" name="Text 11"/>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4" name="Shape 12"/>
          <p:cNvSpPr/>
          <p:nvPr/>
        </p:nvSpPr>
        <p:spPr>
          <a:xfrm flipV="1">
            <a:off x="2377440" y="2697480"/>
            <a:ext cx="475488" cy="1051560"/>
          </a:xfrm>
          <a:prstGeom prst="line">
            <a:avLst/>
          </a:prstGeom>
          <a:noFill/>
          <a:ln w="19050">
            <a:solidFill>
              <a:srgbClr val="3B4E8C"/>
            </a:solidFill>
            <a:prstDash val="solid"/>
            <a:tailEnd type="triangle"/>
          </a:ln>
        </p:spPr>
      </p:sp>
      <p:sp>
        <p:nvSpPr>
          <p:cNvPr id="15" name="Shape 13"/>
          <p:cNvSpPr/>
          <p:nvPr/>
        </p:nvSpPr>
        <p:spPr>
          <a:xfrm>
            <a:off x="4773168" y="2377440"/>
            <a:ext cx="475488" cy="91"/>
          </a:xfrm>
          <a:prstGeom prst="line">
            <a:avLst/>
          </a:prstGeom>
          <a:noFill/>
          <a:ln w="19050">
            <a:solidFill>
              <a:srgbClr val="5E6B75"/>
            </a:solidFill>
            <a:prstDash val="solid"/>
            <a:tailEnd type="triangle"/>
          </a:ln>
        </p:spPr>
      </p:sp>
      <p:sp>
        <p:nvSpPr>
          <p:cNvPr id="16" name="Shape 14"/>
          <p:cNvSpPr/>
          <p:nvPr/>
        </p:nvSpPr>
        <p:spPr>
          <a:xfrm>
            <a:off x="7168896" y="2377440"/>
            <a:ext cx="475488" cy="91"/>
          </a:xfrm>
          <a:prstGeom prst="line">
            <a:avLst/>
          </a:prstGeom>
          <a:noFill/>
          <a:ln w="19050">
            <a:solidFill>
              <a:srgbClr val="5E6B75"/>
            </a:solidFill>
            <a:prstDash val="solid"/>
            <a:tailEnd type="triangle"/>
          </a:ln>
        </p:spPr>
      </p:sp>
      <p:sp>
        <p:nvSpPr>
          <p:cNvPr id="17" name="Shape 15"/>
          <p:cNvSpPr/>
          <p:nvPr/>
        </p:nvSpPr>
        <p:spPr>
          <a:xfrm>
            <a:off x="9564624" y="2377440"/>
            <a:ext cx="475488" cy="91"/>
          </a:xfrm>
          <a:prstGeom prst="line">
            <a:avLst/>
          </a:prstGeom>
          <a:noFill/>
          <a:ln w="19050">
            <a:solidFill>
              <a:srgbClr val="5E6B75"/>
            </a:solidFill>
            <a:prstDash val="solid"/>
            <a:tailEnd type="triangle"/>
          </a:ln>
        </p:spPr>
      </p:sp>
      <p:sp>
        <p:nvSpPr>
          <p:cNvPr id="18" name="Shape 16"/>
          <p:cNvSpPr/>
          <p:nvPr/>
        </p:nvSpPr>
        <p:spPr>
          <a:xfrm>
            <a:off x="8604504" y="2971800"/>
            <a:ext cx="91" cy="384048"/>
          </a:xfrm>
          <a:prstGeom prst="line">
            <a:avLst/>
          </a:prstGeom>
          <a:noFill/>
          <a:ln w="25400">
            <a:solidFill>
              <a:srgbClr val="C0392B"/>
            </a:solidFill>
            <a:prstDash val="solid"/>
          </a:ln>
        </p:spPr>
      </p:sp>
      <p:sp>
        <p:nvSpPr>
          <p:cNvPr id="19" name="Shape 17"/>
          <p:cNvSpPr/>
          <p:nvPr/>
        </p:nvSpPr>
        <p:spPr>
          <a:xfrm flipH="1">
            <a:off x="6208776" y="3355848"/>
            <a:ext cx="2395728" cy="91"/>
          </a:xfrm>
          <a:prstGeom prst="line">
            <a:avLst/>
          </a:prstGeom>
          <a:noFill/>
          <a:ln w="25400">
            <a:solidFill>
              <a:srgbClr val="C0392B"/>
            </a:solidFill>
            <a:prstDash val="solid"/>
          </a:ln>
        </p:spPr>
      </p:sp>
      <p:sp>
        <p:nvSpPr>
          <p:cNvPr id="20" name="Shape 18"/>
          <p:cNvSpPr/>
          <p:nvPr/>
        </p:nvSpPr>
        <p:spPr>
          <a:xfrm flipV="1">
            <a:off x="6208776" y="2971800"/>
            <a:ext cx="91" cy="384048"/>
          </a:xfrm>
          <a:prstGeom prst="line">
            <a:avLst/>
          </a:prstGeom>
          <a:noFill/>
          <a:ln w="25400">
            <a:solidFill>
              <a:srgbClr val="C0392B"/>
            </a:solidFill>
            <a:prstDash val="solid"/>
            <a:tailEnd type="triangle"/>
          </a:ln>
        </p:spPr>
      </p:sp>
      <p:sp>
        <p:nvSpPr>
          <p:cNvPr id="21" name="Text 19"/>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2" name="Shape 20"/>
          <p:cNvSpPr/>
          <p:nvPr/>
        </p:nvSpPr>
        <p:spPr>
          <a:xfrm>
            <a:off x="1417320" y="4343400"/>
            <a:ext cx="91" cy="91440"/>
          </a:xfrm>
          <a:prstGeom prst="line">
            <a:avLst/>
          </a:prstGeom>
          <a:noFill/>
          <a:ln w="19050">
            <a:solidFill>
              <a:srgbClr val="3B4E8C"/>
            </a:solidFill>
            <a:prstDash val="solid"/>
          </a:ln>
        </p:spPr>
      </p:sp>
      <p:sp>
        <p:nvSpPr>
          <p:cNvPr id="23" name="Shape 21"/>
          <p:cNvSpPr/>
          <p:nvPr/>
        </p:nvSpPr>
        <p:spPr>
          <a:xfrm>
            <a:off x="1417320" y="4041648"/>
            <a:ext cx="4471416" cy="91"/>
          </a:xfrm>
          <a:prstGeom prst="line">
            <a:avLst/>
          </a:prstGeom>
          <a:noFill/>
          <a:ln w="19050">
            <a:solidFill>
              <a:srgbClr val="3B4E8C"/>
            </a:solidFill>
            <a:prstDash val="solid"/>
          </a:ln>
        </p:spPr>
      </p:sp>
      <p:sp>
        <p:nvSpPr>
          <p:cNvPr id="24" name="Shape 22"/>
          <p:cNvSpPr/>
          <p:nvPr/>
        </p:nvSpPr>
        <p:spPr>
          <a:xfrm flipV="1">
            <a:off x="5888736" y="2990088"/>
            <a:ext cx="91" cy="1051560"/>
          </a:xfrm>
          <a:prstGeom prst="line">
            <a:avLst/>
          </a:prstGeom>
          <a:noFill/>
          <a:ln w="19050">
            <a:solidFill>
              <a:srgbClr val="3B4E8C"/>
            </a:solidFill>
            <a:prstDash val="solid"/>
            <a:tailEnd type="triangle"/>
          </a:ln>
        </p:spPr>
      </p:sp>
      <p:sp>
        <p:nvSpPr>
          <p:cNvPr id="25" name="Text 23"/>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6" name="Shape 24"/>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7" name="Text 25"/>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8" name="Shape 26"/>
          <p:cNvSpPr/>
          <p:nvPr/>
        </p:nvSpPr>
        <p:spPr>
          <a:xfrm>
            <a:off x="11000232" y="2971800"/>
            <a:ext cx="91" cy="1261872"/>
          </a:xfrm>
          <a:prstGeom prst="line">
            <a:avLst/>
          </a:prstGeom>
          <a:noFill/>
          <a:ln w="19050">
            <a:solidFill>
              <a:srgbClr val="7A4A8C"/>
            </a:solidFill>
            <a:prstDash val="solid"/>
            <a:tailEnd type="triangle"/>
          </a:ln>
        </p:spPr>
      </p:sp>
      <p:sp>
        <p:nvSpPr>
          <p:cNvPr id="29" name="Shape 27"/>
          <p:cNvSpPr/>
          <p:nvPr/>
        </p:nvSpPr>
        <p:spPr>
          <a:xfrm>
            <a:off x="1417320" y="4434840"/>
            <a:ext cx="9290304" cy="91"/>
          </a:xfrm>
          <a:prstGeom prst="line">
            <a:avLst/>
          </a:prstGeom>
          <a:noFill/>
          <a:ln w="19050">
            <a:solidFill>
              <a:srgbClr val="3B4E8C"/>
            </a:solidFill>
            <a:prstDash val="solid"/>
            <a:tailEnd type="triangle"/>
          </a:ln>
        </p:spPr>
      </p:sp>
      <p:sp>
        <p:nvSpPr>
          <p:cNvPr id="30" name="Text 28"/>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1" name="Shape 29"/>
          <p:cNvSpPr/>
          <p:nvPr/>
        </p:nvSpPr>
        <p:spPr>
          <a:xfrm>
            <a:off x="457200" y="5029200"/>
            <a:ext cx="6766560" cy="1325880"/>
          </a:xfrm>
          <a:prstGeom prst="rect">
            <a:avLst/>
          </a:prstGeom>
          <a:solidFill>
            <a:srgbClr val="16222B"/>
          </a:solidFill>
          <a:ln w="12700">
            <a:solidFill>
              <a:srgbClr val="16222B"/>
            </a:solidFill>
            <a:prstDash val="solid"/>
          </a:ln>
        </p:spPr>
      </p:sp>
      <p:sp>
        <p:nvSpPr>
          <p:cNvPr id="32" name="Text 30"/>
          <p:cNvSpPr txBox="1"/>
          <p:nvPr/>
        </p:nvSpPr>
        <p:spPr>
          <a:xfrm>
            <a:off x="566928" y="5129784"/>
            <a:ext cx="6547104" cy="1124712"/>
          </a:xfrm>
          <a:prstGeom prst="rect">
            <a:avLst/>
          </a:prstGeom>
          <a:noFill/>
          <a:ln/>
        </p:spPr>
        <p:txBody>
          <a:bodyPr wrap="square" lIns="0" tIns="0" rIns="0" bIns="0" rtlCol="0" anchor="t"/>
          <a:lstStyle/>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destinations = {</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"coordinator":  ("initializer", "orchestrator",</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"initializer":  ("orchestrator",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"orchestrator":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("orchestrator",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builder.add_edge(START, "coordinator")   # the only static edge</a:t>
            </a:r>
            <a:endParaRPr lang="en-US" sz="787" dirty="0"/>
          </a:p>
        </p:txBody>
      </p:sp>
      <p:sp>
        <p:nvSpPr>
          <p:cNvPr id="33" name="Text 31"/>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graph/build.py:99–114  ·  VERBATIM</a:t>
            </a:r>
            <a:endParaRPr lang="en-US" sz="850" dirty="0"/>
          </a:p>
        </p:txBody>
      </p:sp>
      <p:sp>
        <p:nvSpPr>
          <p:cNvPr id="34" name="Shape 32"/>
          <p:cNvSpPr/>
          <p:nvPr/>
        </p:nvSpPr>
        <p:spPr>
          <a:xfrm>
            <a:off x="7498080" y="5029200"/>
            <a:ext cx="4690872" cy="1325880"/>
          </a:xfrm>
          <a:prstGeom prst="rect">
            <a:avLst/>
          </a:prstGeom>
          <a:solidFill>
            <a:srgbClr val="E9EDF7"/>
          </a:solidFill>
          <a:ln w="12700">
            <a:solidFill>
              <a:srgbClr val="E9EDF7"/>
            </a:solidFill>
            <a:prstDash val="solid"/>
          </a:ln>
        </p:spPr>
      </p:sp>
      <p:sp>
        <p:nvSpPr>
          <p:cNvPr id="35" name="Text 33"/>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6" name="Text 34"/>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ysDot"/>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83 of 89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graph/state.py:160–188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orchestrator.py:249–253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84125"/>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912925"/>
            <a:ext cx="267024" cy="84125"/>
          </a:xfrm>
          <a:prstGeom prst="rect">
            <a:avLst/>
          </a:prstGeom>
          <a:solidFill>
            <a:srgbClr val="1E6470"/>
          </a:solidFill>
          <a:ln w="12700">
            <a:solidFill>
              <a:srgbClr val="1E6470"/>
            </a:solidFill>
            <a:prstDash val="solid"/>
          </a:ln>
        </p:spPr>
      </p:sp>
      <p:sp>
        <p:nvSpPr>
          <p:cNvPr id="8" name="Text 6"/>
          <p:cNvSpPr txBox="1"/>
          <p:nvPr/>
        </p:nvSpPr>
        <p:spPr>
          <a:xfrm>
            <a:off x="457200" y="189920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9920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2029054"/>
            <a:ext cx="34782" cy="84125"/>
          </a:xfrm>
          <a:prstGeom prst="rect">
            <a:avLst/>
          </a:prstGeom>
          <a:solidFill>
            <a:srgbClr val="1E6470"/>
          </a:solidFill>
          <a:ln w="12700">
            <a:solidFill>
              <a:srgbClr val="1E6470"/>
            </a:solidFill>
            <a:prstDash val="solid"/>
          </a:ln>
        </p:spPr>
      </p:sp>
      <p:sp>
        <p:nvSpPr>
          <p:cNvPr id="11" name="Text 9"/>
          <p:cNvSpPr txBox="1"/>
          <p:nvPr/>
        </p:nvSpPr>
        <p:spPr>
          <a:xfrm>
            <a:off x="457200" y="201533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201533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145182"/>
            <a:ext cx="32004" cy="84125"/>
          </a:xfrm>
          <a:prstGeom prst="rect">
            <a:avLst/>
          </a:prstGeom>
          <a:solidFill>
            <a:srgbClr val="1E6470"/>
          </a:solidFill>
          <a:ln w="12700">
            <a:solidFill>
              <a:srgbClr val="1E6470"/>
            </a:solidFill>
            <a:prstDash val="solid"/>
          </a:ln>
        </p:spPr>
      </p:sp>
      <p:sp>
        <p:nvSpPr>
          <p:cNvPr id="14" name="Text 12"/>
          <p:cNvSpPr txBox="1"/>
          <p:nvPr/>
        </p:nvSpPr>
        <p:spPr>
          <a:xfrm>
            <a:off x="457200" y="213146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13146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261311"/>
            <a:ext cx="119271" cy="84125"/>
          </a:xfrm>
          <a:prstGeom prst="rect">
            <a:avLst/>
          </a:prstGeom>
          <a:solidFill>
            <a:srgbClr val="1E6470"/>
          </a:solidFill>
          <a:ln w="12700">
            <a:solidFill>
              <a:srgbClr val="1E6470"/>
            </a:solidFill>
            <a:prstDash val="solid"/>
          </a:ln>
        </p:spPr>
      </p:sp>
      <p:sp>
        <p:nvSpPr>
          <p:cNvPr id="17" name="Text 15"/>
          <p:cNvSpPr txBox="1"/>
          <p:nvPr/>
        </p:nvSpPr>
        <p:spPr>
          <a:xfrm>
            <a:off x="457200" y="224759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24759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377440"/>
            <a:ext cx="32004" cy="84125"/>
          </a:xfrm>
          <a:prstGeom prst="rect">
            <a:avLst/>
          </a:prstGeom>
          <a:solidFill>
            <a:srgbClr val="2E7D5B"/>
          </a:solidFill>
          <a:ln w="12700">
            <a:solidFill>
              <a:srgbClr val="2E7D5B"/>
            </a:solidFill>
            <a:prstDash val="solid"/>
          </a:ln>
        </p:spPr>
      </p:sp>
      <p:sp>
        <p:nvSpPr>
          <p:cNvPr id="20" name="Text 18"/>
          <p:cNvSpPr txBox="1"/>
          <p:nvPr/>
        </p:nvSpPr>
        <p:spPr>
          <a:xfrm>
            <a:off x="457200" y="236372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36372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493569"/>
            <a:ext cx="982512" cy="84125"/>
          </a:xfrm>
          <a:prstGeom prst="rect">
            <a:avLst/>
          </a:prstGeom>
          <a:solidFill>
            <a:srgbClr val="D9731A"/>
          </a:solidFill>
          <a:ln w="12700">
            <a:solidFill>
              <a:srgbClr val="D9731A"/>
            </a:solidFill>
            <a:prstDash val="solid"/>
          </a:ln>
        </p:spPr>
      </p:sp>
      <p:sp>
        <p:nvSpPr>
          <p:cNvPr id="23" name="Text 21"/>
          <p:cNvSpPr txBox="1"/>
          <p:nvPr/>
        </p:nvSpPr>
        <p:spPr>
          <a:xfrm>
            <a:off x="457200" y="247985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47985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609698"/>
            <a:ext cx="1223792" cy="84125"/>
          </a:xfrm>
          <a:prstGeom prst="rect">
            <a:avLst/>
          </a:prstGeom>
          <a:solidFill>
            <a:srgbClr val="D9731A"/>
          </a:solidFill>
          <a:ln w="12700">
            <a:solidFill>
              <a:srgbClr val="D9731A"/>
            </a:solidFill>
            <a:prstDash val="solid"/>
          </a:ln>
        </p:spPr>
      </p:sp>
      <p:sp>
        <p:nvSpPr>
          <p:cNvPr id="26" name="Text 24"/>
          <p:cNvSpPr txBox="1"/>
          <p:nvPr/>
        </p:nvSpPr>
        <p:spPr>
          <a:xfrm>
            <a:off x="457200" y="259598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59598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725826"/>
            <a:ext cx="1780709" cy="84125"/>
          </a:xfrm>
          <a:prstGeom prst="rect">
            <a:avLst/>
          </a:prstGeom>
          <a:solidFill>
            <a:srgbClr val="D9731A"/>
          </a:solidFill>
          <a:ln w="12700">
            <a:solidFill>
              <a:srgbClr val="D9731A"/>
            </a:solidFill>
            <a:prstDash val="solid"/>
          </a:ln>
        </p:spPr>
      </p:sp>
      <p:sp>
        <p:nvSpPr>
          <p:cNvPr id="29" name="Text 27"/>
          <p:cNvSpPr txBox="1"/>
          <p:nvPr/>
        </p:nvSpPr>
        <p:spPr>
          <a:xfrm>
            <a:off x="457200" y="271211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71211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841955"/>
            <a:ext cx="910073" cy="84125"/>
          </a:xfrm>
          <a:prstGeom prst="rect">
            <a:avLst/>
          </a:prstGeom>
          <a:solidFill>
            <a:srgbClr val="D9731A"/>
          </a:solidFill>
          <a:ln w="12700">
            <a:solidFill>
              <a:srgbClr val="D9731A"/>
            </a:solidFill>
            <a:prstDash val="solid"/>
          </a:ln>
        </p:spPr>
      </p:sp>
      <p:sp>
        <p:nvSpPr>
          <p:cNvPr id="32" name="Text 30"/>
          <p:cNvSpPr txBox="1"/>
          <p:nvPr/>
        </p:nvSpPr>
        <p:spPr>
          <a:xfrm>
            <a:off x="457200" y="282823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82823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958084"/>
            <a:ext cx="1909771" cy="84125"/>
          </a:xfrm>
          <a:prstGeom prst="rect">
            <a:avLst/>
          </a:prstGeom>
          <a:solidFill>
            <a:srgbClr val="D9731A"/>
          </a:solidFill>
          <a:ln w="12700">
            <a:solidFill>
              <a:srgbClr val="D9731A"/>
            </a:solidFill>
            <a:prstDash val="solid"/>
          </a:ln>
        </p:spPr>
      </p:sp>
      <p:sp>
        <p:nvSpPr>
          <p:cNvPr id="35" name="Text 33"/>
          <p:cNvSpPr txBox="1"/>
          <p:nvPr/>
        </p:nvSpPr>
        <p:spPr>
          <a:xfrm>
            <a:off x="457200" y="294436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94436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3074213"/>
            <a:ext cx="2169811" cy="84125"/>
          </a:xfrm>
          <a:prstGeom prst="rect">
            <a:avLst/>
          </a:prstGeom>
          <a:solidFill>
            <a:srgbClr val="D9731A"/>
          </a:solidFill>
          <a:ln w="12700">
            <a:solidFill>
              <a:srgbClr val="D9731A"/>
            </a:solidFill>
            <a:prstDash val="solid"/>
          </a:ln>
        </p:spPr>
      </p:sp>
      <p:sp>
        <p:nvSpPr>
          <p:cNvPr id="38" name="Text 36"/>
          <p:cNvSpPr txBox="1"/>
          <p:nvPr/>
        </p:nvSpPr>
        <p:spPr>
          <a:xfrm>
            <a:off x="457200" y="306049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306049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3190342"/>
            <a:ext cx="32004" cy="84125"/>
          </a:xfrm>
          <a:prstGeom prst="rect">
            <a:avLst/>
          </a:prstGeom>
          <a:solidFill>
            <a:srgbClr val="3B4E8C"/>
          </a:solidFill>
          <a:ln w="12700">
            <a:solidFill>
              <a:srgbClr val="3B4E8C"/>
            </a:solidFill>
            <a:prstDash val="solid"/>
          </a:ln>
        </p:spPr>
      </p:sp>
      <p:sp>
        <p:nvSpPr>
          <p:cNvPr id="41" name="Text 39"/>
          <p:cNvSpPr txBox="1"/>
          <p:nvPr/>
        </p:nvSpPr>
        <p:spPr>
          <a:xfrm>
            <a:off x="457200" y="317662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317662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306470"/>
            <a:ext cx="32004" cy="84125"/>
          </a:xfrm>
          <a:prstGeom prst="rect">
            <a:avLst/>
          </a:prstGeom>
          <a:solidFill>
            <a:srgbClr val="3B4E8C"/>
          </a:solidFill>
          <a:ln w="12700">
            <a:solidFill>
              <a:srgbClr val="3B4E8C"/>
            </a:solidFill>
            <a:prstDash val="solid"/>
          </a:ln>
        </p:spPr>
      </p:sp>
      <p:sp>
        <p:nvSpPr>
          <p:cNvPr id="44" name="Text 42"/>
          <p:cNvSpPr txBox="1"/>
          <p:nvPr/>
        </p:nvSpPr>
        <p:spPr>
          <a:xfrm>
            <a:off x="457200" y="329275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29275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422599"/>
            <a:ext cx="32004" cy="84125"/>
          </a:xfrm>
          <a:prstGeom prst="rect">
            <a:avLst/>
          </a:prstGeom>
          <a:solidFill>
            <a:srgbClr val="3B4E8C"/>
          </a:solidFill>
          <a:ln w="12700">
            <a:solidFill>
              <a:srgbClr val="3B4E8C"/>
            </a:solidFill>
            <a:prstDash val="solid"/>
          </a:ln>
        </p:spPr>
      </p:sp>
      <p:sp>
        <p:nvSpPr>
          <p:cNvPr id="47" name="Text 45"/>
          <p:cNvSpPr txBox="1"/>
          <p:nvPr/>
        </p:nvSpPr>
        <p:spPr>
          <a:xfrm>
            <a:off x="457200" y="340888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40888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538728"/>
            <a:ext cx="32004" cy="84125"/>
          </a:xfrm>
          <a:prstGeom prst="rect">
            <a:avLst/>
          </a:prstGeom>
          <a:solidFill>
            <a:srgbClr val="3B4E8C"/>
          </a:solidFill>
          <a:ln w="12700">
            <a:solidFill>
              <a:srgbClr val="3B4E8C"/>
            </a:solidFill>
            <a:prstDash val="solid"/>
          </a:ln>
        </p:spPr>
      </p:sp>
      <p:sp>
        <p:nvSpPr>
          <p:cNvPr id="50" name="Text 48"/>
          <p:cNvSpPr txBox="1"/>
          <p:nvPr/>
        </p:nvSpPr>
        <p:spPr>
          <a:xfrm>
            <a:off x="457200" y="352501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52501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654857"/>
            <a:ext cx="32004" cy="84125"/>
          </a:xfrm>
          <a:prstGeom prst="rect">
            <a:avLst/>
          </a:prstGeom>
          <a:solidFill>
            <a:srgbClr val="3B4E8C"/>
          </a:solidFill>
          <a:ln w="12700">
            <a:solidFill>
              <a:srgbClr val="3B4E8C"/>
            </a:solidFill>
            <a:prstDash val="solid"/>
          </a:ln>
        </p:spPr>
      </p:sp>
      <p:sp>
        <p:nvSpPr>
          <p:cNvPr id="53" name="Text 51"/>
          <p:cNvSpPr txBox="1"/>
          <p:nvPr/>
        </p:nvSpPr>
        <p:spPr>
          <a:xfrm>
            <a:off x="457200" y="364114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64114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770986"/>
            <a:ext cx="32004" cy="84125"/>
          </a:xfrm>
          <a:prstGeom prst="rect">
            <a:avLst/>
          </a:prstGeom>
          <a:solidFill>
            <a:srgbClr val="3B4E8C"/>
          </a:solidFill>
          <a:ln w="12700">
            <a:solidFill>
              <a:srgbClr val="3B4E8C"/>
            </a:solidFill>
            <a:prstDash val="solid"/>
          </a:ln>
        </p:spPr>
      </p:sp>
      <p:sp>
        <p:nvSpPr>
          <p:cNvPr id="56" name="Text 54"/>
          <p:cNvSpPr txBox="1"/>
          <p:nvPr/>
        </p:nvSpPr>
        <p:spPr>
          <a:xfrm>
            <a:off x="457200" y="375727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75727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887114"/>
            <a:ext cx="32004" cy="84125"/>
          </a:xfrm>
          <a:prstGeom prst="rect">
            <a:avLst/>
          </a:prstGeom>
          <a:solidFill>
            <a:srgbClr val="7A4A8C"/>
          </a:solidFill>
          <a:ln w="12700">
            <a:solidFill>
              <a:srgbClr val="7A4A8C"/>
            </a:solidFill>
            <a:prstDash val="solid"/>
          </a:ln>
        </p:spPr>
      </p:sp>
      <p:sp>
        <p:nvSpPr>
          <p:cNvPr id="59" name="Text 57"/>
          <p:cNvSpPr txBox="1"/>
          <p:nvPr/>
        </p:nvSpPr>
        <p:spPr>
          <a:xfrm>
            <a:off x="457200" y="387339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87339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4003243"/>
            <a:ext cx="32004" cy="84125"/>
          </a:xfrm>
          <a:prstGeom prst="rect">
            <a:avLst/>
          </a:prstGeom>
          <a:solidFill>
            <a:srgbClr val="2E7D5B"/>
          </a:solidFill>
          <a:ln w="12700">
            <a:solidFill>
              <a:srgbClr val="2E7D5B"/>
            </a:solidFill>
            <a:prstDash val="solid"/>
          </a:ln>
        </p:spPr>
      </p:sp>
      <p:sp>
        <p:nvSpPr>
          <p:cNvPr id="62" name="Text 60"/>
          <p:cNvSpPr txBox="1"/>
          <p:nvPr/>
        </p:nvSpPr>
        <p:spPr>
          <a:xfrm>
            <a:off x="457200" y="398952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98952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4119372"/>
            <a:ext cx="1772835" cy="84125"/>
          </a:xfrm>
          <a:prstGeom prst="rect">
            <a:avLst/>
          </a:prstGeom>
          <a:solidFill>
            <a:srgbClr val="D9731A"/>
          </a:solidFill>
          <a:ln w="12700">
            <a:solidFill>
              <a:srgbClr val="D9731A"/>
            </a:solidFill>
            <a:prstDash val="solid"/>
          </a:ln>
        </p:spPr>
      </p:sp>
      <p:sp>
        <p:nvSpPr>
          <p:cNvPr id="65" name="Text 63"/>
          <p:cNvSpPr txBox="1"/>
          <p:nvPr/>
        </p:nvSpPr>
        <p:spPr>
          <a:xfrm>
            <a:off x="457200" y="410565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410565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4235501"/>
            <a:ext cx="1765646" cy="84125"/>
          </a:xfrm>
          <a:prstGeom prst="rect">
            <a:avLst/>
          </a:prstGeom>
          <a:solidFill>
            <a:srgbClr val="D9731A"/>
          </a:solidFill>
          <a:ln w="12700">
            <a:solidFill>
              <a:srgbClr val="D9731A"/>
            </a:solidFill>
            <a:prstDash val="solid"/>
          </a:ln>
        </p:spPr>
      </p:sp>
      <p:sp>
        <p:nvSpPr>
          <p:cNvPr id="68" name="Text 66"/>
          <p:cNvSpPr txBox="1"/>
          <p:nvPr/>
        </p:nvSpPr>
        <p:spPr>
          <a:xfrm>
            <a:off x="457200" y="422178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422178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4351630"/>
            <a:ext cx="902679" cy="84125"/>
          </a:xfrm>
          <a:prstGeom prst="rect">
            <a:avLst/>
          </a:prstGeom>
          <a:solidFill>
            <a:srgbClr val="D9731A"/>
          </a:solidFill>
          <a:ln w="12700">
            <a:solidFill>
              <a:srgbClr val="D9731A"/>
            </a:solidFill>
            <a:prstDash val="solid"/>
          </a:ln>
        </p:spPr>
      </p:sp>
      <p:sp>
        <p:nvSpPr>
          <p:cNvPr id="71" name="Text 69"/>
          <p:cNvSpPr txBox="1"/>
          <p:nvPr/>
        </p:nvSpPr>
        <p:spPr>
          <a:xfrm>
            <a:off x="457200" y="433791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433791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467758"/>
            <a:ext cx="906581" cy="84125"/>
          </a:xfrm>
          <a:prstGeom prst="rect">
            <a:avLst/>
          </a:prstGeom>
          <a:solidFill>
            <a:srgbClr val="D9731A"/>
          </a:solidFill>
          <a:ln w="12700">
            <a:solidFill>
              <a:srgbClr val="D9731A"/>
            </a:solidFill>
            <a:prstDash val="solid"/>
          </a:ln>
        </p:spPr>
      </p:sp>
      <p:sp>
        <p:nvSpPr>
          <p:cNvPr id="74" name="Text 72"/>
          <p:cNvSpPr txBox="1"/>
          <p:nvPr/>
        </p:nvSpPr>
        <p:spPr>
          <a:xfrm>
            <a:off x="457200" y="445404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45404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583887"/>
            <a:ext cx="2904128" cy="84125"/>
          </a:xfrm>
          <a:prstGeom prst="rect">
            <a:avLst/>
          </a:prstGeom>
          <a:solidFill>
            <a:srgbClr val="D9731A"/>
          </a:solidFill>
          <a:ln w="12700">
            <a:solidFill>
              <a:srgbClr val="D9731A"/>
            </a:solidFill>
            <a:prstDash val="solid"/>
          </a:ln>
        </p:spPr>
      </p:sp>
      <p:sp>
        <p:nvSpPr>
          <p:cNvPr id="77" name="Text 75"/>
          <p:cNvSpPr txBox="1"/>
          <p:nvPr/>
        </p:nvSpPr>
        <p:spPr>
          <a:xfrm>
            <a:off x="457200" y="457017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57017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700016"/>
            <a:ext cx="2243962" cy="84125"/>
          </a:xfrm>
          <a:prstGeom prst="rect">
            <a:avLst/>
          </a:prstGeom>
          <a:solidFill>
            <a:srgbClr val="D9731A"/>
          </a:solidFill>
          <a:ln w="12700">
            <a:solidFill>
              <a:srgbClr val="D9731A"/>
            </a:solidFill>
            <a:prstDash val="solid"/>
          </a:ln>
        </p:spPr>
      </p:sp>
      <p:sp>
        <p:nvSpPr>
          <p:cNvPr id="80" name="Text 78"/>
          <p:cNvSpPr txBox="1"/>
          <p:nvPr/>
        </p:nvSpPr>
        <p:spPr>
          <a:xfrm>
            <a:off x="457200" y="468630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68630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816145"/>
            <a:ext cx="32004" cy="84125"/>
          </a:xfrm>
          <a:prstGeom prst="rect">
            <a:avLst/>
          </a:prstGeom>
          <a:solidFill>
            <a:srgbClr val="3B4E8C"/>
          </a:solidFill>
          <a:ln w="12700">
            <a:solidFill>
              <a:srgbClr val="3B4E8C"/>
            </a:solidFill>
            <a:prstDash val="solid"/>
          </a:ln>
        </p:spPr>
      </p:sp>
      <p:sp>
        <p:nvSpPr>
          <p:cNvPr id="83" name="Text 81"/>
          <p:cNvSpPr txBox="1"/>
          <p:nvPr/>
        </p:nvSpPr>
        <p:spPr>
          <a:xfrm>
            <a:off x="457200" y="480242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80242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932274"/>
            <a:ext cx="32004" cy="84125"/>
          </a:xfrm>
          <a:prstGeom prst="rect">
            <a:avLst/>
          </a:prstGeom>
          <a:solidFill>
            <a:srgbClr val="3B4E8C"/>
          </a:solidFill>
          <a:ln w="12700">
            <a:solidFill>
              <a:srgbClr val="3B4E8C"/>
            </a:solidFill>
            <a:prstDash val="solid"/>
          </a:ln>
        </p:spPr>
      </p:sp>
      <p:sp>
        <p:nvSpPr>
          <p:cNvPr id="86" name="Text 84"/>
          <p:cNvSpPr txBox="1"/>
          <p:nvPr/>
        </p:nvSpPr>
        <p:spPr>
          <a:xfrm>
            <a:off x="457200" y="491855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91855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5048402"/>
            <a:ext cx="32004" cy="84125"/>
          </a:xfrm>
          <a:prstGeom prst="rect">
            <a:avLst/>
          </a:prstGeom>
          <a:solidFill>
            <a:srgbClr val="3B4E8C"/>
          </a:solidFill>
          <a:ln w="12700">
            <a:solidFill>
              <a:srgbClr val="3B4E8C"/>
            </a:solidFill>
            <a:prstDash val="solid"/>
          </a:ln>
        </p:spPr>
      </p:sp>
      <p:sp>
        <p:nvSpPr>
          <p:cNvPr id="89" name="Text 87"/>
          <p:cNvSpPr txBox="1"/>
          <p:nvPr/>
        </p:nvSpPr>
        <p:spPr>
          <a:xfrm>
            <a:off x="457200" y="503468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503468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5164531"/>
            <a:ext cx="32004" cy="84125"/>
          </a:xfrm>
          <a:prstGeom prst="rect">
            <a:avLst/>
          </a:prstGeom>
          <a:solidFill>
            <a:srgbClr val="3B4E8C"/>
          </a:solidFill>
          <a:ln w="12700">
            <a:solidFill>
              <a:srgbClr val="3B4E8C"/>
            </a:solidFill>
            <a:prstDash val="solid"/>
          </a:ln>
        </p:spPr>
      </p:sp>
      <p:sp>
        <p:nvSpPr>
          <p:cNvPr id="92" name="Text 90"/>
          <p:cNvSpPr txBox="1"/>
          <p:nvPr/>
        </p:nvSpPr>
        <p:spPr>
          <a:xfrm>
            <a:off x="457200" y="515081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515081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5280660"/>
            <a:ext cx="32004" cy="84125"/>
          </a:xfrm>
          <a:prstGeom prst="rect">
            <a:avLst/>
          </a:prstGeom>
          <a:solidFill>
            <a:srgbClr val="3B4E8C"/>
          </a:solidFill>
          <a:ln w="12700">
            <a:solidFill>
              <a:srgbClr val="3B4E8C"/>
            </a:solidFill>
            <a:prstDash val="solid"/>
          </a:ln>
        </p:spPr>
      </p:sp>
      <p:sp>
        <p:nvSpPr>
          <p:cNvPr id="95" name="Text 93"/>
          <p:cNvSpPr txBox="1"/>
          <p:nvPr/>
        </p:nvSpPr>
        <p:spPr>
          <a:xfrm>
            <a:off x="457200" y="526694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526694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5396789"/>
            <a:ext cx="32004" cy="84125"/>
          </a:xfrm>
          <a:prstGeom prst="rect">
            <a:avLst/>
          </a:prstGeom>
          <a:solidFill>
            <a:srgbClr val="3B4E8C"/>
          </a:solidFill>
          <a:ln w="12700">
            <a:solidFill>
              <a:srgbClr val="3B4E8C"/>
            </a:solidFill>
            <a:prstDash val="solid"/>
          </a:ln>
        </p:spPr>
      </p:sp>
      <p:sp>
        <p:nvSpPr>
          <p:cNvPr id="98" name="Text 96"/>
          <p:cNvSpPr txBox="1"/>
          <p:nvPr/>
        </p:nvSpPr>
        <p:spPr>
          <a:xfrm>
            <a:off x="457200" y="538307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538307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5512918"/>
            <a:ext cx="32004" cy="84125"/>
          </a:xfrm>
          <a:prstGeom prst="rect">
            <a:avLst/>
          </a:prstGeom>
          <a:solidFill>
            <a:srgbClr val="7A4A8C"/>
          </a:solidFill>
          <a:ln w="12700">
            <a:solidFill>
              <a:srgbClr val="7A4A8C"/>
            </a:solidFill>
            <a:prstDash val="solid"/>
          </a:ln>
        </p:spPr>
      </p:sp>
      <p:sp>
        <p:nvSpPr>
          <p:cNvPr id="101" name="Text 99"/>
          <p:cNvSpPr txBox="1"/>
          <p:nvPr/>
        </p:nvSpPr>
        <p:spPr>
          <a:xfrm>
            <a:off x="457200" y="549920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549920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670194"/>
            <a:ext cx="5897880" cy="91"/>
          </a:xfrm>
          <a:prstGeom prst="line">
            <a:avLst/>
          </a:prstGeom>
          <a:noFill/>
          <a:ln w="12700">
            <a:solidFill>
              <a:srgbClr val="C9D1D8"/>
            </a:solidFill>
            <a:prstDash val="solid"/>
          </a:ln>
        </p:spPr>
      </p:sp>
      <p:sp>
        <p:nvSpPr>
          <p:cNvPr id="104" name="Shape 102"/>
          <p:cNvSpPr/>
          <p:nvPr/>
        </p:nvSpPr>
        <p:spPr>
          <a:xfrm>
            <a:off x="1920240" y="5670194"/>
            <a:ext cx="91" cy="64008"/>
          </a:xfrm>
          <a:prstGeom prst="line">
            <a:avLst/>
          </a:prstGeom>
          <a:noFill/>
          <a:ln w="12700">
            <a:solidFill>
              <a:srgbClr val="C9D1D8"/>
            </a:solidFill>
            <a:prstDash val="solid"/>
          </a:ln>
        </p:spPr>
      </p:sp>
      <p:sp>
        <p:nvSpPr>
          <p:cNvPr id="105" name="Text 103"/>
          <p:cNvSpPr txBox="1"/>
          <p:nvPr/>
        </p:nvSpPr>
        <p:spPr>
          <a:xfrm>
            <a:off x="169164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670194"/>
            <a:ext cx="91" cy="64008"/>
          </a:xfrm>
          <a:prstGeom prst="line">
            <a:avLst/>
          </a:prstGeom>
          <a:noFill/>
          <a:ln w="12700">
            <a:solidFill>
              <a:srgbClr val="C9D1D8"/>
            </a:solidFill>
            <a:prstDash val="solid"/>
          </a:ln>
        </p:spPr>
      </p:sp>
      <p:sp>
        <p:nvSpPr>
          <p:cNvPr id="107" name="Text 105"/>
          <p:cNvSpPr txBox="1"/>
          <p:nvPr/>
        </p:nvSpPr>
        <p:spPr>
          <a:xfrm>
            <a:off x="306099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670194"/>
            <a:ext cx="91" cy="64008"/>
          </a:xfrm>
          <a:prstGeom prst="line">
            <a:avLst/>
          </a:prstGeom>
          <a:noFill/>
          <a:ln w="12700">
            <a:solidFill>
              <a:srgbClr val="C9D1D8"/>
            </a:solidFill>
            <a:prstDash val="solid"/>
          </a:ln>
        </p:spPr>
      </p:sp>
      <p:sp>
        <p:nvSpPr>
          <p:cNvPr id="109" name="Text 107"/>
          <p:cNvSpPr txBox="1"/>
          <p:nvPr/>
        </p:nvSpPr>
        <p:spPr>
          <a:xfrm>
            <a:off x="443035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670194"/>
            <a:ext cx="91" cy="64008"/>
          </a:xfrm>
          <a:prstGeom prst="line">
            <a:avLst/>
          </a:prstGeom>
          <a:noFill/>
          <a:ln w="12700">
            <a:solidFill>
              <a:srgbClr val="C9D1D8"/>
            </a:solidFill>
            <a:prstDash val="solid"/>
          </a:ln>
        </p:spPr>
      </p:sp>
      <p:sp>
        <p:nvSpPr>
          <p:cNvPr id="111" name="Text 109"/>
          <p:cNvSpPr txBox="1"/>
          <p:nvPr/>
        </p:nvSpPr>
        <p:spPr>
          <a:xfrm>
            <a:off x="579970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670194"/>
            <a:ext cx="91" cy="64008"/>
          </a:xfrm>
          <a:prstGeom prst="line">
            <a:avLst/>
          </a:prstGeom>
          <a:noFill/>
          <a:ln w="12700">
            <a:solidFill>
              <a:srgbClr val="C9D1D8"/>
            </a:solidFill>
            <a:prstDash val="solid"/>
          </a:ln>
        </p:spPr>
      </p:sp>
      <p:sp>
        <p:nvSpPr>
          <p:cNvPr id="113" name="Text 111"/>
          <p:cNvSpPr txBox="1"/>
          <p:nvPr/>
        </p:nvSpPr>
        <p:spPr>
          <a:xfrm>
            <a:off x="716906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Text 125"/>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tasks/base.py:135–173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tasks/manager.py:99–115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runtime.py:76–89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async def submit(self, spec: TaskSpec) -&gt; TaskHandle: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fn = self._resolve(spec.name)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create_task so submission returns immediately: the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flowgentic wrapper for FUNCTION_TASK is a coroutine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function, not a future factory.</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future = asyncio.ensure_future(_call(fn, spec))</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return self._handle(spec, future)</a:t>
            </a:r>
            <a:endParaRPr lang="en-US" sz="848"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tasks/local.py:60–65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tasks/hpc/orbit.py:261–265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tasks/hpc/orbit.py:286–299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tasks/hpc/orbit.py:353–357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Proven, and only this far</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tests against a real localhost broker + endpoint: push states, incremental log tailing by offset, a failing job, and cancelling a running one.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Never run against a scheduler. That is the next real step.</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REMOTE · THE OTHER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ysDot"/>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implemented, tested against a live localhost stack</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DESIGN HISTORY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lake/store.py:87–106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FAILURE BEHAVIOUR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runtime.py:172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graph/nodes/analyst.py:155–219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FRONTEND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frontend/src/lib/api.ts:30–49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C0392B"/>
                </a:solidFill>
                <a:latin typeface="Calibri" pitchFamily="34" charset="0"/>
                <a:ea typeface="Calibri" pitchFamily="34" charset="-122"/>
                <a:cs typeface="Calibri" pitchFamily="34" charset="-120"/>
              </a:rPr>
              <a:t>Not verified: </a:t>
            </a:r>
            <a:pPr indent="0" marL="0">
              <a:buNone/>
            </a:pPr>
            <a:r>
              <a:rPr lang="en-US" sz="1250" dirty="0">
                <a:solidFill>
                  <a:srgbClr val="22303C"/>
                </a:solidFill>
                <a:latin typeface="Calibri" pitchFamily="34" charset="0"/>
                <a:ea typeface="Calibri" pitchFamily="34" charset="-122"/>
                <a:cs typeface="Calibri" pitchFamily="34" charset="-120"/>
              </a:rPr>
              <a:t>no browser was available while building this. The dev server, the proxy, a real artifact fetched through it, and the Mol* CDN assets all check out; the canvas itself is unconfirmed.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each test tier proves</a:t>
            </a:r>
            <a:endParaRPr lang="en-US" sz="2800" dirty="0"/>
          </a:p>
        </p:txBody>
      </p:sp>
      <p:sp>
        <p:nvSpPr>
          <p:cNvPr id="4" name="Shape 2"/>
          <p:cNvSpPr/>
          <p:nvPr/>
        </p:nvSpPr>
        <p:spPr>
          <a:xfrm>
            <a:off x="457200" y="1417320"/>
            <a:ext cx="6675120" cy="1234440"/>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033272"/>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uv sync --extra dev                        # --extra chem for ChemGraph</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python -m designagent --reload             # :8000</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1040" dirty="0"/>
          </a:p>
          <a:p>
            <a:pPr indent="0" marL="0">
              <a:lnSpc>
                <a:spcPts val="1300"/>
              </a:lnSpc>
              <a:buNone/>
            </a:pP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pytest -q -m "not live"                    # 83 tests, no network</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pytest -q tests/test_orbit_local.py        # 6 tests, real local broker</a:t>
            </a:r>
            <a:endParaRPr lang="en-US" sz="1040" dirty="0"/>
          </a:p>
        </p:txBody>
      </p:sp>
      <p:sp>
        <p:nvSpPr>
          <p:cNvPr id="6" name="Text 4"/>
          <p:cNvSpPr txBox="1"/>
          <p:nvPr/>
        </p:nvSpPr>
        <p:spPr>
          <a:xfrm>
            <a:off x="457200" y="2679192"/>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234440"/>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 key required</a:t>
            </a:r>
            <a:endParaRPr lang="en-US" sz="1300" dirty="0"/>
          </a:p>
        </p:txBody>
      </p:sp>
      <p:sp>
        <p:nvSpPr>
          <p:cNvPr id="9" name="Text 7"/>
          <p:cNvSpPr txBox="1"/>
          <p:nvPr/>
        </p:nvSpPr>
        <p:spPr>
          <a:xfrm>
            <a:off x="7543800" y="1828800"/>
            <a:ext cx="4507992" cy="7315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There is no configuration step that must succeed. Every layer notes what it could not do on /api/health and keeps going.</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11274552" cy="914400"/>
        </p:xfrm>
        <a:graphic>
          <a:graphicData uri="http://schemas.openxmlformats.org/drawingml/2006/table">
            <a:tbl>
              <a:tblPr/>
              <a:tblGrid>
                <a:gridCol w="2743200"/>
                <a:gridCol w="640080"/>
                <a:gridCol w="789127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tests/test_lake.py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tiers against a tmp_path lake: provenance, upserts, ranking, curation rules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38912">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tests/test_tasks.py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futures resolve, failures settle, capability flags honoured, Globus with an injected executor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parametrized classifier cases, a full loop end to end, artifacts, lake-write failure, and the no-structures-in-state guard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tests/test_api.py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SSE frames, artifact serving, task cancel returning 409 with a reason, 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tests/test_orbit_local.py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real broker + endpoint as subprocesses: push states, offset log tailing, a failing job, cancelling a running one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Text 8"/>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split that matters: </a:t>
            </a:r>
            <a:pPr indent="0" marL="0">
              <a:buNone/>
            </a:pPr>
            <a:r>
              <a:rPr lang="en-US" sz="1300" dirty="0">
                <a:solidFill>
                  <a:srgbClr val="22303C"/>
                </a:solidFill>
                <a:latin typeface="Calibri" pitchFamily="34" charset="0"/>
                <a:ea typeface="Calibri" pitchFamily="34" charset="-122"/>
                <a:cs typeface="Calibri" pitchFamily="34" charset="-120"/>
              </a:rPr>
              <a:t>83 tests need no network, no pool and no endpoint, because nodes only reach through Deps. The 6 that do need a substrate are marked </a:t>
            </a:r>
            <a:pPr indent="0" marL="0">
              <a:buNone/>
            </a:pPr>
            <a:r>
              <a:rPr lang="en-US" sz="1300" dirty="0">
                <a:solidFill>
                  <a:srgbClr val="22303C"/>
                </a:solidFill>
                <a:latin typeface="Consolas" pitchFamily="34" charset="0"/>
                <a:ea typeface="Consolas" pitchFamily="34" charset="-122"/>
                <a:cs typeface="Consolas" pitchFamily="34" charset="-120"/>
              </a:rPr>
              <a:t>live</a:t>
            </a:r>
            <a:pPr indent="0" marL="0">
              <a:buNone/>
            </a:pPr>
            <a:r>
              <a:rPr lang="en-US" sz="1300" dirty="0">
                <a:solidFill>
                  <a:srgbClr val="22303C"/>
                </a:solidFill>
                <a:latin typeface="Calibri" pitchFamily="34" charset="0"/>
                <a:ea typeface="Calibri" pitchFamily="34" charset="-122"/>
                <a:cs typeface="Calibri" pitchFamily="34" charset="-120"/>
              </a:rPr>
              <a:t> and start their own broker.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71600"/>
            <a:ext cx="5715000" cy="347472"/>
          </a:xfrm>
          <a:prstGeom prst="rect">
            <a:avLst/>
          </a:prstGeom>
          <a:solidFill>
            <a:srgbClr val="2E7D4F"/>
          </a:solidFill>
          <a:ln w="12700">
            <a:solidFill>
              <a:srgbClr val="2E7D4F"/>
            </a:solidFill>
            <a:prstDash val="solid"/>
          </a:ln>
        </p:spPr>
      </p:sp>
      <p:sp>
        <p:nvSpPr>
          <p:cNvPr id="5" name="Text 3"/>
          <p:cNvSpPr txBox="1"/>
          <p:nvPr/>
        </p:nvSpPr>
        <p:spPr>
          <a:xfrm>
            <a:off x="566928"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Runs end to end against something real</a:t>
            </a:r>
            <a:endParaRPr lang="en-US" sz="1300" dirty="0"/>
          </a:p>
        </p:txBody>
      </p:sp>
      <p:sp>
        <p:nvSpPr>
          <p:cNvPr id="6" name="Shape 4"/>
          <p:cNvSpPr/>
          <p:nvPr/>
        </p:nvSpPr>
        <p:spPr>
          <a:xfrm>
            <a:off x="457200" y="1810512"/>
            <a:ext cx="5715000" cy="566928"/>
          </a:xfrm>
          <a:prstGeom prst="rect">
            <a:avLst/>
          </a:prstGeom>
          <a:solidFill>
            <a:srgbClr val="EEF2F5"/>
          </a:solidFill>
          <a:ln w="6350">
            <a:solidFill>
              <a:srgbClr val="C9D1D8"/>
            </a:solidFill>
            <a:prstDash val="solid"/>
          </a:ln>
        </p:spPr>
      </p:sp>
      <p:sp>
        <p:nvSpPr>
          <p:cNvPr id="7" name="Text 5"/>
          <p:cNvSpPr txBox="1"/>
          <p:nvPr/>
        </p:nvSpPr>
        <p:spPr>
          <a:xfrm>
            <a:off x="566928" y="184708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The LangGraph loop, all five nodes</a:t>
            </a:r>
            <a:endParaRPr lang="en-US" sz="1150" dirty="0"/>
          </a:p>
        </p:txBody>
      </p:sp>
      <p:sp>
        <p:nvSpPr>
          <p:cNvPr id="8" name="Text 6"/>
          <p:cNvSpPr txBox="1"/>
          <p:nvPr/>
        </p:nvSpPr>
        <p:spPr>
          <a:xfrm>
            <a:off x="566928" y="208483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two rounds, routed by the improvement test, on a real target</a:t>
            </a:r>
            <a:endParaRPr lang="en-US" sz="1050" dirty="0"/>
          </a:p>
        </p:txBody>
      </p:sp>
      <p:sp>
        <p:nvSpPr>
          <p:cNvPr id="9" name="Shape 7"/>
          <p:cNvSpPr/>
          <p:nvPr/>
        </p:nvSpPr>
        <p:spPr>
          <a:xfrm>
            <a:off x="457200" y="2432304"/>
            <a:ext cx="5715000" cy="566928"/>
          </a:xfrm>
          <a:prstGeom prst="rect">
            <a:avLst/>
          </a:prstGeom>
          <a:solidFill>
            <a:srgbClr val="FFFFFF"/>
          </a:solidFill>
          <a:ln w="6350">
            <a:solidFill>
              <a:srgbClr val="C9D1D8"/>
            </a:solidFill>
            <a:prstDash val="solid"/>
          </a:ln>
        </p:spPr>
      </p:sp>
      <p:sp>
        <p:nvSpPr>
          <p:cNvPr id="10" name="Text 8"/>
          <p:cNvSpPr txBox="1"/>
          <p:nvPr/>
        </p:nvSpPr>
        <p:spPr>
          <a:xfrm>
            <a:off x="566928" y="2468880"/>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Query interface</a:t>
            </a:r>
            <a:endParaRPr lang="en-US" sz="1150" dirty="0"/>
          </a:p>
        </p:txBody>
      </p:sp>
      <p:sp>
        <p:nvSpPr>
          <p:cNvPr id="11" name="Text 9"/>
          <p:cNvSpPr txBox="1"/>
          <p:nvPr/>
        </p:nvSpPr>
        <p:spPr>
          <a:xfrm>
            <a:off x="566928" y="2706624"/>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RCSB, UniProt, Europe PMC — live, with cross-referencing both directions</a:t>
            </a:r>
            <a:endParaRPr lang="en-US" sz="1050" dirty="0"/>
          </a:p>
        </p:txBody>
      </p:sp>
      <p:sp>
        <p:nvSpPr>
          <p:cNvPr id="12" name="Shape 10"/>
          <p:cNvSpPr/>
          <p:nvPr/>
        </p:nvSpPr>
        <p:spPr>
          <a:xfrm>
            <a:off x="457200" y="3054096"/>
            <a:ext cx="5715000" cy="566928"/>
          </a:xfrm>
          <a:prstGeom prst="rect">
            <a:avLst/>
          </a:prstGeom>
          <a:solidFill>
            <a:srgbClr val="EEF2F5"/>
          </a:solidFill>
          <a:ln w="6350">
            <a:solidFill>
              <a:srgbClr val="C9D1D8"/>
            </a:solidFill>
            <a:prstDash val="solid"/>
          </a:ln>
        </p:spPr>
      </p:sp>
      <p:sp>
        <p:nvSpPr>
          <p:cNvPr id="13" name="Text 11"/>
          <p:cNvSpPr txBox="1"/>
          <p:nvPr/>
        </p:nvSpPr>
        <p:spPr>
          <a:xfrm>
            <a:off x="566928" y="3090672"/>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Local interface on the rhapsody pool</a:t>
            </a:r>
            <a:endParaRPr lang="en-US" sz="1150" dirty="0"/>
          </a:p>
        </p:txBody>
      </p:sp>
      <p:sp>
        <p:nvSpPr>
          <p:cNvPr id="14" name="Text 12"/>
          <p:cNvSpPr txBox="1"/>
          <p:nvPr/>
        </p:nvSpPr>
        <p:spPr>
          <a:xfrm>
            <a:off x="566928" y="3328416"/>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12 real ESMFold predictions, 6 at a time, reaped out of order</a:t>
            </a:r>
            <a:endParaRPr lang="en-US" sz="1050" dirty="0"/>
          </a:p>
        </p:txBody>
      </p:sp>
      <p:sp>
        <p:nvSpPr>
          <p:cNvPr id="15" name="Shape 13"/>
          <p:cNvSpPr/>
          <p:nvPr/>
        </p:nvSpPr>
        <p:spPr>
          <a:xfrm>
            <a:off x="457200" y="3675888"/>
            <a:ext cx="5715000" cy="566928"/>
          </a:xfrm>
          <a:prstGeom prst="rect">
            <a:avLst/>
          </a:prstGeom>
          <a:solidFill>
            <a:srgbClr val="FFFFFF"/>
          </a:solidFill>
          <a:ln w="6350">
            <a:solidFill>
              <a:srgbClr val="C9D1D8"/>
            </a:solidFill>
            <a:prstDash val="solid"/>
          </a:ln>
        </p:spPr>
      </p:sp>
      <p:sp>
        <p:nvSpPr>
          <p:cNvPr id="16" name="Text 14"/>
          <p:cNvSpPr txBox="1"/>
          <p:nvPr/>
        </p:nvSpPr>
        <p:spPr>
          <a:xfrm>
            <a:off x="566928" y="3712464"/>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All three lake tiers</a:t>
            </a:r>
            <a:endParaRPr lang="en-US" sz="1150" dirty="0"/>
          </a:p>
        </p:txBody>
      </p:sp>
      <p:sp>
        <p:nvSpPr>
          <p:cNvPr id="17" name="Text 15"/>
          <p:cNvSpPr txBox="1"/>
          <p:nvPr/>
        </p:nvSpPr>
        <p:spPr>
          <a:xfrm>
            <a:off x="566928" y="3950208"/>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114 scores, 37 task nodes, an 11-row Parquet set</a:t>
            </a:r>
            <a:endParaRPr lang="en-US" sz="1050" dirty="0"/>
          </a:p>
        </p:txBody>
      </p:sp>
      <p:sp>
        <p:nvSpPr>
          <p:cNvPr id="18" name="Shape 16"/>
          <p:cNvSpPr/>
          <p:nvPr/>
        </p:nvSpPr>
        <p:spPr>
          <a:xfrm>
            <a:off x="457200" y="4297680"/>
            <a:ext cx="5715000" cy="566928"/>
          </a:xfrm>
          <a:prstGeom prst="rect">
            <a:avLst/>
          </a:prstGeom>
          <a:solidFill>
            <a:srgbClr val="EEF2F5"/>
          </a:solidFill>
          <a:ln w="6350">
            <a:solidFill>
              <a:srgbClr val="C9D1D8"/>
            </a:solidFill>
            <a:prstDash val="solid"/>
          </a:ln>
        </p:spPr>
      </p:sp>
      <p:sp>
        <p:nvSpPr>
          <p:cNvPr id="19" name="Text 17"/>
          <p:cNvSpPr txBox="1"/>
          <p:nvPr/>
        </p:nvSpPr>
        <p:spPr>
          <a:xfrm>
            <a:off x="566928" y="4334256"/>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Artifacts</a:t>
            </a:r>
            <a:endParaRPr lang="en-US" sz="1150" dirty="0"/>
          </a:p>
        </p:txBody>
      </p:sp>
      <p:sp>
        <p:nvSpPr>
          <p:cNvPr id="20" name="Text 18"/>
          <p:cNvSpPr txBox="1"/>
          <p:nvPr/>
        </p:nvSpPr>
        <p:spPr>
          <a:xfrm>
            <a:off x="566928" y="4572000"/>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Markdown, .docx, a sortable table, two Mol* specs — all on disk</a:t>
            </a:r>
            <a:endParaRPr lang="en-US" sz="1050" dirty="0"/>
          </a:p>
        </p:txBody>
      </p:sp>
      <p:sp>
        <p:nvSpPr>
          <p:cNvPr id="21" name="Shape 19"/>
          <p:cNvSpPr/>
          <p:nvPr/>
        </p:nvSpPr>
        <p:spPr>
          <a:xfrm>
            <a:off x="457200" y="4919472"/>
            <a:ext cx="5715000" cy="566928"/>
          </a:xfrm>
          <a:prstGeom prst="rect">
            <a:avLst/>
          </a:prstGeom>
          <a:solidFill>
            <a:srgbClr val="FFFFFF"/>
          </a:solidFill>
          <a:ln w="6350">
            <a:solidFill>
              <a:srgbClr val="C9D1D8"/>
            </a:solidFill>
            <a:prstDash val="solid"/>
          </a:ln>
        </p:spPr>
      </p:sp>
      <p:sp>
        <p:nvSpPr>
          <p:cNvPr id="22" name="Text 20"/>
          <p:cNvSpPr txBox="1"/>
          <p:nvPr/>
        </p:nvSpPr>
        <p:spPr>
          <a:xfrm>
            <a:off x="566928" y="495604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Streaming</a:t>
            </a:r>
            <a:endParaRPr lang="en-US" sz="1150" dirty="0"/>
          </a:p>
        </p:txBody>
      </p:sp>
      <p:sp>
        <p:nvSpPr>
          <p:cNvPr id="23" name="Text 21"/>
          <p:cNvSpPr txBox="1"/>
          <p:nvPr/>
        </p:nvSpPr>
        <p:spPr>
          <a:xfrm>
            <a:off x="566928" y="519379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11 status lines plus task chips over one SSE stream</a:t>
            </a:r>
            <a:endParaRPr lang="en-US" sz="1050" dirty="0"/>
          </a:p>
        </p:txBody>
      </p:sp>
      <p:sp>
        <p:nvSpPr>
          <p:cNvPr id="24" name="Shape 22"/>
          <p:cNvSpPr/>
          <p:nvPr/>
        </p:nvSpPr>
        <p:spPr>
          <a:xfrm>
            <a:off x="6473952" y="1371600"/>
            <a:ext cx="5715000" cy="347472"/>
          </a:xfrm>
          <a:prstGeom prst="rect">
            <a:avLst/>
          </a:prstGeom>
          <a:solidFill>
            <a:srgbClr val="C0392B"/>
          </a:solidFill>
          <a:ln w="12700">
            <a:solidFill>
              <a:srgbClr val="C0392B"/>
            </a:solidFill>
            <a:prstDash val="solid"/>
          </a:ln>
        </p:spPr>
      </p:sp>
      <p:sp>
        <p:nvSpPr>
          <p:cNvPr id="25" name="Text 23"/>
          <p:cNvSpPr txBox="1"/>
          <p:nvPr/>
        </p:nvSpPr>
        <p:spPr>
          <a:xfrm>
            <a:off x="6583680"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Built, but has never run for real</a:t>
            </a:r>
            <a:endParaRPr lang="en-US" sz="1300" dirty="0"/>
          </a:p>
        </p:txBody>
      </p:sp>
      <p:sp>
        <p:nvSpPr>
          <p:cNvPr id="26" name="Shape 24"/>
          <p:cNvSpPr/>
          <p:nvPr/>
        </p:nvSpPr>
        <p:spPr>
          <a:xfrm>
            <a:off x="6473952" y="1810512"/>
            <a:ext cx="5715000" cy="566928"/>
          </a:xfrm>
          <a:prstGeom prst="rect">
            <a:avLst/>
          </a:prstGeom>
          <a:solidFill>
            <a:srgbClr val="F9E0DD"/>
          </a:solidFill>
          <a:ln w="6350">
            <a:solidFill>
              <a:srgbClr val="C9D1D8"/>
            </a:solidFill>
            <a:prstDash val="solid"/>
          </a:ln>
        </p:spPr>
      </p:sp>
      <p:sp>
        <p:nvSpPr>
          <p:cNvPr id="27" name="Text 25"/>
          <p:cNvSpPr txBox="1"/>
          <p:nvPr/>
        </p:nvSpPr>
        <p:spPr>
          <a:xfrm>
            <a:off x="6583680" y="184708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ProteinMPNN</a:t>
            </a:r>
            <a:endParaRPr lang="en-US" sz="1150" dirty="0"/>
          </a:p>
        </p:txBody>
      </p:sp>
      <p:sp>
        <p:nvSpPr>
          <p:cNvPr id="28" name="Text 26"/>
          <p:cNvSpPr txBox="1"/>
          <p:nvPr/>
        </p:nvSpPr>
        <p:spPr>
          <a:xfrm>
            <a:off x="6583680" y="208483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a job spec and a parser. No endpoint → a heuristic proposer, labelled as such</a:t>
            </a:r>
            <a:endParaRPr lang="en-US" sz="1050" dirty="0"/>
          </a:p>
        </p:txBody>
      </p:sp>
      <p:sp>
        <p:nvSpPr>
          <p:cNvPr id="29" name="Shape 27"/>
          <p:cNvSpPr/>
          <p:nvPr/>
        </p:nvSpPr>
        <p:spPr>
          <a:xfrm>
            <a:off x="6473952" y="2432304"/>
            <a:ext cx="5715000" cy="566928"/>
          </a:xfrm>
          <a:prstGeom prst="rect">
            <a:avLst/>
          </a:prstGeom>
          <a:solidFill>
            <a:srgbClr val="FFFFFF"/>
          </a:solidFill>
          <a:ln w="6350">
            <a:solidFill>
              <a:srgbClr val="C9D1D8"/>
            </a:solidFill>
            <a:prstDash val="solid"/>
          </a:ln>
        </p:spPr>
      </p:sp>
      <p:sp>
        <p:nvSpPr>
          <p:cNvPr id="30" name="Text 28"/>
          <p:cNvSpPr txBox="1"/>
          <p:nvPr/>
        </p:nvSpPr>
        <p:spPr>
          <a:xfrm>
            <a:off x="6583680" y="2468880"/>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The Globus adapter</a:t>
            </a:r>
            <a:endParaRPr lang="en-US" sz="1150" dirty="0"/>
          </a:p>
        </p:txBody>
      </p:sp>
      <p:sp>
        <p:nvSpPr>
          <p:cNvPr id="31" name="Text 29"/>
          <p:cNvSpPr txBox="1"/>
          <p:nvPr/>
        </p:nvSpPr>
        <p:spPr>
          <a:xfrm>
            <a:off x="6583680" y="2706624"/>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structurally complete, tested with an injected executor, never met a live endpoint</a:t>
            </a:r>
            <a:endParaRPr lang="en-US" sz="1050" dirty="0"/>
          </a:p>
        </p:txBody>
      </p:sp>
      <p:sp>
        <p:nvSpPr>
          <p:cNvPr id="32" name="Shape 30"/>
          <p:cNvSpPr/>
          <p:nvPr/>
        </p:nvSpPr>
        <p:spPr>
          <a:xfrm>
            <a:off x="6473952" y="3054096"/>
            <a:ext cx="5715000" cy="566928"/>
          </a:xfrm>
          <a:prstGeom prst="rect">
            <a:avLst/>
          </a:prstGeom>
          <a:solidFill>
            <a:srgbClr val="F9E0DD"/>
          </a:solidFill>
          <a:ln w="6350">
            <a:solidFill>
              <a:srgbClr val="C9D1D8"/>
            </a:solidFill>
            <a:prstDash val="solid"/>
          </a:ln>
        </p:spPr>
      </p:sp>
      <p:sp>
        <p:nvSpPr>
          <p:cNvPr id="33" name="Text 31"/>
          <p:cNvSpPr txBox="1"/>
          <p:nvPr/>
        </p:nvSpPr>
        <p:spPr>
          <a:xfrm>
            <a:off x="6583680" y="3090672"/>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Orbit</a:t>
            </a:r>
            <a:endParaRPr lang="en-US" sz="1150" dirty="0"/>
          </a:p>
        </p:txBody>
      </p:sp>
      <p:sp>
        <p:nvSpPr>
          <p:cNvPr id="34" name="Text 32"/>
          <p:cNvSpPr txBox="1"/>
          <p:nvPr/>
        </p:nvSpPr>
        <p:spPr>
          <a:xfrm>
            <a:off x="6583680" y="3328416"/>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works — against a localhost broker only. Never seen a scheduler or a queue</a:t>
            </a:r>
            <a:endParaRPr lang="en-US" sz="1050" dirty="0"/>
          </a:p>
        </p:txBody>
      </p:sp>
      <p:sp>
        <p:nvSpPr>
          <p:cNvPr id="35" name="Shape 33"/>
          <p:cNvSpPr/>
          <p:nvPr/>
        </p:nvSpPr>
        <p:spPr>
          <a:xfrm>
            <a:off x="6473952" y="3675888"/>
            <a:ext cx="5715000" cy="566928"/>
          </a:xfrm>
          <a:prstGeom prst="rect">
            <a:avLst/>
          </a:prstGeom>
          <a:solidFill>
            <a:srgbClr val="FFFFFF"/>
          </a:solidFill>
          <a:ln w="6350">
            <a:solidFill>
              <a:srgbClr val="C9D1D8"/>
            </a:solidFill>
            <a:prstDash val="solid"/>
          </a:ln>
        </p:spPr>
      </p:sp>
      <p:sp>
        <p:nvSpPr>
          <p:cNvPr id="36" name="Text 34"/>
          <p:cNvSpPr txBox="1"/>
          <p:nvPr/>
        </p:nvSpPr>
        <p:spPr>
          <a:xfrm>
            <a:off x="6583680" y="3712464"/>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150" dirty="0"/>
          </a:p>
        </p:txBody>
      </p:sp>
      <p:sp>
        <p:nvSpPr>
          <p:cNvPr id="37" name="Text 35"/>
          <p:cNvSpPr txBox="1"/>
          <p:nvPr/>
        </p:nvSpPr>
        <p:spPr>
          <a:xfrm>
            <a:off x="6583680" y="3950208"/>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1050" dirty="0"/>
          </a:p>
        </p:txBody>
      </p:sp>
      <p:sp>
        <p:nvSpPr>
          <p:cNvPr id="38" name="Shape 36"/>
          <p:cNvSpPr/>
          <p:nvPr/>
        </p:nvSpPr>
        <p:spPr>
          <a:xfrm>
            <a:off x="6473952" y="4297680"/>
            <a:ext cx="5715000" cy="566928"/>
          </a:xfrm>
          <a:prstGeom prst="rect">
            <a:avLst/>
          </a:prstGeom>
          <a:solidFill>
            <a:srgbClr val="F9E0DD"/>
          </a:solidFill>
          <a:ln w="6350">
            <a:solidFill>
              <a:srgbClr val="C9D1D8"/>
            </a:solidFill>
            <a:prstDash val="solid"/>
          </a:ln>
        </p:spPr>
      </p:sp>
      <p:sp>
        <p:nvSpPr>
          <p:cNvPr id="39" name="Text 37"/>
          <p:cNvSpPr txBox="1"/>
          <p:nvPr/>
        </p:nvSpPr>
        <p:spPr>
          <a:xfrm>
            <a:off x="6583680" y="4334256"/>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The Mol* canvas</a:t>
            </a:r>
            <a:endParaRPr lang="en-US" sz="1150" dirty="0"/>
          </a:p>
        </p:txBody>
      </p:sp>
      <p:sp>
        <p:nvSpPr>
          <p:cNvPr id="40" name="Text 38"/>
          <p:cNvSpPr txBox="1"/>
          <p:nvPr/>
        </p:nvSpPr>
        <p:spPr>
          <a:xfrm>
            <a:off x="6583680" y="4572000"/>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unverified by eye; no browser was available</a:t>
            </a:r>
            <a:endParaRPr lang="en-US" sz="1050" dirty="0"/>
          </a:p>
        </p:txBody>
      </p:sp>
      <p:sp>
        <p:nvSpPr>
          <p:cNvPr id="41" name="Shape 39"/>
          <p:cNvSpPr/>
          <p:nvPr/>
        </p:nvSpPr>
        <p:spPr>
          <a:xfrm>
            <a:off x="6473952" y="4919472"/>
            <a:ext cx="5715000" cy="566928"/>
          </a:xfrm>
          <a:prstGeom prst="rect">
            <a:avLst/>
          </a:prstGeom>
          <a:solidFill>
            <a:srgbClr val="FFFFFF"/>
          </a:solidFill>
          <a:ln w="6350">
            <a:solidFill>
              <a:srgbClr val="C9D1D8"/>
            </a:solidFill>
            <a:prstDash val="solid"/>
          </a:ln>
        </p:spPr>
      </p:sp>
      <p:sp>
        <p:nvSpPr>
          <p:cNvPr id="42" name="Text 40"/>
          <p:cNvSpPr txBox="1"/>
          <p:nvPr/>
        </p:nvSpPr>
        <p:spPr>
          <a:xfrm>
            <a:off x="6583680" y="4956048"/>
            <a:ext cx="5486400" cy="237744"/>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wrap_nodes</a:t>
            </a:r>
            <a:endParaRPr lang="en-US" sz="1150" dirty="0"/>
          </a:p>
        </p:txBody>
      </p:sp>
      <p:sp>
        <p:nvSpPr>
          <p:cNvPr id="43" name="Text 41"/>
          <p:cNvSpPr txBox="1"/>
          <p:nvPr/>
        </p:nvSpPr>
        <p:spPr>
          <a:xfrm>
            <a:off x="6583680" y="5193792"/>
            <a:ext cx="5486400" cy="256032"/>
          </a:xfrm>
          <a:prstGeom prst="rect">
            <a:avLst/>
          </a:prstGeom>
          <a:noFill/>
          <a:ln/>
        </p:spPr>
        <p:txBody>
          <a:bodyPr wrap="square" lIns="0" tIns="0" rIns="0" bIns="0" rtlCol="0" anchor="t"/>
          <a:lstStyle/>
          <a:p>
            <a:pPr indent="0" marL="0">
              <a:buNone/>
            </a:pPr>
            <a:r>
              <a:rPr lang="en-US" sz="1050" dirty="0">
                <a:solidFill>
                  <a:srgbClr val="5E6B75"/>
                </a:solidFill>
                <a:latin typeface="Calibri" pitchFamily="34" charset="0"/>
                <a:ea typeface="Calibri" pitchFamily="34" charset="-122"/>
                <a:cs typeface="Calibri" pitchFamily="34" charset="-120"/>
              </a:rPr>
              <a:t>ships off, against the approved design. Next slide</a:t>
            </a:r>
            <a:endParaRPr lang="en-US" sz="1050" dirty="0"/>
          </a:p>
        </p:txBody>
      </p:sp>
      <p:sp>
        <p:nvSpPr>
          <p:cNvPr id="44" name="Text 42"/>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single most load-bearing caveat: </a:t>
            </a:r>
            <a:pPr indent="0" marL="0">
              <a:buNone/>
            </a:pPr>
            <a:r>
              <a:rPr lang="en-US" sz="1300" dirty="0">
                <a:solidFill>
                  <a:srgbClr val="22303C"/>
                </a:solidFill>
                <a:latin typeface="Calibri" pitchFamily="34" charset="0"/>
                <a:ea typeface="Calibri" pitchFamily="34" charset="-122"/>
                <a:cs typeface="Calibri" pitchFamily="34" charset="-120"/>
              </a:rPr>
              <a:t>no HPC endpoint has ever run a task for this agent. The remote interface is proven against a localhost broker, which proves the client path and nothing about a scheduler.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00584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reproducibles, and one question</a:t>
            </a:r>
            <a:endParaRPr lang="en-US" sz="2800" dirty="0"/>
          </a:p>
        </p:txBody>
      </p:sp>
      <p:sp>
        <p:nvSpPr>
          <p:cNvPr id="4" name="Shape 2"/>
          <p:cNvSpPr/>
          <p:nvPr/>
        </p:nvSpPr>
        <p:spPr>
          <a:xfrm>
            <a:off x="457200" y="1463040"/>
            <a:ext cx="310896" cy="310896"/>
          </a:xfrm>
          <a:prstGeom prst="ellipse">
            <a:avLst/>
          </a:prstGeom>
          <a:solidFill>
            <a:srgbClr val="D9731A"/>
          </a:solidFill>
          <a:ln w="12700">
            <a:solidFill>
              <a:srgbClr val="D9731A"/>
            </a:solidFill>
            <a:prstDash val="solid"/>
          </a:ln>
        </p:spPr>
      </p:sp>
      <p:sp>
        <p:nvSpPr>
          <p:cNvPr id="5" name="Text 3"/>
          <p:cNvSpPr txBox="1"/>
          <p:nvPr/>
        </p:nvSpPr>
        <p:spPr>
          <a:xfrm>
            <a:off x="4572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8778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flowgentic hard-imports aiohttp — and httpx</a:t>
            </a:r>
            <a:endParaRPr lang="en-US" sz="1300" dirty="0"/>
          </a:p>
        </p:txBody>
      </p:sp>
      <p:sp>
        <p:nvSpPr>
          <p:cNvPr id="7" name="Text 5"/>
          <p:cNvSpPr txBox="1"/>
          <p:nvPr/>
        </p:nvSpPr>
        <p:spPr>
          <a:xfrm>
            <a:off x="8778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 Both become hard requirements. Fires whenever retryable_exceptions is left at its default ().</a:t>
            </a:r>
            <a:endParaRPr lang="en-US" sz="1050" dirty="0"/>
          </a:p>
        </p:txBody>
      </p:sp>
      <p:sp>
        <p:nvSpPr>
          <p:cNvPr id="8" name="Shape 6"/>
          <p:cNvSpPr/>
          <p:nvPr/>
        </p:nvSpPr>
        <p:spPr>
          <a:xfrm>
            <a:off x="457200" y="2606040"/>
            <a:ext cx="310896" cy="310896"/>
          </a:xfrm>
          <a:prstGeom prst="ellipse">
            <a:avLst/>
          </a:prstGeom>
          <a:solidFill>
            <a:srgbClr val="D9731A"/>
          </a:solidFill>
          <a:ln w="12700">
            <a:solidFill>
              <a:srgbClr val="D9731A"/>
            </a:solidFill>
            <a:prstDash val="solid"/>
          </a:ln>
        </p:spPr>
      </p:sp>
      <p:sp>
        <p:nvSpPr>
          <p:cNvPr id="9" name="Text 7"/>
          <p:cNvSpPr txBox="1"/>
          <p:nvPr/>
        </p:nvSpPr>
        <p:spPr>
          <a:xfrm>
            <a:off x="4572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8778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RetryConfig defaults cancel long tasks silently</a:t>
            </a:r>
            <a:endParaRPr lang="en-US" sz="1300" dirty="0"/>
          </a:p>
        </p:txBody>
      </p:sp>
      <p:sp>
        <p:nvSpPr>
          <p:cNvPr id="11" name="Text 9"/>
          <p:cNvSpPr txBox="1"/>
          <p:nvPr/>
        </p:nvSpPr>
        <p:spPr>
          <a:xfrm>
            <a:off x="8778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30 s per attempt, 3 attempts. Measured against this repo's own folds: 13–42 s, so roughly half of round 2 would be cancelled and re-run. Long work must pass timeout_sec=None.</a:t>
            </a:r>
            <a:endParaRPr lang="en-US" sz="1050" dirty="0"/>
          </a:p>
        </p:txBody>
      </p:sp>
      <p:sp>
        <p:nvSpPr>
          <p:cNvPr id="12" name="Shape 10"/>
          <p:cNvSpPr/>
          <p:nvPr/>
        </p:nvSpPr>
        <p:spPr>
          <a:xfrm>
            <a:off x="457200" y="3749040"/>
            <a:ext cx="310896" cy="310896"/>
          </a:xfrm>
          <a:prstGeom prst="ellipse">
            <a:avLst/>
          </a:prstGeom>
          <a:solidFill>
            <a:srgbClr val="D9731A"/>
          </a:solidFill>
          <a:ln w="12700">
            <a:solidFill>
              <a:srgbClr val="D9731A"/>
            </a:solidFill>
            <a:prstDash val="solid"/>
          </a:ln>
        </p:spPr>
      </p:sp>
      <p:sp>
        <p:nvSpPr>
          <p:cNvPr id="13" name="Text 11"/>
          <p:cNvSpPr txBox="1"/>
          <p:nvPr/>
        </p:nvSpPr>
        <p:spPr>
          <a:xfrm>
            <a:off x="4572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8778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Orbit's terminal task event omits stdout</a:t>
            </a:r>
            <a:endParaRPr lang="en-US" sz="1300" dirty="0"/>
          </a:p>
        </p:txBody>
      </p:sp>
      <p:sp>
        <p:nvSpPr>
          <p:cNvPr id="15" name="Text 13"/>
          <p:cNvSpPr txBox="1"/>
          <p:nvPr/>
        </p:nvSpPr>
        <p:spPr>
          <a:xfrm>
            <a:off x="8778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1050" dirty="0"/>
          </a:p>
        </p:txBody>
      </p:sp>
      <p:sp>
        <p:nvSpPr>
          <p:cNvPr id="16" name="Shape 14"/>
          <p:cNvSpPr/>
          <p:nvPr/>
        </p:nvSpPr>
        <p:spPr>
          <a:xfrm>
            <a:off x="6400800" y="1463040"/>
            <a:ext cx="310896" cy="310896"/>
          </a:xfrm>
          <a:prstGeom prst="ellipse">
            <a:avLst/>
          </a:prstGeom>
          <a:solidFill>
            <a:srgbClr val="D9731A"/>
          </a:solidFill>
          <a:ln w="12700">
            <a:solidFill>
              <a:srgbClr val="D9731A"/>
            </a:solidFill>
            <a:prstDash val="solid"/>
          </a:ln>
        </p:spPr>
      </p:sp>
      <p:sp>
        <p:nvSpPr>
          <p:cNvPr id="17" name="Text 15"/>
          <p:cNvSpPr txBox="1"/>
          <p:nvPr/>
        </p:nvSpPr>
        <p:spPr>
          <a:xfrm>
            <a:off x="64008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68214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A FAILED Orbit job carries no reason</a:t>
            </a:r>
            <a:endParaRPr lang="en-US" sz="1300" dirty="0"/>
          </a:p>
        </p:txBody>
      </p:sp>
      <p:sp>
        <p:nvSpPr>
          <p:cNvPr id="19" name="Text 17"/>
          <p:cNvSpPr txBox="1"/>
          <p:nvPr/>
        </p:nvSpPr>
        <p:spPr>
          <a:xfrm>
            <a:off x="68214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Only a non-zero exit code reaches the client. We synthesise an explanation from exit code, then stderr, then the log tail.</a:t>
            </a:r>
            <a:endParaRPr lang="en-US" sz="1050" dirty="0"/>
          </a:p>
        </p:txBody>
      </p:sp>
      <p:sp>
        <p:nvSpPr>
          <p:cNvPr id="20" name="Shape 18"/>
          <p:cNvSpPr/>
          <p:nvPr/>
        </p:nvSpPr>
        <p:spPr>
          <a:xfrm>
            <a:off x="6400800" y="2606040"/>
            <a:ext cx="310896" cy="310896"/>
          </a:xfrm>
          <a:prstGeom prst="ellipse">
            <a:avLst/>
          </a:prstGeom>
          <a:solidFill>
            <a:srgbClr val="D9731A"/>
          </a:solidFill>
          <a:ln w="12700">
            <a:solidFill>
              <a:srgbClr val="D9731A"/>
            </a:solidFill>
            <a:prstDash val="solid"/>
          </a:ln>
        </p:spPr>
      </p:sp>
      <p:sp>
        <p:nvSpPr>
          <p:cNvPr id="21" name="Text 19"/>
          <p:cNvSpPr txBox="1"/>
          <p:nvPr/>
        </p:nvSpPr>
        <p:spPr>
          <a:xfrm>
            <a:off x="64008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8214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The broker has no HTTP topology route</a:t>
            </a:r>
            <a:endParaRPr lang="en-US" sz="1300" dirty="0"/>
          </a:p>
        </p:txBody>
      </p:sp>
      <p:sp>
        <p:nvSpPr>
          <p:cNvPr id="23" name="Text 21"/>
          <p:cNvSpPr txBox="1"/>
          <p:nvPr/>
        </p:nvSpPr>
        <p:spPr>
          <a:xfrm>
            <a:off x="68214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/topology → 307 → 404, read as a plugin name. Readiness has to come from the client's rt.topology(), which propagates asynchronously.</a:t>
            </a:r>
            <a:endParaRPr lang="en-US" sz="1050" dirty="0"/>
          </a:p>
        </p:txBody>
      </p:sp>
      <p:sp>
        <p:nvSpPr>
          <p:cNvPr id="24" name="Shape 22"/>
          <p:cNvSpPr/>
          <p:nvPr/>
        </p:nvSpPr>
        <p:spPr>
          <a:xfrm>
            <a:off x="6400800" y="3749040"/>
            <a:ext cx="310896" cy="310896"/>
          </a:xfrm>
          <a:prstGeom prst="ellipse">
            <a:avLst/>
          </a:prstGeom>
          <a:solidFill>
            <a:srgbClr val="D9731A"/>
          </a:solidFill>
          <a:ln w="12700">
            <a:solidFill>
              <a:srgbClr val="D9731A"/>
            </a:solidFill>
            <a:prstDash val="solid"/>
          </a:ln>
        </p:spPr>
      </p:sp>
      <p:sp>
        <p:nvSpPr>
          <p:cNvPr id="25" name="Text 23"/>
          <p:cNvSpPr txBox="1"/>
          <p:nvPr/>
        </p:nvSpPr>
        <p:spPr>
          <a:xfrm>
            <a:off x="64008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68214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--no-auth still requires cert and key</a:t>
            </a:r>
            <a:endParaRPr lang="en-US" sz="1300" dirty="0"/>
          </a:p>
        </p:txBody>
      </p:sp>
      <p:sp>
        <p:nvSpPr>
          <p:cNvPr id="27" name="Text 25"/>
          <p:cNvSpPr txBox="1"/>
          <p:nvPr/>
        </p:nvSpPr>
        <p:spPr>
          <a:xfrm>
            <a:off x="68214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Worth one line in the docs.</a:t>
            </a:r>
            <a:endParaRPr lang="en-US" sz="1050" dirty="0"/>
          </a:p>
        </p:txBody>
      </p:sp>
      <p:sp>
        <p:nvSpPr>
          <p:cNvPr id="28" name="Shape 26"/>
          <p:cNvSpPr/>
          <p:nvPr/>
        </p:nvSpPr>
        <p:spPr>
          <a:xfrm>
            <a:off x="457200" y="4956048"/>
            <a:ext cx="11274552" cy="1234440"/>
          </a:xfrm>
          <a:prstGeom prst="rect">
            <a:avLst/>
          </a:prstGeom>
          <a:solidFill>
            <a:srgbClr val="2A3A47"/>
          </a:solidFill>
          <a:ln w="25400">
            <a:solidFill>
              <a:srgbClr val="D9731A"/>
            </a:solidFill>
            <a:prstDash val="solid"/>
          </a:ln>
        </p:spPr>
      </p:sp>
      <p:sp>
        <p:nvSpPr>
          <p:cNvPr id="29" name="Text 27"/>
          <p:cNvSpPr txBox="1"/>
          <p:nvPr/>
        </p:nvSpPr>
        <p:spPr>
          <a:xfrm>
            <a:off x="640080" y="5047488"/>
            <a:ext cx="10881360" cy="109728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5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30" name="Text 2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e8467e6 · slides/CODE_FOR_DECK.md carries every anchor and the reproduction for each finding.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graph/build.py:38–87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designagent</dc:creator>
  <cp:lastModifiedBy>designagent</cp:lastModifiedBy>
  <cp:revision>1</cp:revision>
  <dcterms:created xsi:type="dcterms:W3CDTF">2026-10-01T22:49:28Z</dcterms:created>
  <dcterms:modified xsi:type="dcterms:W3CDTF">2026-10-01T22:49:28Z</dcterms:modified>
</cp:coreProperties>
</file>